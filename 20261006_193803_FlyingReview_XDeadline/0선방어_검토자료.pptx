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문의 조건 고정 선정점 기준. 실제 기판1500mm를 등속 가공할 거리는 충분하다. Y 가속거리33.3333, 감속거리33.3333, 등속거리2633.3333mm; cruise0.666667~27s. 모든 대표점 Y후보 범위 통과. 현재 조건 불가는 H3-&gt;4/H7-&gt;8 사이 X준비 마감 미달. 다른 유효점 선정 시 명목상 가능하며 장비 자체의 불가능 판정이 아니다. Frame/Vision 확인은 별도.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X200mm, Vmax200, A=D150: 삼각형, Vpeak173.205mm/s, Tmove2sqrt(200/150)=2.309401s. 필요=max(Tmove+노출10us+정착50ms+Guard20ms+Trigger delay50us+2jitter5us, 1/18.5+2jitter)=2.379471s. H3노출시작24.165078, H4노출시작26.165078; 준비 예산26.544549. 0.379471s*100mm/s=37.9471mm. 렌즈시야Y0.266mm이므로 늦게 준비하고 동일점 촬영할 수 없다. 고정값 정착과Guard는 설계 가정. X 실제 S-Curve/Follow Error 확인 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A안: H4 Cell32 col2 row16 B7 targetQ-641.175 reviewX404.05; H8 Cell36 col2 row9 B7 targetQ-622.275 reviewX804.05. 고정 다른8Cell 유지, Shot/mask/head 소유권 geometryValid 확인. H4 gap2.405 need2.379471 slack25.5289ms, H8 gap2.216 need2.184150 slack31.8502ms. 최소Stroke2657.009333mm &lt;2700. 계산상 두기판모두가능. 선택점예시만 표시하며 자동대체하지 않음. B안 X A=D250에서는 D200 v200 trapezoid Tmove1.8s+70.07ms=1.87007s; slack129.93ms. 동일X속도200에서 최소대칭가감속215.06995mm/s²이며 실제설비가능값 별도. Y84는 X간격 개선하지만 fullStroke32.702857s로30초실패하므로 단독해결아님. Basler2.5um/총20x=.125um/px, minExposure2us, 기본18.5fps; actualframe/vision processing 미계산.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00584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11384280" cy="46634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Noto Sans CJK KR"/>
              </a:rPr>
              <a:t>27.667초는 통과합니다. 막히는 것은 촬영점 사이의2초입니다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658368"/>
            <a:ext cx="10972800" cy="21031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CFE2F4"/>
                </a:solidFill>
                <a:latin typeface="Noto Sans CJK KR"/>
              </a:rPr>
              <a:t>문의 조건: Stroke2700mm · 노출10µs · 허용blur8px · X200/A=D150 · Y100/A=D150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6473952"/>
            <a:ext cx="10789920" cy="22860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D6E80"/>
                </a:solidFill>
                <a:latin typeface="Noto Sans CJK KR"/>
              </a:rPr>
              <a:t>A3 Laser Driller · 2026-10-06 · 명목 설계 계산 / 실제 장비·영상 검증 필요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19088"/>
            <a:ext cx="475488" cy="27432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D6E80"/>
                </a:solidFill>
                <a:latin typeface="Noto Sans CJK KR"/>
              </a:rPr>
              <a:t>1/3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71016"/>
            <a:ext cx="5486400" cy="13533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71016"/>
            <a:ext cx="73152" cy="1353312"/>
          </a:xfrm>
          <a:prstGeom prst="rect">
            <a:avLst/>
          </a:prstGeom>
          <a:solidFill>
            <a:srgbClr val="0F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1408175"/>
            <a:ext cx="5120640" cy="25603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F805B"/>
                </a:solidFill>
                <a:latin typeface="Noto Sans CJK KR"/>
              </a:rPr>
              <a:t>역방향30초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1764792"/>
            <a:ext cx="5120640" cy="36576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0243A"/>
                </a:solidFill>
                <a:latin typeface="Noto Sans CJK KR"/>
              </a:rPr>
              <a:t>27.667초 ≤30초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258568"/>
            <a:ext cx="5120640" cy="25603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D6E80"/>
                </a:solidFill>
                <a:latin typeface="Noto Sans CJK KR"/>
              </a:rPr>
              <a:t>가속0.667 + 등속26.333 + 감속0.667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271016"/>
            <a:ext cx="5486400" cy="13533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60" y="1271016"/>
            <a:ext cx="73152" cy="1353312"/>
          </a:xfrm>
          <a:prstGeom prst="rect">
            <a:avLst/>
          </a:prstGeom>
          <a:solidFill>
            <a:srgbClr val="0F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1408175"/>
            <a:ext cx="5120640" cy="25603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F805B"/>
                </a:solidFill>
                <a:latin typeface="Noto Sans CJK KR"/>
              </a:rPr>
              <a:t>Y 등속 후보점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1764792"/>
            <a:ext cx="5120640" cy="36576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0243A"/>
                </a:solidFill>
                <a:latin typeface="Noto Sans CJK KR"/>
              </a:rPr>
              <a:t>4/4점이 등속 구간 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6" y="2258568"/>
            <a:ext cx="5120640" cy="25603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D6E80"/>
                </a:solidFill>
                <a:latin typeface="Noto Sans CJK KR"/>
              </a:rPr>
              <a:t>등속거리2633.3mm · 기판1500mm 충분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2889504"/>
            <a:ext cx="5486400" cy="13533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2889504"/>
            <a:ext cx="73152" cy="1353312"/>
          </a:xfrm>
          <a:prstGeom prst="rect">
            <a:avLst/>
          </a:prstGeom>
          <a:solidFill>
            <a:srgbClr val="0F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3026664"/>
            <a:ext cx="5120640" cy="25603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F805B"/>
                </a:solidFill>
                <a:latin typeface="Noto Sans CJK KR"/>
              </a:rPr>
              <a:t>이동 blur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3383280"/>
            <a:ext cx="5120640" cy="36576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0243A"/>
                </a:solidFill>
                <a:latin typeface="Noto Sans CJK KR"/>
              </a:rPr>
              <a:t>8.00px = 허용8.00px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3877056"/>
            <a:ext cx="5120640" cy="25603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D6E80"/>
                </a:solidFill>
                <a:latin typeface="Noto Sans CJK KR"/>
              </a:rPr>
              <a:t>Y100 × 노출10µs →1.000µm 이동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60" y="2889504"/>
            <a:ext cx="5486400" cy="13533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80760" y="2889504"/>
            <a:ext cx="73152" cy="1353312"/>
          </a:xfrm>
          <a:prstGeom prst="rect">
            <a:avLst/>
          </a:prstGeom>
          <a:solidFill>
            <a:srgbClr val="BC3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4496" y="3026664"/>
            <a:ext cx="5120640" cy="25603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BC3948"/>
                </a:solidFill>
                <a:latin typeface="Noto Sans CJK KR"/>
              </a:rPr>
              <a:t>X 준비·취득 간격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6" y="3383280"/>
            <a:ext cx="5120640" cy="36576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0243A"/>
                </a:solidFill>
                <a:latin typeface="Noto Sans CJK KR"/>
              </a:rPr>
              <a:t>H03→H04에서0.379초 부족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4496" y="3877056"/>
            <a:ext cx="5120640" cy="25603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D6E80"/>
                </a:solidFill>
                <a:latin typeface="Noto Sans CJK KR"/>
              </a:rPr>
              <a:t>다음 점2.000초 / 준비2.379초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4764024"/>
            <a:ext cx="11338560" cy="1316736"/>
          </a:xfrm>
          <a:prstGeom prst="roundRect">
            <a:avLst>
              <a:gd name="adj" fmla="val 10000"/>
            </a:avLst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4919472"/>
            <a:ext cx="10936224" cy="38404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Noto Sans CJK KR"/>
              </a:rPr>
              <a:t>전체 Stroke 종료보다, 각 촬영점의 도착시간이 더 빠른 마감입니다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5486400"/>
            <a:ext cx="10936224" cy="32004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CFE2F4"/>
                </a:solidFill>
                <a:latin typeface="Noto Sans CJK KR"/>
              </a:rPr>
              <a:t>기존 “Stroke 내 촬영4/4” → “Y 등속 후보4/4”로 수정 · 촬영 완료를 보장하지 않습니다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00584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11384280" cy="46634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Noto Sans CJK KR"/>
              </a:rPr>
              <a:t>H03 촬영 후2초, H04가 먼저 지나가는데 X는 아직 준비 중입니다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658368"/>
            <a:ext cx="10972800" cy="21031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CFE2F4"/>
                </a:solidFill>
                <a:latin typeface="Noto Sans CJK KR"/>
              </a:rPr>
              <a:t>현재 고정점: ΔX200mm / ΔY200mm · Y100mm/s → 다음 점까지2.000초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6473952"/>
            <a:ext cx="10789920" cy="22860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D6E80"/>
                </a:solidFill>
                <a:latin typeface="Noto Sans CJK KR"/>
              </a:rPr>
              <a:t>A3 Laser Driller · 2026-10-06 · 명목 설계 계산 / 실제 장비·영상 검증 필요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19088"/>
            <a:ext cx="475488" cy="27432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D6E80"/>
                </a:solidFill>
                <a:latin typeface="Noto Sans CJK KR"/>
              </a:rPr>
              <a:t>2/3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43584"/>
            <a:ext cx="11338560" cy="33009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2386584" y="1728216"/>
            <a:ext cx="0" cy="2176271"/>
          </a:xfrm>
          <a:prstGeom prst="line">
            <a:avLst/>
          </a:prstGeom>
          <a:ln w="12700">
            <a:solidFill>
              <a:srgbClr val="E0E9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176272" y="1435608"/>
            <a:ext cx="512064" cy="23774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D6E80"/>
                </a:solidFill>
                <a:latin typeface="Noto Sans CJK KR"/>
              </a:rPr>
              <a:t>0s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14416" y="1728216"/>
            <a:ext cx="0" cy="2176271"/>
          </a:xfrm>
          <a:prstGeom prst="line">
            <a:avLst/>
          </a:prstGeom>
          <a:ln w="12700">
            <a:solidFill>
              <a:srgbClr val="E0E9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04103" y="1435608"/>
            <a:ext cx="512064" cy="23774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D6E80"/>
                </a:solidFill>
                <a:latin typeface="Noto Sans CJK KR"/>
              </a:rPr>
              <a:t>1s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842248" y="1728216"/>
            <a:ext cx="0" cy="2176271"/>
          </a:xfrm>
          <a:prstGeom prst="line">
            <a:avLst/>
          </a:prstGeom>
          <a:ln w="12700">
            <a:solidFill>
              <a:srgbClr val="E0E9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31936" y="1435608"/>
            <a:ext cx="512064" cy="23774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D6E80"/>
                </a:solidFill>
                <a:latin typeface="Noto Sans CJK KR"/>
              </a:rPr>
              <a:t>2s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1856231"/>
            <a:ext cx="1609344" cy="310896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243A"/>
                </a:solidFill>
                <a:latin typeface="Noto Sans CJK KR"/>
              </a:rPr>
              <a:t>H04 도착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2688336"/>
            <a:ext cx="1609344" cy="310896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243A"/>
                </a:solidFill>
                <a:latin typeface="Noto Sans CJK KR"/>
              </a:rPr>
              <a:t>X 준비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3639312"/>
            <a:ext cx="1609344" cy="310896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243A"/>
                </a:solidFill>
                <a:latin typeface="Noto Sans CJK KR"/>
              </a:rPr>
              <a:t>카메라 주기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86584" y="1856231"/>
            <a:ext cx="6455664" cy="347472"/>
          </a:xfrm>
          <a:prstGeom prst="rect">
            <a:avLst/>
          </a:prstGeom>
          <a:solidFill>
            <a:srgbClr val="126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33688" y="1901952"/>
            <a:ext cx="1883664" cy="29260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269D3"/>
                </a:solidFill>
                <a:latin typeface="Noto Sans CJK KR"/>
              </a:rPr>
              <a:t>2.000초 마감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86584" y="2688336"/>
            <a:ext cx="7454358" cy="384048"/>
          </a:xfrm>
          <a:prstGeom prst="rect">
            <a:avLst/>
          </a:prstGeom>
          <a:solidFill>
            <a:srgbClr val="009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840942" y="2688336"/>
            <a:ext cx="226174" cy="384048"/>
          </a:xfrm>
          <a:prstGeom prst="rect">
            <a:avLst/>
          </a:prstGeom>
          <a:solidFill>
            <a:srgbClr val="EFB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75887" y="2743200"/>
            <a:ext cx="4663440" cy="28346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Noto Sans CJK KR"/>
              </a:rPr>
              <a:t>가속·감속 이동2.309초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9952" y="3172968"/>
            <a:ext cx="2660904" cy="25603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D6E80"/>
                </a:solidFill>
                <a:latin typeface="Noto Sans CJK KR"/>
              </a:rPr>
              <a:t>정착·여유 포함2.379초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86584" y="3639312"/>
            <a:ext cx="174509" cy="256032"/>
          </a:xfrm>
          <a:prstGeom prst="rect">
            <a:avLst/>
          </a:prstGeom>
          <a:solidFill>
            <a:srgbClr val="9CA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89109" y="3639312"/>
            <a:ext cx="6473952" cy="310896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5D6E80"/>
                </a:solidFill>
                <a:latin typeface="Noto Sans CJK KR"/>
              </a:rPr>
              <a:t>0.054초 → 충분함 · 현재 실패 원인은 X 준비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842248" y="1728216"/>
            <a:ext cx="0" cy="2423160"/>
          </a:xfrm>
          <a:prstGeom prst="line">
            <a:avLst/>
          </a:prstGeom>
          <a:ln w="31750">
            <a:solidFill>
              <a:srgbClr val="BC39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842248" y="4151376"/>
            <a:ext cx="1224868" cy="0"/>
          </a:xfrm>
          <a:prstGeom prst="line">
            <a:avLst/>
          </a:prstGeom>
          <a:ln w="63500">
            <a:solidFill>
              <a:srgbClr val="BC39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046720" y="4215384"/>
            <a:ext cx="3273552" cy="25603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BC3948"/>
                </a:solidFill>
                <a:latin typeface="Noto Sans CJK KR"/>
              </a:rPr>
              <a:t>0.379초 부족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4754880"/>
            <a:ext cx="11338560" cy="1335024"/>
          </a:xfrm>
          <a:prstGeom prst="roundRect">
            <a:avLst>
              <a:gd name="adj" fmla="val 10000"/>
            </a:avLst>
          </a:prstGeom>
          <a:solidFill>
            <a:srgbClr val="FFE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4882896"/>
            <a:ext cx="10936224" cy="34747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BC3948"/>
                </a:solidFill>
                <a:latin typeface="Noto Sans CJK KR"/>
              </a:rPr>
              <a:t>H04 마감26.165초 &lt; 준비 예산 종료26.545초 &lt; Stroke 종료27.667초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" y="5404104"/>
            <a:ext cx="10936224" cy="46634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0243A"/>
                </a:solidFill>
                <a:latin typeface="Noto Sans CJK KR"/>
              </a:rPr>
              <a:t>전체30초 안이어도 늦습니다. 목표점은 그 사이 Y37.947mm 더 이동합니다.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0243A"/>
                </a:solidFill>
                <a:latin typeface="Noto Sans CJK KR"/>
              </a:rPr>
              <a:t>H07→H08도2.000초 대비2.184초가 필요해0.184초 부족합니다.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00584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11384280" cy="46634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Noto Sans CJK KR"/>
              </a:rPr>
              <a:t>현재 선정점이 문제입니다. 다른 유효점 또는 X 가감속으로 비교합니다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658368"/>
            <a:ext cx="10972800" cy="21031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CFE2F4"/>
                </a:solidFill>
                <a:latin typeface="Noto Sans CJK KR"/>
              </a:rPr>
              <a:t>입력조건은 그대로 유지 가능 · 8개 Head의 Cell 모두 다름 · 비교안을 자동 적용하지 않음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6473952"/>
            <a:ext cx="10789920" cy="22860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D6E80"/>
                </a:solidFill>
                <a:latin typeface="Noto Sans CJK KR"/>
              </a:rPr>
              <a:t>A3 Laser Driller · 2026-10-06 · 명목 설계 계산 / 실제 장비·영상 검증 필요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19088"/>
            <a:ext cx="475488" cy="27432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D6E80"/>
                </a:solidFill>
                <a:latin typeface="Noto Sans CJK KR"/>
              </a:rPr>
              <a:t>3/3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52728"/>
            <a:ext cx="6437376" cy="35478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426464"/>
            <a:ext cx="5998464" cy="32004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269D3"/>
                </a:solidFill>
                <a:latin typeface="Noto Sans CJK KR"/>
              </a:rPr>
              <a:t>A. 측정점을 더 늦게 도착하는 유효점으로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011680"/>
            <a:ext cx="5998464" cy="43891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243A"/>
                </a:solidFill>
                <a:latin typeface="Noto Sans CJK KR"/>
              </a:rPr>
              <a:t>H04: 같은Cell32 안에서 Y40.5mm 늦게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514600"/>
            <a:ext cx="5998464" cy="39319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F805B"/>
                </a:solidFill>
                <a:latin typeface="Noto Sans CJK KR"/>
              </a:rPr>
              <a:t>도착2.405초 − 준비2.379초 = 여유25.5ms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099816"/>
            <a:ext cx="5998464" cy="43891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243A"/>
                </a:solidFill>
                <a:latin typeface="Noto Sans CJK KR"/>
              </a:rPr>
              <a:t>H08: 같은Cell36 안에서 Y21.6mm 늦게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602736"/>
            <a:ext cx="5998464" cy="39319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F805B"/>
                </a:solidFill>
                <a:latin typeface="Noto Sans CJK KR"/>
              </a:rPr>
              <a:t>도착2.216초 − 준비2.184초 = 여유31.9ms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4197096"/>
            <a:ext cx="5998464" cy="27432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D6E80"/>
                </a:solidFill>
                <a:latin typeface="Noto Sans CJK KR"/>
              </a:rPr>
              <a:t>X 이동거리 동일 · Stroke2700mm 내 Y 후보 유지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1252728"/>
            <a:ext cx="4709160" cy="3547872"/>
          </a:xfrm>
          <a:prstGeom prst="roundRect">
            <a:avLst>
              <a:gd name="adj" fmla="val 10000"/>
            </a:avLst>
          </a:prstGeom>
          <a:solidFill>
            <a:srgbClr val="DE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2904" y="1426464"/>
            <a:ext cx="4288536" cy="32004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009FA9"/>
                </a:solidFill>
                <a:latin typeface="Noto Sans CJK KR"/>
              </a:rPr>
              <a:t>B. X 가감속250 비교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2904" y="2121408"/>
            <a:ext cx="4288536" cy="36576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0243A"/>
                </a:solidFill>
                <a:latin typeface="Noto Sans CJK KR"/>
              </a:rPr>
              <a:t>X 속도200mm/s는 유지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2697480"/>
            <a:ext cx="4288536" cy="64008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F805B"/>
                </a:solidFill>
                <a:latin typeface="Noto Sans CJK KR"/>
              </a:rPr>
              <a:t>H03→H04 준비1.870초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F805B"/>
                </a:solidFill>
                <a:latin typeface="Noto Sans CJK KR"/>
              </a:rPr>
              <a:t>2초 대비 여유0.130초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2904" y="3712463"/>
            <a:ext cx="4288536" cy="59436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D6E80"/>
                </a:solidFill>
                <a:latin typeface="Noto Sans CJK KR"/>
              </a:rPr>
              <a:t>현재 선정점 그대로 계산상 가능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D6E80"/>
                </a:solidFill>
                <a:latin typeface="Noto Sans CJK KR"/>
              </a:rPr>
              <a:t>장비가 이 가감속을 허용하는지 확인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5010912"/>
            <a:ext cx="11338560" cy="1078992"/>
          </a:xfrm>
          <a:prstGeom prst="roundRect">
            <a:avLst>
              <a:gd name="adj" fmla="val 10000"/>
            </a:avLst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5166360"/>
            <a:ext cx="10936224" cy="30175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Noto Sans CJK KR"/>
              </a:rPr>
              <a:t>시뮬레이터에서 입력을 바꾸면, 가이드의 수식·숫자·도식도 함께 바뀝니다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5605272"/>
            <a:ext cx="10936224" cy="27432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FE2F4"/>
                </a:solidFill>
                <a:latin typeface="Noto Sans CJK KR"/>
              </a:rPr>
              <a:t>A안: 고정 정착50ms·Guard20ms를 포함한 명목 여유 · 실제 위치·영상·정착 검증 필요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0선방어 Flying Review 검토자료</dc:title>
  <dc:subject>Basler a2a2600-20gcBAS / Mitutoyo 378-810-3 · 서로 다른 Cell의 2/4 Head Review</dc:subject>
  <dc:creator>A3 Laser Driller</dc:creator>
  <cp:keywords>Flying Vision, Zero Defence, Basler, Motion Blur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