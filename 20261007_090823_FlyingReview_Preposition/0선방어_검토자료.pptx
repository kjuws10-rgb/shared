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9a0d8f7a1f4e6b" /><Relationship Type="http://schemas.openxmlformats.org/officeDocument/2006/relationships/extended-properties" Target="/docProps/app.xml" Id="R00aadda12e984a38" /><Relationship Type="http://schemas.openxmlformats.org/officeDocument/2006/relationships/officeDocument" Target="/ppt/presentation.xml" Id="R65ad74bbd5e746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e8018666ca41e4"/>
  </p:sldMasterIdLst>
  <p:notesMasterIdLst>
    <p:notesMasterId xmlns:r="http://schemas.openxmlformats.org/officeDocument/2006/relationships" r:id="Re790ecd0d8ba4ab5"/>
  </p:notesMasterIdLst>
  <p:sldIdLst>
    <p:sldId xmlns:r="http://schemas.openxmlformats.org/officeDocument/2006/relationships" id="256" r:id="R115a66131b8e4338"/>
    <p:sldId xmlns:r="http://schemas.openxmlformats.org/officeDocument/2006/relationships" id="257" r:id="R8b3feb226ad14471"/>
    <p:sldId xmlns:r="http://schemas.openxmlformats.org/officeDocument/2006/relationships" id="258" r:id="R005ab722db574c88"/>
  </p:sldIdLst>
  <p:sldSz cx="12191999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430e080f1b4005" /><Relationship Type="http://schemas.openxmlformats.org/officeDocument/2006/relationships/slideMaster" Target="/ppt/slideMasters/slideMaster1.xml" Id="Ra5e8018666ca41e4" /><Relationship Type="http://schemas.openxmlformats.org/officeDocument/2006/relationships/notesMaster" Target="/ppt/notesMasters/notesMaster1.xml" Id="Re790ecd0d8ba4ab5" /><Relationship Type="http://schemas.openxmlformats.org/officeDocument/2006/relationships/presProps" Target="/ppt/presProps.xml" Id="R0b80c49396794699" /><Relationship Type="http://schemas.openxmlformats.org/officeDocument/2006/relationships/tableStyles" Target="/ppt/tableStyles.xml" Id="R30ef52d1e7ca4216" /><Relationship Type="http://schemas.openxmlformats.org/officeDocument/2006/relationships/slide" Target="/ppt/slides/slide1.xml" Id="R115a66131b8e4338" /><Relationship Type="http://schemas.openxmlformats.org/officeDocument/2006/relationships/slide" Target="/ppt/slides/slide2.xml" Id="R8b3feb226ad14471" /><Relationship Type="http://schemas.openxmlformats.org/officeDocument/2006/relationships/slide" Target="/ppt/slides/slide3.xml" Id="R005ab722db574c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d9d0b3c81c41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c08844c5084456" /><Relationship Type="http://schemas.openxmlformats.org/officeDocument/2006/relationships/notesMaster" Target="/ppt/notesMasters/notesMaster1.xml" Id="R001da04de1064b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c123199b594c61" /><Relationship Type="http://schemas.openxmlformats.org/officeDocument/2006/relationships/notesMaster" Target="/ppt/notesMasters/notesMaster1.xml" Id="R350ff2b3dc4441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3b7991c68847a0" /><Relationship Type="http://schemas.openxmlformats.org/officeDocument/2006/relationships/notesMaster" Target="/ppt/notesMasters/notesMaster1.xml" Id="R49d3fe11077b4c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최신 조건: 현재 기판 0선방어 이후 다음 기판 투입 전 3분 이상의 여유. 180초를 ReviewDone 및 X 이동 허가 이후 사용 가능한 창의 하한으로 반영. 이는 기판 시작 간격 또는 장비 Tact가 아님. 준비=1.632993161855452+settle0.05+guard0.02=1.7029931618554521s. 기판 내 준비는 노출·trigger/jitter·camera period도 포함하여 1.7030631618554524s. X 선정점 H2=104.05000000000001, H3=204.05. 초기 H1 XReady는 기동 1회 별도 확보. XReady 조건은 위치 일치·속도0·정착 완료. ReviewDone은 실제 Frame·Vision 완료 확인. 전체 장비 Tact 단축 초 수를 산출한 것이 아니라 선배치로 증가하는 추가 대기가 0초인 명목 설계 계산. 상자 폭은 시간 비례가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고정 유효점 X: H1=4.05,H2=104.05,H3=204.05,H4=306.75,H5=414.85,H6=525.65,H7=636.45,H8=747.25 mm. Head fieldWidth110mm와 이동거리 구분; 이동거리=선정점 X차 절대값. Cell IDs=[1,11,21,31,5,15,25,35], 모두 unique, 기존 레시피 Head 소유권·Mask 검증됨. 각 선배치=[{"fromX":104.05000000000001,"toX":204.05,"dx":100,"move":1.632993161855452,"settle":0.05,"guard":0.02,"need":1.7029931618554521,"from":2,"to":3,"fromGlass":1,"toGlass":2,"wrap":false,"window":180,"slack":178.29700683814454,"extraTactS":0,"valid":true},{"fromX":306.75,"toX":414.84999999999997,"dx":108.09999999999997,"move":1.6978417672641541,"settle":0.05,"guard":0.02,"need":1.7678417672641542,"from":4,"to":5,"fromGlass":2,"toGlass":3,"wrap":false,"window":180,"slack":178.23215823273586,"extraTactS":0,"valid":true},{"fromX":525.65,"toX":636.4499999999999,"dx":110.79999999999995,"move":1.7189143860782206,"settle":0.05,"guard":0.02,"need":1.7889143860782206,"from":6,"to":7,"fromGlass":3,"toGlass":4,"wrap":false,"window":180,"slack":178.21108561392177,"extraTactS":0,"valid":true},{"fromX":747.25,"toX":4.049999999999997,"dx":743.2,"move":5.049333333333333,"settle":0.05,"guard":0.02,"need":5.119333333333333,"from":8,"to":1,"fromGlass":4,"toGlass":1,"wrap":true,"window":180,"slack":174.88066666666666,"extraTactS":0,"valid":true}]. 총20x 전제는200mm tube lens+1x relay. 선배치 준비는 이동+settle50ms+guard20ms. X정지-정지 사다리꼴/삼각형 운동으로 가감속 포함. 초기Park0→H1=0.3986335s는 초기 기동1회 별도이며180초 순환에 반복 포함하지 않음. 사용자의3분 여유를180초 하한으로 계산. 실제 통신·처리·interlock대기는 측정된 사용 가능창에 포함되지 않는다는 전제.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동작 model은 역방향 StageY stroke2700mm, V100mm/s A=D150mm/s², total27.6666667s. 등속0.6666667~27s,2633.3333mm. Scanner 기판1500mm통과5.333333~20.333333s; Review 기판진입20.003333s; 물리동시통과0.33s. 이번 기판 선택 2점별 review end H2=22.165088s,H4=26.165088s,H6=22.165088s,H8=26.165088s. 각 선정점 가공 완료 후 촬영, 전체가공완료를 기다리지 않음. 실제LaserON은 recipe/service 신호로 판정. 4점 첫/마지막20.165083~26.165083s, Y감속27s, 최소Stroke2616.509333mm,max30Stroke2933.333333mm. blur8px=1um 허용경계. Basler sensor2.5um/pixel,total20x→.125um/px, 기본18.5fps,min exposure2us. 실제Frame/Vision처리시간, S-curve/following error, 영상 검출성능 미모델링. 공식사양 기확인2026-10-06: https://docs.baslerweb.com/a2a2600-20gcbas ; https://docs.baslerweb.com/exposure-time ; https://www.mitutoyo.com/webfoo/wp-content/uploads/E4191-378_010611.pdf p20,p29. 각기판 기동전 XReady가 전제이고 대기창 내 X 선배치가 신규 대기를 만들지 않는다는 계산이며 전체Tact를보증하지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a50138c23446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713bbd235441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8d549ccd0b44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3dd2fe57f48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255f802b4d413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148ea67b844e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95741D7-1AC0-4768-B9C0-84205DA4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769E8BB-C65D-4538-8C12-B45AF117DF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599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C60714B-BF8B-4440-A548-071D82877F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399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365A6A3-8AE0-4AAC-88BD-5B8D6582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C96E397-27A4-4AA9-B800-D9F96C4E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599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D742985-949B-4F21-B25C-F19C12EA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C121CE4-C45E-4BE3-AFCC-35802B6576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39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B9D5EE7-5A56-4E17-AFD8-1FDD490CED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399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BE6C591-4B0A-481E-98A7-EB72FC31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72E648-15BA-4C20-BA8E-AB64A1150C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39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9420BC-3CED-40D3-AA59-F9EEA10DF1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8D6CEA-0959-458C-8563-D445C60D52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6999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B0595DA-3245-44E7-AE4B-346B8FF5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11169ED-4D5C-45E8-BB46-B1067D1B19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399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148A98-88D9-426A-803D-7C19ADCA4C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95aac351b8458d" /><Relationship Type="http://schemas.openxmlformats.org/officeDocument/2006/relationships/slideLayout" Target="/ppt/slideLayouts/slideLayout1.xml" Id="R508ac19d24334d11" /><Relationship Type="http://schemas.openxmlformats.org/officeDocument/2006/relationships/slideLayout" Target="/ppt/slideLayouts/slideLayout2.xml" Id="R73cb43164ece4caa" /><Relationship Type="http://schemas.openxmlformats.org/officeDocument/2006/relationships/slideLayout" Target="/ppt/slideLayouts/slideLayout3.xml" Id="R514fb6c644574507" /><Relationship Type="http://schemas.openxmlformats.org/officeDocument/2006/relationships/slideLayout" Target="/ppt/slideLayouts/slideLayout4.xml" Id="Rb98c33e945784aa6" /><Relationship Type="http://schemas.openxmlformats.org/officeDocument/2006/relationships/slideLayout" Target="/ppt/slideLayouts/slideLayout5.xml" Id="Rdf65269805f44c05" /><Relationship Type="http://schemas.openxmlformats.org/officeDocument/2006/relationships/slideLayout" Target="/ppt/slideLayouts/slideLayout6.xml" Id="R35c69009c7a746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8ac19d24334d11"/>
    <p:sldLayoutId xmlns:r="http://schemas.openxmlformats.org/officeDocument/2006/relationships" id="2147483650" r:id="R73cb43164ece4caa"/>
    <p:sldLayoutId xmlns:r="http://schemas.openxmlformats.org/officeDocument/2006/relationships" id="2147483651" r:id="R514fb6c644574507"/>
    <p:sldLayoutId xmlns:r="http://schemas.openxmlformats.org/officeDocument/2006/relationships" id="2147483652" r:id="Rb98c33e945784aa6"/>
    <p:sldLayoutId xmlns:r="http://schemas.openxmlformats.org/officeDocument/2006/relationships" id="2147483653" r:id="Rdf65269805f44c05"/>
    <p:sldLayoutId xmlns:r="http://schemas.openxmlformats.org/officeDocument/2006/relationships" id="2147483654" r:id="R35c69009c7a746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2bcae65e744cb1" /><Relationship Type="http://schemas.openxmlformats.org/officeDocument/2006/relationships/notesSlide" Target="/ppt/notesSlides/notesSlide1.xml" Id="Rc1378bb47b6d45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e5477877fd4d81" /><Relationship Type="http://schemas.openxmlformats.org/officeDocument/2006/relationships/notesSlide" Target="/ppt/notesSlides/notesSlide2.xml" Id="R4e0091a31dc441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562e0b54046d6" /><Relationship Type="http://schemas.openxmlformats.org/officeDocument/2006/relationships/notesSlide" Target="/ppt/notesSlides/notesSlide3.xml" Id="R7853fab7db3146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4DDA1C-D506-4D0B-9A5F-0546EE86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8D386-EBCA-480C-9F0F-B2463981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2875"/>
            <a:ext cx="11334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기판 사이 3분에 X를 선배치하면, 추가 대기 0초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A4543-7D62-4200-B7F0-1E7831DB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3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E2F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CFE2F4"/>
                </a:solidFill>
                <a:latin typeface="Noto Sans CJK KR"/>
                <a:ea typeface="Noto Sans CJK KR"/>
                <a:cs typeface="Noto Sans CJK KR"/>
              </a:rPr>
              <a:t>기판당2개 측정 · H01·H02 리뷰 후 H03 준비 · 180초는 사용 가능한 대기창의 하한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02BB4-C984-47F1-B1A6-E3C8190B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6747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rPr>
              <a:t>A3 Laser Driller · 2026-10-07 · 명목 이동 계산 / XReady·실제 ReviewDone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98DAE-3A41-45B5-9F65-1086D7F9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43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rPr>
              <a:t>1/3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D0FC4-8558-4DBA-A5FB-4FF24A41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28725"/>
            <a:ext cx="113538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4AF8B-20B1-42E0-AC28-4E5662F6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1049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Stroke2700mm · 노출10µs · 허용blur8px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X200mm/s·가감속150 / Y100mm/s·가감속150mm/s²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EA546-B778-43AE-8D16-4A697994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43125"/>
            <a:ext cx="55626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55865-07DE-461E-B30A-F729C086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515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69D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269D3"/>
                </a:solidFill>
                <a:latin typeface="Noto Sans CJK KR"/>
                <a:ea typeface="Noto Sans CJK KR"/>
                <a:cs typeface="Noto Sans CJK KR"/>
              </a:rPr>
              <a:t>기판 내 촬영: H01 → H02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FF085-F3E9-4F27-9F33-14C060D3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33675"/>
            <a:ext cx="5153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rPr>
              <a:t>다음 점까지 2.000초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632B4-CD6D-4B33-8F6C-BE7EDEE8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5153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rPr>
              <a:t>X·취득 준비 1.703초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9B63C-5581-4938-8891-06D8BF4F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5153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69D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269D3"/>
                </a:solidFill>
                <a:latin typeface="Noto Sans CJK KR"/>
                <a:ea typeface="Noto Sans CJK KR"/>
                <a:cs typeface="Noto Sans CJK KR"/>
              </a:rPr>
              <a:t>촬영 간 여유 0.297초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F8A61-04EF-48A3-89DD-678389A4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55626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4F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2D9DD-F6C6-4232-A3B0-397C07DA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5153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805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0F805B"/>
                </a:solidFill>
                <a:latin typeface="Noto Sans CJK KR"/>
                <a:ea typeface="Noto Sans CJK KR"/>
                <a:cs typeface="Noto Sans CJK KR"/>
              </a:rPr>
              <a:t>기판 사이 준비: H02 → H03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718C0-AADA-4EDB-B26E-7762906F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33675"/>
            <a:ext cx="5153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rPr>
              <a:t>사용 가능한 대기창 180초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59C16-1B4C-40CB-AC58-34D99487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51530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rPr>
              <a:t>X 선배치 1.703초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86327-9EF2-4FF3-8517-D3014BA0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52850"/>
            <a:ext cx="51530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805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0F805B"/>
                </a:solidFill>
                <a:latin typeface="Noto Sans CJK KR"/>
                <a:ea typeface="Noto Sans CJK KR"/>
                <a:cs typeface="Noto Sans CJK KR"/>
              </a:rPr>
              <a:t>남는 시간 178.297초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264A21-9497-4ED7-8E28-FDAF904F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38675"/>
            <a:ext cx="2667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580F53-DCDB-4965-A525-3C7DE0A2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2400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rPr>
              <a:t>현재 기판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AD740-7087-48BD-ADA9-31FAD44D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rPr>
              <a:t>H01·H02 측정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0DC4EB-DFB1-4380-8F5E-BD95C15F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006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C9BF1A-4D06-4A7C-A866-BE6AEE16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38675"/>
            <a:ext cx="2667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4F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421BAD-EC37-4DD1-99C5-70E42A32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62500"/>
            <a:ext cx="2400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rPr>
              <a:t>리뷰 완료 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CB0201-C84A-4383-A92D-B0C6ED62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53025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rPr>
              <a:t>H03 선정점으로 이동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4C3BC9-C5D8-4757-A6A6-31FC55A6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006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208AD4-DC86-4AA6-803F-7DE401B2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38675"/>
            <a:ext cx="2667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4F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678AF5-9A4D-4A48-ADC7-625D7B51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62500"/>
            <a:ext cx="2400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rPr>
              <a:t>XReady 확보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155DD6-1D6F-4E9C-9A85-C6F7F7A6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53025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rPr>
              <a:t>위치·정지·정착 확인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CBC834-31CF-4CFD-B352-48D10379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006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C71570-998A-4DCA-88AC-00575278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638675"/>
            <a:ext cx="26670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755F04-CC4B-4561-954E-D5FD4D73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62500"/>
            <a:ext cx="2400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rPr>
              <a:t>다음 기판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EE3326-C5C8-49D0-9F56-206816C8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53025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rPr>
              <a:t>H03·H04 측정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002CE4-5A2D-4360-B128-E5072B1E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91200"/>
            <a:ext cx="11353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805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0F805B"/>
                </a:solidFill>
                <a:latin typeface="Noto Sans CJK KR"/>
                <a:ea typeface="Noto Sans CJK KR"/>
                <a:cs typeface="Noto Sans CJK KR"/>
              </a:rPr>
              <a:t>선배치 추가 대기 = max(0, 선배치 준비시간 − 180초) = 0초</a:t>
            </a:r>
          </a:p>
        </p:txBody>
      </p:sp>
    </p:spTree>
    <p:extLst>
      <p:ext uri="{BB962C8B-B14F-4D97-AF65-F5344CB8AC3E}">
        <p14:creationId xmlns:p14="http://schemas.microsoft.com/office/powerpoint/2010/main" val="679577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727B6-8CA8-4330-AE3C-3340CB35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C8574-AD5C-42E7-A435-EB4B6D1C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2875"/>
            <a:ext cx="11334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2개 측정: 네 기판으로 8개 스캐너를 순환합니다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6503F-453B-489A-9DC1-2557EDBD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3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E2F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CFE2F4"/>
                </a:solidFill>
                <a:latin typeface="Noto Sans CJK KR"/>
                <a:ea typeface="Noto Sans CJK KR"/>
                <a:cs typeface="Noto Sans CJK KR"/>
              </a:rPr>
              <a:t>같은 기판의 촬영은 유지하고, 다음 첫 촬영 위치 준비를 기판 사이 대기창에 배치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5B524-1CE4-40F1-B9B0-8AE999B6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6747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rPr>
              <a:t>A3 Laser Driller · 2026-10-07 · 명목 이동 계산 / XReady·실제 ReviewDone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7CAAA-9639-4489-9D3C-C1701BC3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43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rPr>
              <a:t>2/3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419100" y="1381125"/>
          <a:ext xmlns:a="http://schemas.openxmlformats.org/drawingml/2006/main" cx="113538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66800"/>
                <a:gridCol w="2276475"/>
                <a:gridCol w="2771775"/>
                <a:gridCol w="1409700"/>
                <a:gridCol w="1628775"/>
                <a:gridCol w="2200275"/>
              </a:tblGrid>
              <a:tr h="5429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이번 기판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측정 순서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기판 사이 선배치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ΔX(mm)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준비(s)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180초 여유(s)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5429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H01 → H02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H02 → H03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1.703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178.297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2매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H03 → H04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H04 → H05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108.1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1.768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178.232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</a:tr>
              <a:tr h="5429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3매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H05 → H06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H06 → H07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110.8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1.789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178.211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4매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H07 → H08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H08 → H01 (복귀)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743.2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5.119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174.881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2EE48-1F4D-439A-B60C-BF4A8A9F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52925"/>
            <a:ext cx="113538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4F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7FD4C-E255-43EC-95CD-B9CC8D73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805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0F805B"/>
                </a:solidFill>
                <a:latin typeface="Noto Sans CJK KR"/>
                <a:ea typeface="Noto Sans CJK KR"/>
                <a:cs typeface="Noto Sans CJK KR"/>
              </a:rPr>
              <a:t>가장 긴 H08→H01 복귀도 5.119초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4F55E-7B86-4CEE-80E1-60C78A14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rPr>
              <a:t>180초 안에 준비 완료 · 남는 시간 174.881초 · 선배치 추가 대기 0초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3D65E-F118-4764-96B9-5B1E2E78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10200"/>
            <a:ext cx="11353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rPr>
              <a:t>다음 위치 = 스캐너 중심이 아니라, 다음 촬영 선정점의 실제 X좌표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F1F16-E399-41A2-A72C-C3EAD681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38825"/>
            <a:ext cx="1135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rPr>
              <a:t>매 기판 Park0 복귀 없음 · 8개 Head마다 다른 Cell에서 1점 · H08 후 H01로 순환</a:t>
            </a:r>
          </a:p>
        </p:txBody>
      </p:sp>
    </p:spTree>
    <p:extLst>
      <p:ext uri="{BB962C8B-B14F-4D97-AF65-F5344CB8AC3E}">
        <p14:creationId xmlns:p14="http://schemas.microsoft.com/office/powerpoint/2010/main" val="605986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91882-4E82-4F83-9FDB-61AC419B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59D5E-D23F-4711-96A9-BE0BE78E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2875"/>
            <a:ext cx="11334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선배치가 해결하는 것은 다음 기판 준비입니다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EA1A9-82B0-4201-82E0-E44969A5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6750"/>
            <a:ext cx="1133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FE2F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CFE2F4"/>
                </a:solidFill>
                <a:latin typeface="Noto Sans CJK KR"/>
                <a:ea typeface="Noto Sans CJK KR"/>
                <a:cs typeface="Noto Sans CJK KR"/>
              </a:rPr>
              <a:t>현재 기판의 30초·Stroke·blur·촬영 간 X 이동 조건은 계속 확인합니다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1F5AD-4589-4CBA-9788-14922F9E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46747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rPr>
              <a:t>A3 Laser Driller · 2026-10-07 · 명목 이동 계산 / XReady·실제 ReviewDone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D8292-3C3F-4103-AF88-5871919D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438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200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rPr>
              <a:t>3/3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419100" y="1362075"/>
          <a:ext xmlns:a="http://schemas.openxmlformats.org/drawingml/2006/main" cx="11353800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43050"/>
                <a:gridCol w="2095500"/>
                <a:gridCol w="1838325"/>
                <a:gridCol w="5876925"/>
              </a:tblGrid>
              <a:tr h="5556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운용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기판 내 X 이동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8개 Head 확인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다음 첫 위치 준비</a:t>
                      </a:r>
                    </a:p>
                  </a:txBody>
                  <a:tcPr marL="91440" marR="91440" marT="45720" marB="45720" anchor="ctr">
                    <a:solidFill>
                      <a:srgbClr val="10243A"/>
                    </a:solidFill>
                  </a:tcPr>
                </a:tc>
              </a:tr>
              <a:tr h="5556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2개 / 기판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촬영 사이 1회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4기판 순환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H02→03, H04→05, H06→07, H08→01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4개 / 기판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촬영 사이 3회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2기판 순환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  <a:tc>
                  <a:txBody>
                    <a:bodyPr lIns="114300" tIns="76200" rIns="76200" bIns="76200">
                      <a:noAutofit/>
                    </a:bodyPr>
                    <a:lstStyle/>
                    <a:p>
                      <a:pPr algn="l"/>
                      <a:r>
                        <a:rPr sz="1575" b="0">
                          <a:solidFill>
                            <a:srgbClr val="10243A"/>
                          </a:solidFill>
                          <a:latin typeface="Noto Sans CJK KR"/>
                          <a:ea typeface="Noto Sans CJK KR"/>
                          <a:cs typeface="Noto Sans CJK KR"/>
                        </a:rPr>
                        <a:t>H04→05, H08→01</a:t>
                      </a:r>
                    </a:p>
                  </a:txBody>
                  <a:tcPr marL="91440" marR="91440" marT="45720" marB="45720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2F4A2-8D97-4F72-8634-51585F88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28975"/>
            <a:ext cx="11353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20013-1DC2-4505-85C6-C2390FE9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rPr>
              <a:t>현재 기준: 역방향 27.667초 · 이동 blur 8.00px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79BDC-C72C-43A4-9E1F-793C9EEE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rPr>
              <a:t>기판 내 X 최소 여유 0.211초 · 마지막 4점 노출26.165초 &lt; Y감속27.000초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243FD-5A6D-42BB-8FD2-E7AA8A62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24350"/>
            <a:ext cx="113538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4F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AD51F-319A-4FD0-805C-D56635BB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805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0F805B"/>
                </a:solidFill>
                <a:latin typeface="Noto Sans CJK KR"/>
                <a:ea typeface="Noto Sans CJK KR"/>
                <a:cs typeface="Noto Sans CJK KR"/>
              </a:rPr>
              <a:t>현재 리뷰 완료·X 이동 허가 → 선배치 → XReady → 다음 기판 시작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65A0C-E112-44E5-BDC5-03D2725D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00" b="0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rPr>
              <a:t>다음 기판이 들어올 때 첫 위치 준비 완료 · 실제 Frame·Vision 결과로 ReviewDone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13DB0-7C1D-4F03-8800-72F5FCC0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53050"/>
            <a:ext cx="1135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0243A"/>
                </a:solidFill>
                <a:latin typeface="Noto Sans CJK KR"/>
                <a:ea typeface="Noto Sans CJK KR"/>
                <a:cs typeface="Noto Sans CJK KR"/>
              </a:rPr>
              <a:t>기판 내 촬영 마감이 부족하면, 기판 사이 3분으로 보완할 수 없습니다.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605BB-A0D5-420D-B4EF-13EA540E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91200"/>
            <a:ext cx="1135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D6E80"/>
                </a:solidFill>
                <a:latin typeface="Noto Sans CJK KR"/>
                <a:ea typeface="Noto Sans CJK KR"/>
                <a:cs typeface="Noto Sans CJK KR"/>
              </a:rPr>
              <a:t>180초는 기판 시작 간격이 아닙니다. 반송·투입을 포함한 전체 장비 Tact는 별도입니다.</a:t>
            </a:r>
          </a:p>
        </p:txBody>
      </p:sp>
    </p:spTree>
    <p:extLst>
      <p:ext uri="{BB962C8B-B14F-4D97-AF65-F5344CB8AC3E}">
        <p14:creationId xmlns:p14="http://schemas.microsoft.com/office/powerpoint/2010/main" val="1879133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2026-10-07T00:05:51.6520000Z</dcterms:created>
  <dcterms:modified xsi:type="dcterms:W3CDTF">2026-10-07T00:05:51.6520000Z</dcterms:modified>
</coreProperties>
</file>