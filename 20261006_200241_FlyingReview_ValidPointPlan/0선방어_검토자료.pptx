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입력9개만 사용. Stroke2700,exp10us,blur8px,XV200,A=D150,YV100,A=D150. 시간27.666667s, Y등속0.666667~27s, 가속/감속거리각33.3333mm, 등속거리2633.3333mm. Scanner의기판1500mm통과도등속범위안. 마지막노출26.165088s±Jitter, 최소Stroke2616.509333mm. Blur8px는허용경계이며실제영상품질·측정정확도보장값아님. PointPlan H1C1,H2C11,H3C21,H4C31,H5C5,H6C15,H7C25,H8C35. 실제Frame/Vision처리완료는별도. 200mm튜브렌즈+1xRelay 총20x 전제, 물체면0.125um/px.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110mm는Scanner가공폭. 실제Review이동은두선정점의ReviewX좌표차. 모델Head중심Pitch110mm이며기존좌표변환의Shot중심소유구간H3[194.5,304.5],H4[304.5,414.5]AKX. B7DOEXoffset+.3375mm, 소유권은Shot중심으로판정. H3C21col2row1beam7X204.05Q-400.675. H4C31col3row1beam7X306.75Q-600.675. H7C25col14X636.45. H8C35col18X747.25. 각가공점geometryValid=true, mask.skip=false, owner일치. H3-&gt;4 Tmove2sqrt(102.7/150)=1.654891739s, need1.724961739s, slack.275038261s. H7-&gt;8 need1.788984386s, slack.211015614s. 두구간모두설정X200까지도달하지않는삼각형운동으로계산. 시야내늦은촬영으로대체하는모델아님. 전역최단점최적화는아니며현재유효점에서충분한여유확보.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Stage시작1982.5mm, Scanner기판진입Q1482.5,이탈Q-17.5. 역방향V100/A=D150: Scanner기판통과5.333333~20.333333s. Review기판진입20.003333s. 두위치동시통과20.003333~20.333333s=.33s. 첫선정점노출20.165078~20.165088s이Scanner통과끝보다앞이고나머지선정점은Scanner통과이후. 마지막26.165088s, Y감속27s, Stroke종료27.666667s. 실제LaserON은가공스크립트/Scanner완료신호의증거로만판정: test0929 유효Shot창843.2mm/명목5.498458~13.930458s이므로기판통과창전체LaserON주장금지. 입력Stroke검토범위는가감속포함rest-to-rest. ProcessDone/ReviewDone서비스처리시간미계산. 2/4모드는8Head각1점순환기판수4/2, 역방향합계110.666667/55.333333s이고전체장비Tact가아님. 시뮬레이터입력9개·모드·기판번호를가이드에URL/동일출처채널로전달, 저장HTMLsnapshot지원. Basler/노출/Mitutoyo사양공식소스는HTML내링크에기재.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현재 조건과 유효 선정점으로, 30초 안에 리뷰 가능합니다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Basler a2a2600-20gcBAS + Mitutoyo378-810-3 SL20x · 가감속 포함 역방향 구간 검토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1/3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43584"/>
            <a:ext cx="11338560" cy="905256"/>
          </a:xfrm>
          <a:prstGeom prst="roundRect">
            <a:avLst>
              <a:gd name="adj" fmla="val 10000"/>
            </a:avLst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99032"/>
            <a:ext cx="10936224" cy="47548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Stroke2700mm · 노출10µs · 허용blur8px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X200mm/s·가감속150mm/s² / Y100mm/s·가감속150mm/s²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414016"/>
            <a:ext cx="548640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414016"/>
            <a:ext cx="64008" cy="1197864"/>
          </a:xfrm>
          <a:prstGeom prst="rect">
            <a:avLst/>
          </a:prstGeom>
          <a:solidFill>
            <a:srgbClr val="0F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514600"/>
            <a:ext cx="5129784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805B"/>
                </a:solidFill>
                <a:latin typeface="Noto Sans CJK KR"/>
              </a:rPr>
              <a:t>역방향30초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52928"/>
            <a:ext cx="5129784" cy="32918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43A"/>
                </a:solidFill>
                <a:latin typeface="Noto Sans CJK KR"/>
              </a:rPr>
              <a:t>27.667초 ≤30초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310128"/>
            <a:ext cx="5129784" cy="2377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가속0.667 + 등속26.333 + 감속0.667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414016"/>
            <a:ext cx="548640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2414016"/>
            <a:ext cx="64008" cy="1197864"/>
          </a:xfrm>
          <a:prstGeom prst="rect">
            <a:avLst/>
          </a:prstGeom>
          <a:solidFill>
            <a:srgbClr val="0F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5352" y="2514600"/>
            <a:ext cx="5129784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805B"/>
                </a:solidFill>
                <a:latin typeface="Noto Sans CJK KR"/>
              </a:rPr>
              <a:t>기판·리뷰 등속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852928"/>
            <a:ext cx="5129784" cy="32918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43A"/>
                </a:solidFill>
                <a:latin typeface="Noto Sans CJK KR"/>
              </a:rPr>
              <a:t>기판1500mm·후보4/4점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310128"/>
            <a:ext cx="5129784" cy="2377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등속거리2633.3mm · 리뷰20.165~26.165초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849624"/>
            <a:ext cx="548640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849624"/>
            <a:ext cx="64008" cy="1197864"/>
          </a:xfrm>
          <a:prstGeom prst="rect">
            <a:avLst/>
          </a:prstGeom>
          <a:solidFill>
            <a:srgbClr val="0F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950208"/>
            <a:ext cx="5129784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805B"/>
                </a:solidFill>
                <a:latin typeface="Noto Sans CJK KR"/>
              </a:rPr>
              <a:t>이동 blur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288536"/>
            <a:ext cx="5129784" cy="32918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43A"/>
                </a:solidFill>
                <a:latin typeface="Noto Sans CJK KR"/>
              </a:rPr>
              <a:t>8.00px = 허용8.00px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" y="4745736"/>
            <a:ext cx="5129784" cy="2377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1.000µm 이동 · 허용값 경계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3849624"/>
            <a:ext cx="548640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3849624"/>
            <a:ext cx="64008" cy="1197864"/>
          </a:xfrm>
          <a:prstGeom prst="rect">
            <a:avLst/>
          </a:prstGeom>
          <a:solidFill>
            <a:srgbClr val="0F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3950208"/>
            <a:ext cx="5129784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0F805B"/>
                </a:solidFill>
                <a:latin typeface="Noto Sans CJK KR"/>
              </a:rPr>
              <a:t>X 준비·취득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4288536"/>
            <a:ext cx="5129784" cy="32918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0243A"/>
                </a:solidFill>
                <a:latin typeface="Noto Sans CJK KR"/>
              </a:rPr>
              <a:t>최소 여유0.211초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4745736"/>
            <a:ext cx="5129784" cy="2377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H03→04 여유0.275초 / H07→08 여유0.211초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477256"/>
            <a:ext cx="11338560" cy="630936"/>
          </a:xfrm>
          <a:prstGeom prst="roundRect">
            <a:avLst>
              <a:gd name="adj" fmla="val 10000"/>
            </a:avLst>
          </a:prstGeom>
          <a:solidFill>
            <a:srgbClr val="DE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5623560"/>
            <a:ext cx="10936224" cy="31089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0243A"/>
                </a:solidFill>
                <a:latin typeface="Noto Sans CJK KR"/>
              </a:rPr>
              <a:t>8개 Head마다1점 · 모든 Cell이 다름 · 선정점의 실제 X좌표 차이로 계산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가공폭110mm와, 리뷰 X 이동거리는 각각 계산합니다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H03 Cell21 X204.05mm → H04 Cell31 X306.75mm · 실제 이동102.7mm · Y차200mm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2/3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25296"/>
            <a:ext cx="11338560" cy="22677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16075" y="1508760"/>
            <a:ext cx="4425696" cy="630936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6075" y="1655064"/>
            <a:ext cx="4425696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0243A"/>
                </a:solidFill>
                <a:latin typeface="Noto Sans CJK KR"/>
              </a:rPr>
              <a:t>H03 가공영역110mm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1771" y="1508760"/>
            <a:ext cx="4425696" cy="630936"/>
          </a:xfrm>
          <a:prstGeom prst="roundRect">
            <a:avLst>
              <a:gd name="adj" fmla="val 10000"/>
            </a:avLst>
          </a:prstGeom>
          <a:solidFill>
            <a:srgbClr val="DE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1771" y="1655064"/>
            <a:ext cx="4425696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10243A"/>
                </a:solidFill>
                <a:latin typeface="Noto Sans CJK KR"/>
              </a:rPr>
              <a:t>H04 가공영역110mm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00306" y="2157984"/>
            <a:ext cx="0" cy="384048"/>
          </a:xfrm>
          <a:prstGeom prst="line">
            <a:avLst/>
          </a:prstGeom>
          <a:ln w="25400">
            <a:solidFill>
              <a:srgbClr val="0F8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852757" y="2221992"/>
            <a:ext cx="95097" cy="95097"/>
          </a:xfrm>
          <a:prstGeom prst="ellipse">
            <a:avLst/>
          </a:prstGeom>
          <a:solidFill>
            <a:srgbClr val="0F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2482" y="2633472"/>
            <a:ext cx="1810512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805B"/>
                </a:solidFill>
                <a:latin typeface="Noto Sans CJK KR"/>
              </a:rPr>
              <a:t>H03 / C21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32296" y="2157984"/>
            <a:ext cx="0" cy="384048"/>
          </a:xfrm>
          <a:prstGeom prst="line">
            <a:avLst/>
          </a:prstGeom>
          <a:ln w="25400">
            <a:solidFill>
              <a:srgbClr val="0F8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984748" y="2221992"/>
            <a:ext cx="95097" cy="95097"/>
          </a:xfrm>
          <a:prstGeom prst="ellipse">
            <a:avLst/>
          </a:prstGeom>
          <a:solidFill>
            <a:srgbClr val="0F8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4472" y="2633472"/>
            <a:ext cx="1810512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805B"/>
                </a:solidFill>
                <a:latin typeface="Noto Sans CJK KR"/>
              </a:rPr>
              <a:t>H04 / C31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00306" y="3099816"/>
            <a:ext cx="4131990" cy="0"/>
          </a:xfrm>
          <a:prstGeom prst="line">
            <a:avLst/>
          </a:prstGeom>
          <a:ln w="50800">
            <a:solidFill>
              <a:srgbClr val="0F8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98064" y="3172968"/>
            <a:ext cx="4023360" cy="2377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0F805B"/>
                </a:solidFill>
                <a:latin typeface="Noto Sans CJK KR"/>
              </a:rPr>
              <a:t>실제 ΔX=306.75−204.05=102.7mm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721608"/>
            <a:ext cx="11338560" cy="123444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877056"/>
            <a:ext cx="10936224" cy="31089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10243A"/>
                </a:solidFill>
                <a:latin typeface="Noto Sans CJK KR"/>
              </a:rPr>
              <a:t>다음 점200/100=2.000초 / X 이동1.655 + 정착·여유0.070 =1.725초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" y="4407408"/>
            <a:ext cx="10936224" cy="28346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0F805B"/>
                </a:solidFill>
                <a:latin typeface="Noto Sans CJK KR"/>
              </a:rPr>
              <a:t>H03→H04:2.000−1.725=여유0.275초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184648"/>
            <a:ext cx="11338560" cy="9418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321808"/>
            <a:ext cx="10963656" cy="31089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0243A"/>
                </a:solidFill>
                <a:latin typeface="Noto Sans CJK KR"/>
              </a:rPr>
              <a:t>H08도 Cell35의 X747.25mm 유효점 선정 → H07→H08 이동110.8mm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751576"/>
            <a:ext cx="10963656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D6E80"/>
                </a:solidFill>
                <a:latin typeface="Noto Sans CJK KR"/>
              </a:rPr>
              <a:t>H04:열3·행1·B07 / H08:열18·행1·B07 · Head소유권·Mask 검증 완료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1005840"/>
          </a:xfrm>
          <a:prstGeom prst="rect">
            <a:avLst/>
          </a:prstGeom>
          <a:solidFill>
            <a:srgbClr val="10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37160"/>
            <a:ext cx="11384280" cy="466344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FFFFFF"/>
                </a:solidFill>
                <a:latin typeface="Noto Sans CJK KR"/>
              </a:rPr>
              <a:t>가공통과와 리뷰가 겹치고, 남은 리뷰도 같은 Stroke 안에 끝납니다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658368"/>
            <a:ext cx="10972800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FE2F4"/>
                </a:solidFill>
                <a:latin typeface="Noto Sans CJK KR"/>
              </a:rPr>
              <a:t>기판1500mm − Scanner→Review1467mm =33mm · 등속100mm/s에서 동시통과0.330초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6473952"/>
            <a:ext cx="10789920" cy="2286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D6E80"/>
                </a:solidFill>
                <a:latin typeface="Noto Sans CJK KR"/>
              </a:rPr>
              <a:t>A3 Laser Driller · 2026-10-06 · 명목 설계 계산 / 실제 장비·영상 검증 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75488" cy="27432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3/3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25296"/>
            <a:ext cx="11338560" cy="2450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2615184" y="1719072"/>
            <a:ext cx="0" cy="160934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14015" y="1417320"/>
            <a:ext cx="448056" cy="2194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0s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40123" y="1719072"/>
            <a:ext cx="0" cy="160934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38956" y="1417320"/>
            <a:ext cx="448056" cy="2194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5s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65064" y="1719072"/>
            <a:ext cx="0" cy="160934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63896" y="1417320"/>
            <a:ext cx="448056" cy="2194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10s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90004" y="1719072"/>
            <a:ext cx="0" cy="160934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88836" y="1417320"/>
            <a:ext cx="448056" cy="2194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15s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14943" y="1719072"/>
            <a:ext cx="0" cy="160934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13775" y="1417320"/>
            <a:ext cx="448056" cy="2194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20s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39883" y="1719072"/>
            <a:ext cx="0" cy="160934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538715" y="1417320"/>
            <a:ext cx="448056" cy="2194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25s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164824" y="1719072"/>
            <a:ext cx="0" cy="1609344"/>
          </a:xfrm>
          <a:prstGeom prst="line">
            <a:avLst/>
          </a:prstGeom>
          <a:ln w="12700">
            <a:solidFill>
              <a:srgbClr val="DFE8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963655" y="1417320"/>
            <a:ext cx="448056" cy="2194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D6E80"/>
                </a:solidFill>
                <a:latin typeface="Noto Sans CJK KR"/>
              </a:rPr>
              <a:t>30s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1828800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243A"/>
                </a:solidFill>
                <a:latin typeface="Noto Sans CJK KR"/>
              </a:rPr>
              <a:t>역방향Stroke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15184" y="1828800"/>
            <a:ext cx="7884667" cy="256032"/>
          </a:xfrm>
          <a:prstGeom prst="rect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441448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243A"/>
                </a:solidFill>
                <a:latin typeface="Noto Sans CJK KR"/>
              </a:rPr>
              <a:t>기판Scanner통과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35120" y="2441448"/>
            <a:ext cx="4274820" cy="256032"/>
          </a:xfrm>
          <a:prstGeom prst="rect">
            <a:avLst/>
          </a:prstGeom>
          <a:solidFill>
            <a:srgbClr val="126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063240"/>
            <a:ext cx="1947672" cy="25603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243A"/>
                </a:solidFill>
                <a:latin typeface="Noto Sans CJK KR"/>
              </a:rPr>
              <a:t>리뷰점도착창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1989" y="3063240"/>
            <a:ext cx="1709930" cy="256032"/>
          </a:xfrm>
          <a:prstGeom prst="rect">
            <a:avLst/>
          </a:prstGeom>
          <a:solidFill>
            <a:srgbClr val="009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315893" y="2313432"/>
            <a:ext cx="0" cy="1088136"/>
          </a:xfrm>
          <a:prstGeom prst="line">
            <a:avLst/>
          </a:prstGeom>
          <a:ln w="50800">
            <a:solidFill>
              <a:srgbClr val="EFB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499851" y="1719072"/>
            <a:ext cx="0" cy="1682496"/>
          </a:xfrm>
          <a:prstGeom prst="line">
            <a:avLst/>
          </a:prstGeom>
          <a:ln w="25400">
            <a:solidFill>
              <a:srgbClr val="EFB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361990" y="2971800"/>
            <a:ext cx="0" cy="411480"/>
          </a:xfrm>
          <a:prstGeom prst="line">
            <a:avLst/>
          </a:prstGeom>
          <a:ln w="17780">
            <a:solidFill>
              <a:srgbClr val="10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31966" y="2971800"/>
            <a:ext cx="0" cy="411480"/>
          </a:xfrm>
          <a:prstGeom prst="line">
            <a:avLst/>
          </a:prstGeom>
          <a:ln w="17780">
            <a:solidFill>
              <a:srgbClr val="10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01942" y="2971800"/>
            <a:ext cx="0" cy="411480"/>
          </a:xfrm>
          <a:prstGeom prst="line">
            <a:avLst/>
          </a:prstGeom>
          <a:ln w="17780">
            <a:solidFill>
              <a:srgbClr val="10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71918" y="2971800"/>
            <a:ext cx="0" cy="411480"/>
          </a:xfrm>
          <a:prstGeom prst="line">
            <a:avLst/>
          </a:prstGeom>
          <a:ln w="17780">
            <a:solidFill>
              <a:srgbClr val="10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11480" y="3867912"/>
            <a:ext cx="11338560" cy="877824"/>
          </a:xfrm>
          <a:prstGeom prst="roundRect">
            <a:avLst>
              <a:gd name="adj" fmla="val 10000"/>
            </a:avLst>
          </a:prstGeom>
          <a:solidFill>
            <a:srgbClr val="DE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4014215"/>
            <a:ext cx="10963656" cy="457200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F805B"/>
                </a:solidFill>
                <a:latin typeface="Noto Sans CJK KR"/>
              </a:rPr>
              <a:t>첫 리뷰20.165초 &lt; Scanner통과 끝20.333초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0F805B"/>
                </a:solidFill>
                <a:latin typeface="Noto Sans CJK KR"/>
              </a:rPr>
              <a:t>마지막 리뷰26.165초 &lt; Y감속 시작27.000초 &lt; Stroke끝27.667초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974336"/>
            <a:ext cx="54864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47488"/>
            <a:ext cx="5175504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69D3"/>
                </a:solidFill>
                <a:latin typeface="Noto Sans CJK KR"/>
              </a:rPr>
              <a:t>기판당2개 스캐너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376672"/>
            <a:ext cx="5175504" cy="2194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243A"/>
                </a:solidFill>
                <a:latin typeface="Noto Sans CJK KR"/>
              </a:rPr>
              <a:t>4기판 순환 · 역방향 합계110.667초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80760" y="4974336"/>
            <a:ext cx="56692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5047488"/>
            <a:ext cx="5358384" cy="210312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269D3"/>
                </a:solidFill>
                <a:latin typeface="Noto Sans CJK KR"/>
              </a:rPr>
              <a:t>기판당4개 스캐너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36208" y="5376672"/>
            <a:ext cx="5358384" cy="219456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0243A"/>
                </a:solidFill>
                <a:latin typeface="Noto Sans CJK KR"/>
              </a:rPr>
              <a:t>2기판 순환 · 역방향 합계55.333초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5907024"/>
            <a:ext cx="11237976" cy="292608"/>
          </a:xfrm>
          <a:prstGeom prst="rect">
            <a:avLst/>
          </a:prstGeom>
          <a:noFill/>
        </p:spPr>
        <p:txBody>
          <a:bodyPr wrap="square" lIns="18288" rIns="18288" tIns="9144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D6E80"/>
                </a:solidFill>
                <a:latin typeface="Noto Sans CJK KR"/>
              </a:rPr>
              <a:t>통과창은 실제Laser ON과 별도 · 실제Frame·Vision으로ReviewDone 판정 · 반송 포함Tact 제외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0선방어 Flying Review 검토자료</dc:title>
  <dc:subject>Basler a2a2600-20gcBAS / Mitutoyo 378-810-3 · 서로 다른 Cell의 2/4 Head Review</dc:subject>
  <dc:creator>A3 Laser Driller</dc:creator>
  <cp:keywords>Flying Vision, Zero Defence, Basler, Motion Blur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