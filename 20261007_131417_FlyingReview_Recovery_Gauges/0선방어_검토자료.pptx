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6734e9120744f5" /><Relationship Type="http://schemas.openxmlformats.org/officeDocument/2006/relationships/extended-properties" Target="/docProps/app.xml" Id="Rf8de0193c9dd4a62" /><Relationship Type="http://schemas.openxmlformats.org/officeDocument/2006/relationships/officeDocument" Target="/ppt/presentation.xml" Id="R833f8f3da80a4f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40943a2c964b7d"/>
  </p:sldMasterIdLst>
  <p:notesMasterIdLst>
    <p:notesMasterId xmlns:r="http://schemas.openxmlformats.org/officeDocument/2006/relationships" r:id="R0f0da42fc3e749e4"/>
  </p:notesMasterIdLst>
  <p:sldIdLst>
    <p:sldId xmlns:r="http://schemas.openxmlformats.org/officeDocument/2006/relationships" id="256" r:id="R3bd5f17cdd3448a0"/>
    <p:sldId xmlns:r="http://schemas.openxmlformats.org/officeDocument/2006/relationships" id="257" r:id="Rad2bfe5871744794"/>
    <p:sldId xmlns:r="http://schemas.openxmlformats.org/officeDocument/2006/relationships" id="258" r:id="R60e230395c4c44ba"/>
  </p:sldIdLst>
  <p:sldSz cx="12191999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4766420b264c37" /><Relationship Type="http://schemas.openxmlformats.org/officeDocument/2006/relationships/slideMaster" Target="/ppt/slideMasters/slideMaster1.xml" Id="R9940943a2c964b7d" /><Relationship Type="http://schemas.openxmlformats.org/officeDocument/2006/relationships/notesMaster" Target="/ppt/notesMasters/notesMaster1.xml" Id="R0f0da42fc3e749e4" /><Relationship Type="http://schemas.openxmlformats.org/officeDocument/2006/relationships/presProps" Target="/ppt/presProps.xml" Id="R2819f7e24e30492b" /><Relationship Type="http://schemas.openxmlformats.org/officeDocument/2006/relationships/tableStyles" Target="/ppt/tableStyles.xml" Id="R8b44ae60f3a54897" /><Relationship Type="http://schemas.openxmlformats.org/officeDocument/2006/relationships/slide" Target="/ppt/slides/slide1.xml" Id="R3bd5f17cdd3448a0" /><Relationship Type="http://schemas.openxmlformats.org/officeDocument/2006/relationships/slide" Target="/ppt/slides/slide2.xml" Id="Rad2bfe5871744794" /><Relationship Type="http://schemas.openxmlformats.org/officeDocument/2006/relationships/slide" Target="/ppt/slides/slide3.xml" Id="R60e230395c4c44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e183b1b32a4f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d9e2a1cd2c4e9f" /><Relationship Type="http://schemas.openxmlformats.org/officeDocument/2006/relationships/notesMaster" Target="/ppt/notesMasters/notesMaster1.xml" Id="R259a664f18fd4f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fa63096c134d28" /><Relationship Type="http://schemas.openxmlformats.org/officeDocument/2006/relationships/notesMaster" Target="/ppt/notesMasters/notesMaster1.xml" Id="R009437a0673f43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c37299b99241cc" /><Relationship Type="http://schemas.openxmlformats.org/officeDocument/2006/relationships/notesMaster" Target="/ppt/notesMasters/notesMaster1.xml" Id="R74cab63e9e534d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입력 파라미터 Y Cell-to-Cell 간격=200mm. 등속 구간의 같은 기판 촬영 간 가용시간은 Y Cell간격/Y속도=200/100=2s로 계산하며 고정2초가 아님. 사용자 최신 조건: 현재 기판 0선방어 이후 다음 기판 투입 전 3분 이상의 여유. 180초를 ReviewDone 및 X 이동 허가 이후 사용 가능한 창의 하한으로 반영. 이는 기판 시작 간격 또는 장비 Tact가 아님. 준비=1.632993161855452+settle0.05+guard0.02=1.7029931618554521s. 기판 내 준비는 노출·trigger/jitter·camera period도 포함하여 1.7030631618554524s. X 선정점 H2=104.05000000000001, H3=204.05. 초기 H1 XReady는 기동 1회 별도 확보. XReady 조건은 위치 일치·속도0·정착 완료. ReviewDone은 실제 Frame·Vision 완료 확인. 전체 장비 Tact 단축 초 수를 산출한 것이 아니라 선배치로 증가하는 추가 대기가 0초인 명목 설계 계산. 상자 폭은 시간 비례가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고정 유효점 X: H1=4.05,H2=104.05,H3=204.05,H4=306.75,H5=414.85,H6=525.65,H7=636.45,H8=747.25 mm. Head fieldWidth110mm와 이동거리 구분; 이동거리=선정점 X차 절대값. Cell IDs=[1,11,21,31,5,15,25,35], 모두 unique, 기존 레시피 Head 소유권·Mask 검증됨. 각 선배치=[{"fromX":104.05000000000001,"toX":204.05,"dx":100,"move":1.632993161855452,"settle":0.05,"guard":0.02,"need":1.7029931618554521,"from":2,"to":3,"fromGlass":1,"toGlass":2,"wrap":false,"window":180,"slack":178.29700683814454,"extraTactS":0,"valid":true},{"fromX":306.75,"toX":414.84999999999997,"dx":108.09999999999997,"move":1.6978417672641541,"settle":0.05,"guard":0.02,"need":1.7678417672641542,"from":4,"to":5,"fromGlass":2,"toGlass":3,"wrap":false,"window":180,"slack":178.23215823273586,"extraTactS":0,"valid":true},{"fromX":525.65,"toX":636.4499999999999,"dx":110.79999999999995,"move":1.7189143860782206,"settle":0.05,"guard":0.02,"need":1.7889143860782206,"from":6,"to":7,"fromGlass":3,"toGlass":4,"wrap":false,"window":180,"slack":178.21108561392177,"extraTactS":0,"valid":true},{"fromX":747.25,"toX":4.049999999999997,"dx":743.2,"move":5.049333333333333,"settle":0.05,"guard":0.02,"need":5.119333333333333,"from":8,"to":1,"fromGlass":4,"toGlass":1,"wrap":true,"window":180,"slack":174.88066666666666,"extraTactS":0,"valid":true}]. 총20x 전제는200mm tube lens+1x relay. 선배치 준비는 이동+settle50ms+guard20ms. X정지-정지 사다리꼴/삼각형 운동으로 가감속 포함. 초기Park0→H1=0.3986335s는 초기 기동1회 별도이며180초 순환에 반복 포함하지 않음. 사용자의3분 여유를180초 하한으로 계산. 실제 통신·처리·interlock대기는 측정된 사용 가능창에 포함되지 않는다는 전제.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복구 예시: Y Cell-to-Cell 간격230mm, Stroke2700mm, 나머지는 기준값. 마지막 리뷰점과 Y감속거리 포함 최소Stroke=2706.509333333334mm로 현재값보다 6.5093333333338705mm 부족. 단일 파라미터 대안은 Stroke=2707mm, Cell간격=227mm, Y감속도=190mm/s². 추천값은 각 게이지 step 안쪽의 실제 통과값으로 검증. 게이지 녹색 범위는 해당 항목 외 모든 입력을 현재값으로 고정한 조건부 범위. 여러 조건이 동시에 실패하면 한 항목만으로 통과구간이 없을 수 있으며 결과에 실패 원인별 조정 방향을 표시. 기판 사이180초 선배치 예산은 같은 기판의 Stroke 부족을 보완하지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36619fb8a7488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41fbef4ca7418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1716278c9846e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afe95cf970447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8b7296842640b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5d62156a4c47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3E3F0F4-2976-486E-96AD-FAEA8E0F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CFF8F27-1DEB-4ABA-95EE-B8B6FDCFE1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599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79BD021-A84E-42EE-A3DF-6EC9F2AC610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399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400F00A-EC10-456C-A729-3D510368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F15719D-EDE1-404A-ADBC-FA88EDB621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599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141C47E-6FBD-41C2-AA69-AB7178A4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2C795C0-BCC4-41B6-9B0F-2F6C55DFC9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39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C35CC63-6CC6-47E6-9EEE-CA43941FD4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399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F31782C-5AAD-4C9D-A53A-E6420D24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DF0444-8360-4C20-8914-CEB44FF420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39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70569C8-E0C3-43BA-8375-D508377846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D282339-A3D5-44C6-9C65-8479A7CADF2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6999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3795387-50A2-4640-9741-14B5DB8A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73C2B92-22EB-4F6C-AE8C-3E21E0C10E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39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2F7C61-4247-418D-8C81-088C1ECFCA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469e49e9804374" /><Relationship Type="http://schemas.openxmlformats.org/officeDocument/2006/relationships/slideLayout" Target="/ppt/slideLayouts/slideLayout1.xml" Id="Rec61b3383e764563" /><Relationship Type="http://schemas.openxmlformats.org/officeDocument/2006/relationships/slideLayout" Target="/ppt/slideLayouts/slideLayout2.xml" Id="Rb267fbf7f78e4106" /><Relationship Type="http://schemas.openxmlformats.org/officeDocument/2006/relationships/slideLayout" Target="/ppt/slideLayouts/slideLayout3.xml" Id="R204f06c503d942f5" /><Relationship Type="http://schemas.openxmlformats.org/officeDocument/2006/relationships/slideLayout" Target="/ppt/slideLayouts/slideLayout4.xml" Id="R0086c7cc33084437" /><Relationship Type="http://schemas.openxmlformats.org/officeDocument/2006/relationships/slideLayout" Target="/ppt/slideLayouts/slideLayout5.xml" Id="Ra1bcbbe242d146a3" /><Relationship Type="http://schemas.openxmlformats.org/officeDocument/2006/relationships/slideLayout" Target="/ppt/slideLayouts/slideLayout6.xml" Id="R80f35c273e6f46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61b3383e764563"/>
    <p:sldLayoutId xmlns:r="http://schemas.openxmlformats.org/officeDocument/2006/relationships" id="2147483650" r:id="Rb267fbf7f78e4106"/>
    <p:sldLayoutId xmlns:r="http://schemas.openxmlformats.org/officeDocument/2006/relationships" id="2147483651" r:id="R204f06c503d942f5"/>
    <p:sldLayoutId xmlns:r="http://schemas.openxmlformats.org/officeDocument/2006/relationships" id="2147483652" r:id="R0086c7cc33084437"/>
    <p:sldLayoutId xmlns:r="http://schemas.openxmlformats.org/officeDocument/2006/relationships" id="2147483653" r:id="Ra1bcbbe242d146a3"/>
    <p:sldLayoutId xmlns:r="http://schemas.openxmlformats.org/officeDocument/2006/relationships" id="2147483654" r:id="R80f35c273e6f46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cf5bf3b57f4bbb" /><Relationship Type="http://schemas.openxmlformats.org/officeDocument/2006/relationships/notesSlide" Target="/ppt/notesSlides/notesSlide1.xml" Id="Rd32aa3fca3cd41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306f0050d5488f" /><Relationship Type="http://schemas.openxmlformats.org/officeDocument/2006/relationships/notesSlide" Target="/ppt/notesSlides/notesSlide2.xml" Id="R4992ded9e7d746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08cf01dd804222" /><Relationship Type="http://schemas.openxmlformats.org/officeDocument/2006/relationships/notesSlide" Target="/ppt/notesSlides/notesSlide3.xml" Id="R1f144c88235448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213C8A-FFAF-483D-9910-67EF225D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921529-C2D4-428C-B8B6-43C0EA48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2875"/>
            <a:ext cx="11334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기판 사이 3분에 X를 선배치하면, 추가 대기 0초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236A30-4C96-4ED6-942F-EFEAD629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"/>
            <a:ext cx="1133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FE2F4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CFE2F4"/>
                </a:solidFill>
                <a:latin typeface="Noto Sans KR"/>
                <a:ea typeface="Noto Sans KR"/>
                <a:cs typeface="Noto Sans KR"/>
              </a:rPr>
              <a:t>기판당2개 측정 · H01·H02 리뷰 후 H03 준비 · 180초는 사용 가능한 대기창의 하한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2A2E3-D1D0-4183-9008-0F3E13B2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46747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E80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5D6E80"/>
                </a:solidFill>
                <a:latin typeface="Noto Sans KR"/>
                <a:ea typeface="Noto Sans KR"/>
                <a:cs typeface="Noto Sans KR"/>
              </a:rPr>
              <a:t>A3 Laser Driller · 2026-10-07 · 명목 이동 계산 / XReady·실제 ReviewDone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10E81-318E-4691-BEF9-EF6BFD73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6438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E8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D6E80"/>
                </a:solidFill>
                <a:latin typeface="Noto Sans KR"/>
                <a:ea typeface="Noto Sans KR"/>
                <a:cs typeface="Noto Sans KR"/>
              </a:rPr>
              <a:t>1/3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404D0-E194-4432-A863-47A9D23B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28725"/>
            <a:ext cx="113538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4D0B3E-6F14-4B18-A7FF-38290819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Stroke2700mm · 노출10µs · 허용blur8px · Y Cell간격200mm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X200mm/s·가감속150 / Y100mm/s·가감속150mm/s²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75A3C9-77E9-4A44-AB10-E5A67CC1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43125"/>
            <a:ext cx="55626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7E75BE-ECE9-4F12-8561-917701BA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515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69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269D3"/>
                </a:solidFill>
                <a:latin typeface="Noto Sans KR"/>
                <a:ea typeface="Noto Sans KR"/>
                <a:cs typeface="Noto Sans KR"/>
              </a:rPr>
              <a:t>기판 내 촬영: H01 → H02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3079C0-80B7-489F-9502-69407399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33675"/>
            <a:ext cx="5153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43A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0243A"/>
                </a:solidFill>
                <a:latin typeface="Noto Sans KR"/>
                <a:ea typeface="Noto Sans KR"/>
                <a:cs typeface="Noto Sans KR"/>
              </a:rPr>
              <a:t>Y 200.0 ÷ 100.0 = 2.000초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CCAE6B-4A6F-46EA-A270-79750A19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5153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243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10243A"/>
                </a:solidFill>
                <a:latin typeface="Noto Sans KR"/>
                <a:ea typeface="Noto Sans KR"/>
                <a:cs typeface="Noto Sans KR"/>
              </a:rPr>
              <a:t>X·취득 준비 1.703초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584B9E-FF2F-429E-90B4-3DDED0FD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51530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69D3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269D3"/>
                </a:solidFill>
                <a:latin typeface="Noto Sans KR"/>
                <a:ea typeface="Noto Sans KR"/>
                <a:cs typeface="Noto Sans KR"/>
              </a:rPr>
              <a:t>촬영 간 여유 0.297초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DBD379-A792-497C-A894-2C1F38B5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43125"/>
            <a:ext cx="55626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4F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8BFEC7-8D48-4157-BF57-31038F5B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05050"/>
            <a:ext cx="515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805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F805B"/>
                </a:solidFill>
                <a:latin typeface="Noto Sans KR"/>
                <a:ea typeface="Noto Sans KR"/>
                <a:cs typeface="Noto Sans KR"/>
              </a:rPr>
              <a:t>기판 사이 준비: H02 → H03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380735-7F28-4DBA-876E-399A04E2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33675"/>
            <a:ext cx="5153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43A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0243A"/>
                </a:solidFill>
                <a:latin typeface="Noto Sans KR"/>
                <a:ea typeface="Noto Sans KR"/>
                <a:cs typeface="Noto Sans KR"/>
              </a:rPr>
              <a:t>사용 가능한 대기창 180초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F97F72-309C-4A7E-BA11-CCC41B6C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5153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243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10243A"/>
                </a:solidFill>
                <a:latin typeface="Noto Sans KR"/>
                <a:ea typeface="Noto Sans KR"/>
                <a:cs typeface="Noto Sans KR"/>
              </a:rPr>
              <a:t>X 선배치 1.703초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6F93B-E2A5-4794-81BB-7140A85E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52850"/>
            <a:ext cx="51530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805B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0F805B"/>
                </a:solidFill>
                <a:latin typeface="Noto Sans KR"/>
                <a:ea typeface="Noto Sans KR"/>
                <a:cs typeface="Noto Sans KR"/>
              </a:rPr>
              <a:t>남는 시간 178.297초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D70524-8886-4DEC-A049-68B63144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38675"/>
            <a:ext cx="26670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74DAC6-5352-4E2F-A7A6-76B668A7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2400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E8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D6E80"/>
                </a:solidFill>
                <a:latin typeface="Noto Sans KR"/>
                <a:ea typeface="Noto Sans KR"/>
                <a:cs typeface="Noto Sans KR"/>
              </a:rPr>
              <a:t>현재 기판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DA5522-51A5-400F-84CA-CC0F9518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53025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A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0243A"/>
                </a:solidFill>
                <a:latin typeface="Noto Sans KR"/>
                <a:ea typeface="Noto Sans KR"/>
                <a:cs typeface="Noto Sans KR"/>
              </a:rPr>
              <a:t>H01·H02 측정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063DFF-877E-4FA2-A05F-7E687411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0006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E80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5D6E80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7C1137-2713-4143-AEEC-7ECA0879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638675"/>
            <a:ext cx="26670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4F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A9D023-A8AD-4EFB-8FE9-EF18ACBA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762500"/>
            <a:ext cx="2400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E8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D6E80"/>
                </a:solidFill>
                <a:latin typeface="Noto Sans KR"/>
                <a:ea typeface="Noto Sans KR"/>
                <a:cs typeface="Noto Sans KR"/>
              </a:rPr>
              <a:t>리뷰 완료 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003DED-E713-4A50-9855-C49FAFD6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53025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A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0243A"/>
                </a:solidFill>
                <a:latin typeface="Noto Sans KR"/>
                <a:ea typeface="Noto Sans KR"/>
                <a:cs typeface="Noto Sans KR"/>
              </a:rPr>
              <a:t>H03 선정점으로 이동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F1DD61-B6CD-45AA-BA10-9002DAD0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006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E80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5D6E80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4402CB-3FC7-4889-A6FB-20C3E39A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38675"/>
            <a:ext cx="26670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4F1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7524E1-782E-4C90-87B7-406CB88E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62500"/>
            <a:ext cx="2400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E8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D6E80"/>
                </a:solidFill>
                <a:latin typeface="Noto Sans KR"/>
                <a:ea typeface="Noto Sans KR"/>
                <a:cs typeface="Noto Sans KR"/>
              </a:rPr>
              <a:t>XReady 확보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6939DE-2207-4BE3-A515-5C865E9A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53025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A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0243A"/>
                </a:solidFill>
                <a:latin typeface="Noto Sans KR"/>
                <a:ea typeface="Noto Sans KR"/>
                <a:cs typeface="Noto Sans KR"/>
              </a:rPr>
              <a:t>위치·정지·정착 확인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071B92-99D1-44AB-9CC8-45718908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0006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E80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5D6E80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86A09B-D384-44EC-9FFD-B52C7C0E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638675"/>
            <a:ext cx="26670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E1CBAC-6673-44E0-9383-6811E544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62500"/>
            <a:ext cx="2400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E8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D6E80"/>
                </a:solidFill>
                <a:latin typeface="Noto Sans KR"/>
                <a:ea typeface="Noto Sans KR"/>
                <a:cs typeface="Noto Sans KR"/>
              </a:rPr>
              <a:t>다음 기판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AF6358-8D04-46A6-B0F4-83B083FD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153025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A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0243A"/>
                </a:solidFill>
                <a:latin typeface="Noto Sans KR"/>
                <a:ea typeface="Noto Sans KR"/>
                <a:cs typeface="Noto Sans KR"/>
              </a:rPr>
              <a:t>H03·H04 측정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048C7D-7560-4370-8AE5-775E1989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91200"/>
            <a:ext cx="11353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F805B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F805B"/>
                </a:solidFill>
                <a:latin typeface="Noto Sans KR"/>
                <a:ea typeface="Noto Sans KR"/>
                <a:cs typeface="Noto Sans KR"/>
              </a:rPr>
              <a:t>선배치 추가 대기 = max(0, 선배치 준비시간 − 180초) = 0초</a:t>
            </a:r>
          </a:p>
        </p:txBody>
      </p:sp>
    </p:spTree>
    <p:extLst>
      <p:ext uri="{BB962C8B-B14F-4D97-AF65-F5344CB8AC3E}">
        <p14:creationId xmlns:p14="http://schemas.microsoft.com/office/powerpoint/2010/main" val="20500944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302C06-506F-4DF2-9A22-84BBF096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A2BE4-83DA-4192-928F-93CB34AF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2875"/>
            <a:ext cx="11334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2개 측정: 네 기판으로 8개 스캐너를 순환합니다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0141EE-9059-4FA4-8C68-0567A24B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"/>
            <a:ext cx="1133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FE2F4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CFE2F4"/>
                </a:solidFill>
                <a:latin typeface="Noto Sans KR"/>
                <a:ea typeface="Noto Sans KR"/>
                <a:cs typeface="Noto Sans KR"/>
              </a:rPr>
              <a:t>같은 기판의 촬영은 유지하고, 다음 첫 촬영 위치 준비를 기판 사이 대기창에 배치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9DEDB-33F8-4A25-8394-E10C5A49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46747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E80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5D6E80"/>
                </a:solidFill>
                <a:latin typeface="Noto Sans KR"/>
                <a:ea typeface="Noto Sans KR"/>
                <a:cs typeface="Noto Sans KR"/>
              </a:rPr>
              <a:t>A3 Laser Driller · 2026-10-07 · 명목 이동 계산 / XReady·실제 ReviewDone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93C95-1111-4D3D-BC76-8345EA69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6438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E8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D6E80"/>
                </a:solidFill>
                <a:latin typeface="Noto Sans KR"/>
                <a:ea typeface="Noto Sans KR"/>
                <a:cs typeface="Noto Sans KR"/>
              </a:rPr>
              <a:t>2/3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419100" y="1381125"/>
          <a:ext xmlns:a="http://schemas.openxmlformats.org/drawingml/2006/main" cx="11353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66800"/>
                <a:gridCol w="2276475"/>
                <a:gridCol w="2771775"/>
                <a:gridCol w="1409700"/>
                <a:gridCol w="1628775"/>
                <a:gridCol w="2200275"/>
              </a:tblGrid>
              <a:tr h="542925"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이번 기판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측정 순서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기판 사이 선배치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ΔX(mm)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준비(s)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 여유(s)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</a:tr>
              <a:tr h="542925"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H01 → H02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H02 → H03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1.703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178.297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2매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H03 → H04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H04 → H05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108.1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1.768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178.232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</a:tr>
              <a:tr h="542925"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H05 → H06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H06 → H07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110.8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1.789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178.211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4매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H07 → H08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H08 → H01 (복귀)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743.2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5.119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174.881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47AFB-C106-48EC-89EF-A38B4D31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52925"/>
            <a:ext cx="113538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4F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CB4B7-CFCF-4A54-A6A6-37847464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805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0F805B"/>
                </a:solidFill>
                <a:latin typeface="Noto Sans KR"/>
                <a:ea typeface="Noto Sans KR"/>
                <a:cs typeface="Noto Sans KR"/>
              </a:rPr>
              <a:t>가장 긴 H08→H01 복귀도 5.119초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47C020-FFD1-4899-898A-7E3F5FD6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43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243A"/>
                </a:solidFill>
                <a:latin typeface="Noto Sans KR"/>
                <a:ea typeface="Noto Sans KR"/>
                <a:cs typeface="Noto Sans KR"/>
              </a:rPr>
              <a:t>180초 안에 준비 완료 · 남는 시간 174.881초 · 선배치 추가 대기 0초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ABFA46-152D-4DE0-859A-F0F73ACC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10200"/>
            <a:ext cx="11353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43A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243A"/>
                </a:solidFill>
                <a:latin typeface="Noto Sans KR"/>
                <a:ea typeface="Noto Sans KR"/>
                <a:cs typeface="Noto Sans KR"/>
              </a:rPr>
              <a:t>다음 위치 = 스캐너 중심이 아니라, 다음 촬영 선정점의 실제 X좌표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5B887-0D27-4825-AD10-6B89304C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38825"/>
            <a:ext cx="1135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E8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5D6E80"/>
                </a:solidFill>
                <a:latin typeface="Noto Sans KR"/>
                <a:ea typeface="Noto Sans KR"/>
                <a:cs typeface="Noto Sans KR"/>
              </a:rPr>
              <a:t>매 기판 Park0 복귀 없음 · 8개 Head마다 다른 Cell에서 1점 · H08 후 H01로 순환</a:t>
            </a:r>
          </a:p>
        </p:txBody>
      </p:sp>
    </p:spTree>
    <p:extLst>
      <p:ext uri="{BB962C8B-B14F-4D97-AF65-F5344CB8AC3E}">
        <p14:creationId xmlns:p14="http://schemas.microsoft.com/office/powerpoint/2010/main" val="20096951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0EF91C-0EDC-42A1-BBD2-E519B99E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B68B6-DCFC-4A39-9781-5476F109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2875"/>
            <a:ext cx="11334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Cell 간격 230mm에서는 Stroke 2707mm부터 통과합니다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AA2360-73EC-4C48-B24D-13AF9FB8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"/>
            <a:ext cx="1133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FE2F4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CFE2F4"/>
                </a:solidFill>
                <a:latin typeface="Noto Sans KR"/>
                <a:ea typeface="Noto Sans KR"/>
                <a:cs typeface="Noto Sans KR"/>
              </a:rPr>
              <a:t>게이지의 녹색 구간과 자동 조정안은 다른 입력을 고정한 조건에서 계산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3F733-ACD4-4591-8D61-3A5F816C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46747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E80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5D6E80"/>
                </a:solidFill>
                <a:latin typeface="Noto Sans KR"/>
                <a:ea typeface="Noto Sans KR"/>
                <a:cs typeface="Noto Sans KR"/>
              </a:rPr>
              <a:t>A3 Laser Driller · 2026-10-07 · 명목 이동 계산 / XReady·실제 ReviewDone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CD7BBD-67E4-48A2-BB7A-7E2932E4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6438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E8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D6E80"/>
                </a:solidFill>
                <a:latin typeface="Noto Sans KR"/>
                <a:ea typeface="Noto Sans KR"/>
                <a:cs typeface="Noto Sans KR"/>
              </a:rPr>
              <a:t>3/3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419100" y="1381125"/>
          <a:ext xmlns:a="http://schemas.openxmlformats.org/drawingml/2006/main" cx="11353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3714750"/>
                <a:gridCol w="2952750"/>
                <a:gridCol w="2876550"/>
              </a:tblGrid>
              <a:tr h="542925"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조건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변경값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필요 최소 Stroke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판정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</a:tr>
              <a:tr h="542925"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Cell간격230 / Stroke2700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2706.509mm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불가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Stroke 증가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Stroke 2707mm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2706.509mm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통과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</a:tr>
              <a:tr h="542925"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Cell 간격 감소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Cell간격 227mm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2697.509mm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통과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Y 감속도 증가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Y감속 190mm/s²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2699.492mm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024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통과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564A0D-7CE2-4CA8-B530-77B33BB7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43400"/>
            <a:ext cx="11353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4F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A6D072-2D66-464D-8D4C-828B37B0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805B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F805B"/>
                </a:solidFill>
                <a:latin typeface="Noto Sans KR"/>
                <a:ea typeface="Noto Sans KR"/>
                <a:cs typeface="Noto Sans KR"/>
              </a:rPr>
              <a:t>현재 부족량 6.509mm · 게이지 적용값 2707mm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5DD5D-9841-4293-B42E-0E270E2C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43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0243A"/>
                </a:solidFill>
                <a:latin typeface="Noto Sans KR"/>
                <a:ea typeface="Noto Sans KR"/>
                <a:cs typeface="Noto Sans KR"/>
              </a:rPr>
              <a:t>정확한 경계 2706.509mm보다 슬라이더 1mm 단위를 한 단계 높여 적용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9F72B6-E78E-47AD-B5EB-9F3BFA75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53050"/>
            <a:ext cx="1135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A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0243A"/>
                </a:solidFill>
                <a:latin typeface="Noto Sans KR"/>
                <a:ea typeface="Noto Sans KR"/>
                <a:cs typeface="Noto Sans KR"/>
              </a:rPr>
              <a:t>빨간 구간은 불가, 녹색 구간은 통과 범위입니다. 각 게이지 이동 시 전체 조건을 다시 계산합니다.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A7A378-B34A-4918-A7AB-C061299F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10250"/>
            <a:ext cx="1135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E8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D6E80"/>
                </a:solidFill>
                <a:latin typeface="Noto Sans KR"/>
                <a:ea typeface="Noto Sans KR"/>
                <a:cs typeface="Noto Sans KR"/>
              </a:rPr>
              <a:t>허용 blur 증가는 품질 기준 완화이므로 영상 검출성능 확인 후 적용합니다.</a:t>
            </a:r>
          </a:p>
        </p:txBody>
      </p:sp>
    </p:spTree>
    <p:extLst>
      <p:ext uri="{BB962C8B-B14F-4D97-AF65-F5344CB8AC3E}">
        <p14:creationId xmlns:p14="http://schemas.microsoft.com/office/powerpoint/2010/main" val="8634223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2026-10-07T04:11:12.0620000Z</dcterms:created>
  <dcterms:modified xsi:type="dcterms:W3CDTF">2026-10-07T04:11:12.0620000Z</dcterms:modified>
</coreProperties>
</file>