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동작: 투입후 +StageY 정방향으로 가공대기, -StageY 역방향 MOF에서 Scanner 먼저, 공통간격1467mm 뒤 Review. 전체가공완료 대기없이 해당측정점의가공후 촬영. 기판앞부분리뷰중뒷부분가공이가능한 컨셉이며 실제가공범위에따라 Shot동시성달라짐. 그림의 기판1500mm와 스테이션간격1467mm는 동일축척, 33mm물리통과창중첩. 현재 test0929는 유효가공Y16.5125~859.7125(843.2mm)로 실제Shot창이일찍끝남. 바닥이동의MOF통과창과실제LaserON을동일시하지않음. 정방향기판좌표는설계가정. 출처/상세수식은Formula Guide에포함.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시간0=역방향시작. MOF기판스캐너통과 5.100000~20.100000, Review기판통과 19.770000~34.770000, 명목Shot 5.265125~13.697125. 4점리뷰작업 19.931749~25.931751, MOF주행창중첩 0.168251, 주행창종료후촬영잔여 5.831751. 마지막명목Shot종료기준잔여 12.234626초. 실제ProcessDone은Scanner/Laser완료ACK이며명목마지막좌표와다를수있음. 작업창에는점사이X이동/정착/대기포함, 연속노출아님. 150초/기판계획Tact기준4기판600초,2기판300초. 각Head1점 Cell1,11,21,32,5,15,25,36 모두다름. 고정점을속도만바꿔종료순서가바뀌는것아님. 소유Head/Mask유효Shot검증포인트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두종료경우는개념관계예시로현재고정레시피는B. 실제ProcessDone은Scanner/Laser작업완료ACK, ReviewDone은실제요구수량2/4 Frame수신및Vision결과확인. 노출끝은Frame/Vision완료아님. 부적합/미수신이면검사완료로처리하지않음. 마지막노출±5µs까지Y등속유지후감속가능. 촬영/판정중첩을자동Offset적용으로확대하지않음. 총배율20x=200mm튜브렌즈+1xRelay, 물체pixel2.5/20=.125µm. LensNA.28/WD30.5/R약1µm@550nm. BaslerGlobalShutter최소2µs18.5fps, Color. 허용1px이면Y≤62.5blur조건충족하나왕복Tact초과. X정착50ms Guard20ms 지연50µs Jitter±5µs 고정설계값. 기본최악H03→H04 ΔX200 ΔY200 X200 a=d1000, X이동1.2s 필요1.270062s 여유.729938s. Stage기판시작끝−1584.5mm, 가공대기1982.5mm: 각거리3567mm/Stroke3960, 정방향에도동일Y입력가정. 기타60초는계산한왕복이동제외, 영상여유1초는실제ReviewDone대체안됨. 공식출처 https://docs.baslerweb.com/a2a2600-20gcbas ; https://docs.baslerweb.com/exposure-time ; https://www.mitutoyo.com/webfoo/wp-content/uploads/E4191-378_010611.pdf p20/29. 확인2026-10-06. 가공15초/리뷰15초를별도직렬로더하지않는다. FollowError/조명/SNR/Scanner서비스시간미계산.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정방향 투입 후, 역방향 MOF에서 가공과 리뷰를 함께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Scanner를 먼저 만나고 1467 mm 뒤 Review · 이미 가공된 점부터 측정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3657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335024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① 정방향 투입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783080"/>
            <a:ext cx="33832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가공대기 위치까지 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25296"/>
            <a:ext cx="3657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35024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② 역방향 가공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783080"/>
            <a:ext cx="33832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Y 등속 · Scanner 먼저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25296"/>
            <a:ext cx="3657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335024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③ 리뷰 병행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783080"/>
            <a:ext cx="33832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앞부분 리뷰 / 뒷부분 가공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404872"/>
            <a:ext cx="11338560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551176"/>
            <a:ext cx="10881360" cy="3017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0243A"/>
                </a:solidFill>
                <a:latin typeface="Noto Sans CJK KR"/>
              </a:rPr>
              <a:t>기판이 두 위치를 동시에 걸치는 구간이 있습니다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6232" y="3072384"/>
            <a:ext cx="1042415" cy="438912"/>
          </a:xfrm>
          <a:prstGeom prst="roundRect">
            <a:avLst>
              <a:gd name="adj" fmla="val 10000"/>
            </a:avLst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154680"/>
            <a:ext cx="1005840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KR"/>
              </a:rPr>
              <a:t>Scanner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1" y="3072384"/>
            <a:ext cx="1042415" cy="438912"/>
          </a:xfrm>
          <a:prstGeom prst="roundRect">
            <a:avLst>
              <a:gd name="adj" fmla="val 10000"/>
            </a:avLst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39" y="3154680"/>
            <a:ext cx="1005840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KR"/>
              </a:rPr>
              <a:t>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3630168"/>
            <a:ext cx="5989319" cy="0"/>
          </a:xfrm>
          <a:prstGeom prst="line">
            <a:avLst/>
          </a:prstGeom>
          <a:ln w="25400">
            <a:solidFill>
              <a:srgbClr val="EFB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54296" y="3465576"/>
            <a:ext cx="137160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43A"/>
                </a:solidFill>
                <a:latin typeface="Noto Sans CJK KR"/>
              </a:rPr>
              <a:t>1467 mm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0075" y="3849624"/>
            <a:ext cx="6124049" cy="320040"/>
          </a:xfrm>
          <a:prstGeom prst="rect">
            <a:avLst/>
          </a:prstGeom>
          <a:solidFill>
            <a:srgbClr val="D7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8416" y="3858768"/>
            <a:ext cx="405993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69D3"/>
                </a:solidFill>
                <a:latin typeface="Noto Sans CJK KR"/>
              </a:rPr>
              <a:t>기판 1500 mm · 역방향 이동 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7440" y="3511296"/>
            <a:ext cx="0" cy="786384"/>
          </a:xfrm>
          <a:prstGeom prst="line">
            <a:avLst/>
          </a:prstGeom>
          <a:ln w="12700">
            <a:solidFill>
              <a:srgbClr val="126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66759" y="3511296"/>
            <a:ext cx="0" cy="786384"/>
          </a:xfrm>
          <a:prstGeom prst="line">
            <a:avLst/>
          </a:prstGeom>
          <a:ln w="12700">
            <a:solidFill>
              <a:srgbClr val="009F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1480" y="4690872"/>
            <a:ext cx="5468112" cy="1316736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828032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69D3"/>
                </a:solidFill>
                <a:latin typeface="Noto Sans CJK KR"/>
              </a:rPr>
              <a:t>같은 점의 도착 지연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5303520"/>
            <a:ext cx="5102352" cy="3840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43A"/>
                </a:solidFill>
                <a:latin typeface="Noto Sans CJK KR"/>
              </a:rPr>
              <a:t>1467 ÷ Y100 = 14.67초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4690872"/>
            <a:ext cx="5669280" cy="1316736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4828032"/>
            <a:ext cx="5285232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9FA9"/>
                </a:solidFill>
                <a:latin typeface="Noto Sans CJK KR"/>
              </a:rPr>
              <a:t>기판 전체의 통과창 중첩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5303520"/>
            <a:ext cx="5285232" cy="3840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243A"/>
                </a:solidFill>
                <a:latin typeface="Noto Sans CJK KR"/>
              </a:rPr>
              <a:t>(1500 − 1467) ÷ 100 = 0.33초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190488"/>
            <a:ext cx="11018520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통과창 중첩과 실제 Laser ON 중첩은 구분합니다. 실제 출사는 레시피 유효 가공 범위로 확인합니다.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가공 종료 뒤에도 리뷰가 남는 시간을 같은 시간축에서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기본값: Y100 / X200 mm/s · 노출2 µs · 허용blur2 px · 시간0 = 역방향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38560" cy="2788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587752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04872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0s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2251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09371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5s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96751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13871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10s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01250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18370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15s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5750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22870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20s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10249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27369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25s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14749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31869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30s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019249" y="1627632"/>
            <a:ext cx="0" cy="197510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36369" y="1335024"/>
            <a:ext cx="3931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35s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1773936"/>
            <a:ext cx="192024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43A"/>
                </a:solidFill>
                <a:latin typeface="Noto Sans CJK KR"/>
              </a:rPr>
              <a:t>MOF 가공주행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6341" y="1746504"/>
            <a:ext cx="3613498" cy="292608"/>
          </a:xfrm>
          <a:prstGeom prst="rect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267712"/>
            <a:ext cx="192024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43A"/>
                </a:solidFill>
                <a:latin typeface="Noto Sans CJK KR"/>
              </a:rPr>
              <a:t>Review 기판 통과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0343" y="2240280"/>
            <a:ext cx="3613498" cy="292608"/>
          </a:xfrm>
          <a:prstGeom prst="rect">
            <a:avLst/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2761488"/>
            <a:ext cx="192024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43A"/>
                </a:solidFill>
                <a:latin typeface="Noto Sans CJK KR"/>
              </a:rPr>
              <a:t>레시피 유효 Shot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56120" y="2734056"/>
            <a:ext cx="2031268" cy="292608"/>
          </a:xfrm>
          <a:prstGeom prst="rect">
            <a:avLst/>
          </a:prstGeom>
          <a:solidFill>
            <a:srgbClr val="9C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255263"/>
            <a:ext cx="192024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43A"/>
                </a:solidFill>
                <a:latin typeface="Noto Sans CJK KR"/>
              </a:rPr>
              <a:t>4점 리뷰 작업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89308" y="3227832"/>
            <a:ext cx="1445399" cy="292608"/>
          </a:xfrm>
          <a:prstGeom prst="rect">
            <a:avLst/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429840" y="1664208"/>
            <a:ext cx="0" cy="2039112"/>
          </a:xfrm>
          <a:prstGeom prst="line">
            <a:avLst/>
          </a:prstGeom>
          <a:ln w="25400">
            <a:solidFill>
              <a:srgbClr val="EFB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89308" y="3172968"/>
            <a:ext cx="0" cy="411480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06428" y="3639312"/>
            <a:ext cx="402336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243A"/>
                </a:solidFill>
                <a:latin typeface="Noto Sans CJK KR"/>
              </a:rPr>
              <a:t>H01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71108" y="3172968"/>
            <a:ext cx="0" cy="411480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88228" y="3639312"/>
            <a:ext cx="402336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243A"/>
                </a:solidFill>
                <a:latin typeface="Noto Sans CJK KR"/>
              </a:rPr>
              <a:t>H02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2908" y="3172968"/>
            <a:ext cx="0" cy="411480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70028" y="3639312"/>
            <a:ext cx="402336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243A"/>
                </a:solidFill>
                <a:latin typeface="Noto Sans CJK KR"/>
              </a:rPr>
              <a:t>H03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34708" y="3172968"/>
            <a:ext cx="0" cy="411480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651828" y="3639312"/>
            <a:ext cx="402336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243A"/>
                </a:solidFill>
                <a:latin typeface="Noto Sans CJK KR"/>
              </a:rPr>
              <a:t>H04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1664208"/>
            <a:ext cx="406908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43A"/>
                </a:solidFill>
                <a:latin typeface="Noto Sans CJK KR"/>
              </a:rPr>
              <a:t>주행창 종료 20.100s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206240"/>
            <a:ext cx="5468112" cy="1426464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4325112"/>
            <a:ext cx="5138928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69D3"/>
                </a:solidFill>
                <a:latin typeface="Noto Sans CJK KR"/>
              </a:rPr>
              <a:t>2개 스캐너 / 기판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" y="4645152"/>
            <a:ext cx="5138928" cy="33832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4기판 · 10분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5065776"/>
            <a:ext cx="5138928" cy="4846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243A"/>
                </a:solidFill>
                <a:latin typeface="Noto Sans CJK KR"/>
              </a:rPr>
              <a:t>H01→02 / H03→04 / H05→06 / H07→08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243A"/>
                </a:solidFill>
                <a:latin typeface="Noto Sans CJK KR"/>
              </a:rPr>
              <a:t>주행창 이후 잔여: 1.832 / 5.832 / 1.832 / 5.832초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206240"/>
            <a:ext cx="5669280" cy="1426464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4325112"/>
            <a:ext cx="5340096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69D3"/>
                </a:solidFill>
                <a:latin typeface="Noto Sans CJK KR"/>
              </a:rPr>
              <a:t>4개 스캐너 / 기판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4645152"/>
            <a:ext cx="5340096" cy="33832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2기판 · 5분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5065776"/>
            <a:ext cx="5340096" cy="4846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243A"/>
                </a:solidFill>
                <a:latin typeface="Noto Sans CJK KR"/>
              </a:rPr>
              <a:t>H01→02→03→04 / H05→06→07→08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243A"/>
                </a:solidFill>
                <a:latin typeface="Noto Sans CJK KR"/>
              </a:rPr>
              <a:t>주행창 이후 잔여: 각5.832초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5824728"/>
            <a:ext cx="11018520" cy="4480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현재 test0929: 실제 Shot창 5.265~13.697s / 첫 리뷰 19.932s → 실제 Shot–리뷰 중첩 0s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유효 가공Y범위843.2mm 기준. 기판 통과창0.33s 중첩과 별도이며, 실제 연속 가공 범위가 바뀌면 재산정합니다.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가공완료와 리뷰완료는 독립적입니다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리뷰 시작은 해당 점의 가공 완료 후 · 전체 ProcessDone을 기다리지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1133856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10972800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역방향 Y 등속 유지  →  해당 점 도착 시 촬영  →  실제 Frame 수신·Vision 판정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39696"/>
            <a:ext cx="5468112" cy="1627632"/>
          </a:xfrm>
          <a:prstGeom prst="roundRect">
            <a:avLst>
              <a:gd name="adj" fmla="val 10000"/>
            </a:avLst>
          </a:prstGeom>
          <a:solidFill>
            <a:srgbClr val="DD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304288"/>
            <a:ext cx="5138928" cy="33832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805B"/>
                </a:solidFill>
                <a:latin typeface="Noto Sans CJK KR"/>
              </a:rPr>
              <a:t>A  가공 완료 시 리뷰도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834640"/>
            <a:ext cx="5138928" cy="6858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43A"/>
                </a:solidFill>
                <a:latin typeface="Noto Sans CJK KR"/>
              </a:rPr>
              <a:t>마지막 노출이 이미 끝남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43A"/>
                </a:solidFill>
                <a:latin typeface="Noto Sans CJK KR"/>
              </a:rPr>
              <a:t>Y 감속 가능 → 양쪽 완료신호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139696"/>
            <a:ext cx="5669280" cy="1627632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304288"/>
            <a:ext cx="5340096" cy="33832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69D3"/>
                </a:solidFill>
                <a:latin typeface="Noto Sans CJK KR"/>
              </a:rPr>
              <a:t>B  가공 완료 시 리뷰가 남음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834640"/>
            <a:ext cx="5340096" cy="6858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43A"/>
                </a:solidFill>
                <a:latin typeface="Noto Sans CJK KR"/>
              </a:rPr>
              <a:t>남은 마지막 촬영까지 Y 등속 유지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43A"/>
                </a:solidFill>
                <a:latin typeface="Noto Sans CJK KR"/>
              </a:rPr>
              <a:t>노출 종료 후 감속 → 양쪽 완료신호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05072"/>
            <a:ext cx="11338560" cy="576072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151376"/>
            <a:ext cx="1094536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Noto Sans CJK KR"/>
              </a:rPr>
              <a:t>ProcessDone  AND  ReviewDone(요구수량의 Frame·Vision 결과)  →  검사 완료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837176"/>
            <a:ext cx="36301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56048"/>
            <a:ext cx="3355848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이동 blur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12664"/>
            <a:ext cx="3355848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0243A"/>
                </a:solidFill>
                <a:latin typeface="Noto Sans CJK KR"/>
              </a:rPr>
              <a:t>1.6px ≤2px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05856"/>
            <a:ext cx="3355848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Y100 × 노출2µs ÷125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837176"/>
            <a:ext cx="363931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956048"/>
            <a:ext cx="3364992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X 선도착 최소 여유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12664"/>
            <a:ext cx="3364992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0243A"/>
                </a:solidFill>
                <a:latin typeface="Noto Sans CJK KR"/>
              </a:rPr>
              <a:t>0.730초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705856"/>
            <a:ext cx="3364992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다음 점2초 ≥ 준비1.270초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4837176"/>
            <a:ext cx="364845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4956048"/>
            <a:ext cx="337413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왕복 포함 계산 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5312664"/>
            <a:ext cx="3374136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0243A"/>
                </a:solidFill>
                <a:latin typeface="Noto Sans CJK KR"/>
              </a:rPr>
              <a:t>132.740초 / 150초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5705856"/>
            <a:ext cx="3374136" cy="18288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정방향35.870 + 역방향35.870 +61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6117336"/>
            <a:ext cx="1100937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Basler a2a2600-20gcBAS + Mitutoyo378-810-3 SL20x · 전체8점은 다른 Cell · 입력8개 + 2/4개 선택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0선방어 Flying Review 검토자료</dc:title>
  <dc:subject>Basler a2a2600-20gcBAS / Mitutoyo 378-810-3 · 서로 다른 Cell의 2/4 Head Review</dc:subject>
  <dc:creator>A3 Laser Driller</dc:creator>
  <cp:keywords>Flying Vision, Zero Defence, Basler, Motion Blur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