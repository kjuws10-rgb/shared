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공식 출처: https://docs.baslerweb.com/a2a2600-20gcbas (기본2600x2128, 전체2600x2160, 2.5µm, Color, Global shutter, 기본18.5fps / Performance21.1fps). 노출2µs: https://docs.baslerweb.com/exposure-time 의 모델별 표. 렌즈: https://www.mitutoyo.com/webfoo/wp-content/uploads/E4191-378_010611.pdf p20/29. SL20x 378-810-3: NA0.28, WD30.5mm, f10mm, R1.0µm @550nm. 총배율20x는 200mm 튜브렌즈+1x relay 전제. 0.125µm/px는 샘플링 간격이며 실제 분해능·측정 정확도가 아니다. blur=100*2/125=1.6px. X 정지 촬영, Y등속. 허용1px에서는 Y≤62.5mm/s; 최소2µs보다 짧은1.25µs를 사용가능값으로 제시하지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Cell 번호는 행 우선(좌→우, 위→아래). H01C01 col2 row1 B07, H02C11 col2, H03C21 col2, H04C32 col2, H05C05 col6, H06C15 col10, H07C25 col14, H08C36 col2; 전부 row1 B07. 8개 Cell은 1,11,21,32,5,15,25,36으로 중복없음. 기존 Shared src/engine.js 및 recipe.js의 유효 Shot, Mask, 소유 Head 검증통과. 물체 실제 Branch 위치, Review X와 Stage Y는 Calculation_evidence.json 참조. H01~H04 및 H05~H08 각 그룹의 ΔY는 200mm. 2개 모드 총4매, 4개 모드 총2매, 계획Tact150초/매 적용. 전체 가공점 전수 또는70 Cell/Head 조합 커버가 아니라 고정8대표점의1회 순환이다. 모든8Head 활성 전제. 원본 기하: Shared/20261002_101847_FlyingReview_Recipe_Light, 소스commit6b19d7aaf0de81271468ab7dac0fa15493172f38.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기본값 Exposure2µs/MaxBlur2px/Vx200/Vy100/Ax=Dx1000/Ay=Dy500. 최악H03→H04 ΔX200mm, ΔY200mm; 사다리꼴 X이동1.2초, Tneed1.270062초, ΔT2초, slack0.729938초. 기본FPS18.5에서 주기54.054ms. X촬영중정지, Y계속등속; tCommand=tCross−50µs−T/2. ±5µs jitter를 시간여유에 반영. 실제 영상blur는 별도측정. Stage시작2345.9875, 끝−1584.5mm; 총거리3930.4875mm/Stroke3960. 계산가공통과12.232초는 전체유효가공첫q1845.9875~마지막q622.7875의기하시간이며, 가공전선행500mm는 전체운동에포함. Stage전체39.504875초+기타60초+영상여유1초=100.504875초. Review–Scanner거리1467mm 홀수 / 짝수1847mm(추가380)은기존명목배치가정. Scanner/Laser서비스시간, Align/왜곡, 실제Follow Error·SNR·영상PASS 미계산. 0선방어자동보정생략,실제Frame ACK/Vision 결과 이후 완료처리. 시뮬레이터에서 Blur/X timing/camera period/cruise/process/tact 조건위반시불가표시하며 요구2/4점수를자동축소하지않는다.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005840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37160"/>
            <a:ext cx="11384280" cy="466344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Noto Sans CJK KR"/>
              </a:rPr>
              <a:t>움직이면서 촬영할 때, 노출이 blur를 결정합니다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658368"/>
            <a:ext cx="10972800" cy="210312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CFE2F4"/>
                </a:solidFill>
                <a:latin typeface="Noto Sans CJK KR"/>
              </a:rPr>
              <a:t>Basler a2a2600-20gcBAS + Mitutoyo 378-810-3 M Plan Apo SL20x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6473952"/>
            <a:ext cx="10789920" cy="22860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D6E80"/>
                </a:solidFill>
                <a:latin typeface="Noto Sans CJK KR"/>
              </a:rPr>
              <a:t>A3 Laser Driller · 2026-10-06 · 명목 설계 계산 / 실제 장비·영상 검증 필요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65408" y="6419088"/>
            <a:ext cx="475488" cy="27432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D6E80"/>
                </a:solidFill>
                <a:latin typeface="Noto Sans CJK KR"/>
              </a:rPr>
              <a:t>1/3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225296"/>
            <a:ext cx="3675887" cy="11155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" y="1307592"/>
            <a:ext cx="3401568" cy="27432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269D3"/>
                </a:solidFill>
                <a:latin typeface="Noto Sans CJK KR"/>
              </a:rPr>
              <a:t>카메라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" y="1682496"/>
            <a:ext cx="3401568" cy="530352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0243A"/>
                </a:solidFill>
                <a:latin typeface="Noto Sans CJK KR"/>
              </a:rPr>
              <a:t>2.5 µm pixel · Global Shutter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0243A"/>
                </a:solidFill>
                <a:latin typeface="Noto Sans CJK KR"/>
              </a:rPr>
              <a:t>최소 노출 2 µs · 기본 18.5 fps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225296"/>
            <a:ext cx="3675887" cy="11155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98264" y="1307592"/>
            <a:ext cx="3401568" cy="27432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269D3"/>
                </a:solidFill>
                <a:latin typeface="Noto Sans CJK KR"/>
              </a:rPr>
              <a:t>렌즈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98264" y="1682496"/>
            <a:ext cx="3401568" cy="530352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0243A"/>
                </a:solidFill>
                <a:latin typeface="Noto Sans CJK KR"/>
              </a:rPr>
              <a:t>총배율 20x 가정 · NA 0.28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0243A"/>
                </a:solidFill>
                <a:latin typeface="Noto Sans CJK KR"/>
              </a:rPr>
              <a:t>WD 30.5 mm · 200 mm 튜브렌즈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225296"/>
            <a:ext cx="3675887" cy="11155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38744" y="1307592"/>
            <a:ext cx="3401568" cy="27432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269D3"/>
                </a:solidFill>
                <a:latin typeface="Noto Sans CJK KR"/>
              </a:rPr>
              <a:t>물체면 환산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38744" y="1682496"/>
            <a:ext cx="3401568" cy="530352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0243A"/>
                </a:solidFill>
                <a:latin typeface="Noto Sans CJK KR"/>
              </a:rPr>
              <a:t>1 pixel = 0.125 µm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0243A"/>
                </a:solidFill>
                <a:latin typeface="Noto Sans CJK KR"/>
              </a:rPr>
              <a:t>FOV 0.325 × 0.266 mm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2560320"/>
            <a:ext cx="5586984" cy="3182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2706624"/>
            <a:ext cx="5212080" cy="384048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0243A"/>
                </a:solidFill>
                <a:latin typeface="Noto Sans CJK KR"/>
              </a:rPr>
              <a:t>Y100 mm/s · 노출2 µs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246120"/>
            <a:ext cx="2011680" cy="27432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5D6E80"/>
                </a:solidFill>
                <a:latin typeface="Noto Sans CJK KR"/>
              </a:rPr>
              <a:t>정지한 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7872" y="3246120"/>
            <a:ext cx="2011680" cy="27432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5D6E80"/>
                </a:solidFill>
                <a:latin typeface="Noto Sans CJK KR"/>
              </a:rPr>
              <a:t>이동 중 노출</a:t>
            </a:r>
          </a:p>
        </p:txBody>
      </p:sp>
      <p:sp>
        <p:nvSpPr>
          <p:cNvPr id="20" name="Oval 19"/>
          <p:cNvSpPr/>
          <p:nvPr/>
        </p:nvSpPr>
        <p:spPr>
          <a:xfrm>
            <a:off x="1362456" y="3794760"/>
            <a:ext cx="393192" cy="393192"/>
          </a:xfrm>
          <a:prstGeom prst="ellipse">
            <a:avLst/>
          </a:prstGeom>
          <a:solidFill>
            <a:srgbClr val="1269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977639" y="3794760"/>
            <a:ext cx="841248" cy="393192"/>
          </a:xfrm>
          <a:prstGeom prst="ellipse">
            <a:avLst/>
          </a:prstGeom>
          <a:solidFill>
            <a:srgbClr val="1269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15184" y="3730752"/>
            <a:ext cx="621792" cy="438912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269D3"/>
                </a:solidFill>
                <a:latin typeface="Noto Sans CJK KR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645152"/>
            <a:ext cx="5029200" cy="493776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269D3"/>
                </a:solidFill>
                <a:latin typeface="Noto Sans CJK KR"/>
              </a:rPr>
              <a:t>이동량 0.2 µm = 1.6 pixel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321808"/>
            <a:ext cx="5029200" cy="22860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D6E80"/>
                </a:solidFill>
                <a:latin typeface="Noto Sans CJK KR"/>
              </a:rPr>
              <a:t>도식: 실제 영상의 크기·모양을 재현한 것은 아닙니다.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2560320"/>
            <a:ext cx="5550408" cy="3182112"/>
          </a:xfrm>
          <a:prstGeom prst="roundRect">
            <a:avLst>
              <a:gd name="adj" fmla="val 10000"/>
            </a:avLst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28232" y="2724912"/>
            <a:ext cx="5084064" cy="384048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1269D3"/>
                </a:solidFill>
                <a:latin typeface="Noto Sans CJK KR"/>
              </a:rPr>
              <a:t>blur(px) = Y속도 × 노출(µs) ÷ 125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7376" y="3246120"/>
            <a:ext cx="4983480" cy="292608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5D6E80"/>
                </a:solidFill>
                <a:latin typeface="Noto Sans CJK KR"/>
              </a:rPr>
              <a:t>X는 노출 중 정지 → X 이동속도는 blur와 분리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28232" y="3739896"/>
            <a:ext cx="5129784" cy="704088"/>
          </a:xfrm>
          <a:prstGeom prst="roundRect">
            <a:avLst>
              <a:gd name="adj" fmla="val 10000"/>
            </a:avLst>
          </a:prstGeom>
          <a:solidFill>
            <a:srgbClr val="DD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0256" y="3877056"/>
            <a:ext cx="4754880" cy="310896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0F805B"/>
                </a:solidFill>
                <a:latin typeface="Noto Sans CJK KR"/>
              </a:rPr>
              <a:t>허용 2px: Y100 + 노출2µs 조건 충족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28232" y="4654296"/>
            <a:ext cx="5129784" cy="7040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0256" y="4791456"/>
            <a:ext cx="4754880" cy="310896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269D3"/>
                </a:solidFill>
                <a:latin typeface="Noto Sans CJK KR"/>
              </a:rPr>
              <a:t>허용 1px: 노출2µs에서 Y ≤62.5 mm/s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989320"/>
            <a:ext cx="11247120" cy="246888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D6E80"/>
                </a:solidFill>
                <a:latin typeface="Noto Sans CJK KR"/>
              </a:rPr>
              <a:t>픽셀 환산은 측정 정확도가 아닙니다. 렌즈 분해능 약1µm · 실제 밝기·SNR·검출 품질 확인이 필요합니다.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005840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37160"/>
            <a:ext cx="11384280" cy="466344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Noto Sans CJK KR"/>
              </a:rPr>
              <a:t>같은 셀을 반복하지 않고, 헤드당 1점씩 확인합니다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658368"/>
            <a:ext cx="10972800" cy="210312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CFE2F4"/>
                </a:solidFill>
                <a:latin typeface="Noto Sans CJK KR"/>
              </a:rPr>
              <a:t>고정 test0929 · 9열×5행=45 Cell · 8개 대표점의 Cell 번호 모두 다름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6473952"/>
            <a:ext cx="10789920" cy="22860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D6E80"/>
                </a:solidFill>
                <a:latin typeface="Noto Sans CJK KR"/>
              </a:rPr>
              <a:t>A3 Laser Driller · 2026-10-06 · 명목 설계 계산 / 실제 장비·영상 검증 필요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65408" y="6419088"/>
            <a:ext cx="475488" cy="27432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D6E80"/>
                </a:solidFill>
                <a:latin typeface="Noto Sans CJK KR"/>
              </a:rPr>
              <a:t>2/3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207008"/>
            <a:ext cx="6126480" cy="4983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1344168"/>
            <a:ext cx="5760720" cy="27432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0243A"/>
                </a:solidFill>
                <a:latin typeface="Noto Sans CJK KR"/>
              </a:rPr>
              <a:t>실제 가공점에서 고른 서로 다른 Cell 8개</a:t>
            </a:r>
          </a:p>
        </p:txBody>
      </p:sp>
      <p:sp>
        <p:nvSpPr>
          <p:cNvPr id="9" name="Rectangle 8"/>
          <p:cNvSpPr/>
          <p:nvPr/>
        </p:nvSpPr>
        <p:spPr>
          <a:xfrm>
            <a:off x="796022" y="2013535"/>
            <a:ext cx="461213" cy="195806"/>
          </a:xfrm>
          <a:prstGeom prst="rect">
            <a:avLst/>
          </a:prstGeom>
          <a:solidFill>
            <a:srgbClr val="D7EAFF"/>
          </a:solidFill>
          <a:ln w="12700">
            <a:solidFill>
              <a:srgbClr val="126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594" y="2022679"/>
            <a:ext cx="457200" cy="146304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1269D3"/>
                </a:solidFill>
                <a:latin typeface="Noto Sans CJK KR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89146" y="2013535"/>
            <a:ext cx="461213" cy="195806"/>
          </a:xfrm>
          <a:prstGeom prst="rect">
            <a:avLst/>
          </a:prstGeom>
          <a:solidFill>
            <a:srgbClr val="F3F6FA"/>
          </a:solidFill>
          <a:ln w="12700">
            <a:solidFill>
              <a:srgbClr val="D4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3718" y="2022679"/>
            <a:ext cx="457200" cy="146304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D6E80"/>
                </a:solidFill>
                <a:latin typeface="Noto Sans CJK KR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82270" y="2013535"/>
            <a:ext cx="461213" cy="195806"/>
          </a:xfrm>
          <a:prstGeom prst="rect">
            <a:avLst/>
          </a:prstGeom>
          <a:solidFill>
            <a:srgbClr val="F3F6FA"/>
          </a:solidFill>
          <a:ln w="12700">
            <a:solidFill>
              <a:srgbClr val="D4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86842" y="2022679"/>
            <a:ext cx="457200" cy="146304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D6E80"/>
                </a:solidFill>
                <a:latin typeface="Noto Sans CJK KR"/>
              </a:rP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75395" y="2013535"/>
            <a:ext cx="461213" cy="195806"/>
          </a:xfrm>
          <a:prstGeom prst="rect">
            <a:avLst/>
          </a:prstGeom>
          <a:solidFill>
            <a:srgbClr val="F3F6FA"/>
          </a:solidFill>
          <a:ln w="12700">
            <a:solidFill>
              <a:srgbClr val="D4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79967" y="2022679"/>
            <a:ext cx="457200" cy="146304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D6E80"/>
                </a:solidFill>
                <a:latin typeface="Noto Sans CJK KR"/>
              </a:rP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68519" y="2013535"/>
            <a:ext cx="461213" cy="195806"/>
          </a:xfrm>
          <a:prstGeom prst="rect">
            <a:avLst/>
          </a:prstGeom>
          <a:solidFill>
            <a:srgbClr val="D7EAFF"/>
          </a:solidFill>
          <a:ln w="12700">
            <a:solidFill>
              <a:srgbClr val="126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73091" y="2022679"/>
            <a:ext cx="457200" cy="146304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1269D3"/>
                </a:solidFill>
                <a:latin typeface="Noto Sans CJK KR"/>
              </a:rPr>
              <a:t>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61643" y="2013535"/>
            <a:ext cx="461213" cy="195806"/>
          </a:xfrm>
          <a:prstGeom prst="rect">
            <a:avLst/>
          </a:prstGeom>
          <a:solidFill>
            <a:srgbClr val="F3F6FA"/>
          </a:solidFill>
          <a:ln w="12700">
            <a:solidFill>
              <a:srgbClr val="D4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66215" y="2022679"/>
            <a:ext cx="457200" cy="146304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D6E80"/>
                </a:solidFill>
                <a:latin typeface="Noto Sans CJK KR"/>
              </a:rPr>
              <a:t>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54768" y="2013535"/>
            <a:ext cx="461213" cy="195806"/>
          </a:xfrm>
          <a:prstGeom prst="rect">
            <a:avLst/>
          </a:prstGeom>
          <a:solidFill>
            <a:srgbClr val="F3F6FA"/>
          </a:solidFill>
          <a:ln w="12700">
            <a:solidFill>
              <a:srgbClr val="D4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59340" y="2022679"/>
            <a:ext cx="457200" cy="146304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D6E80"/>
                </a:solidFill>
                <a:latin typeface="Noto Sans CJK KR"/>
              </a:rPr>
              <a:t>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47892" y="2013535"/>
            <a:ext cx="461213" cy="195806"/>
          </a:xfrm>
          <a:prstGeom prst="rect">
            <a:avLst/>
          </a:prstGeom>
          <a:solidFill>
            <a:srgbClr val="F3F6FA"/>
          </a:solidFill>
          <a:ln w="12700">
            <a:solidFill>
              <a:srgbClr val="D4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52464" y="2022679"/>
            <a:ext cx="457200" cy="146304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D6E80"/>
                </a:solidFill>
                <a:latin typeface="Noto Sans CJK KR"/>
              </a:rPr>
              <a:t>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41016" y="2013535"/>
            <a:ext cx="461213" cy="195806"/>
          </a:xfrm>
          <a:prstGeom prst="rect">
            <a:avLst/>
          </a:prstGeom>
          <a:solidFill>
            <a:srgbClr val="F3F6FA"/>
          </a:solidFill>
          <a:ln w="12700">
            <a:solidFill>
              <a:srgbClr val="D4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45588" y="2022679"/>
            <a:ext cx="457200" cy="146304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D6E80"/>
                </a:solidFill>
                <a:latin typeface="Noto Sans CJK KR"/>
              </a:rPr>
              <a:t>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6022" y="2863389"/>
            <a:ext cx="461213" cy="195806"/>
          </a:xfrm>
          <a:prstGeom prst="rect">
            <a:avLst/>
          </a:prstGeom>
          <a:solidFill>
            <a:srgbClr val="F3F6FA"/>
          </a:solidFill>
          <a:ln w="12700">
            <a:solidFill>
              <a:srgbClr val="D4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0594" y="2872533"/>
            <a:ext cx="457200" cy="146304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D6E80"/>
                </a:solidFill>
                <a:latin typeface="Noto Sans CJK KR"/>
              </a:rPr>
              <a:t>10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89146" y="2863389"/>
            <a:ext cx="461213" cy="195806"/>
          </a:xfrm>
          <a:prstGeom prst="rect">
            <a:avLst/>
          </a:prstGeom>
          <a:solidFill>
            <a:srgbClr val="D7EAFF"/>
          </a:solidFill>
          <a:ln w="12700">
            <a:solidFill>
              <a:srgbClr val="126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3718" y="2872533"/>
            <a:ext cx="457200" cy="146304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1269D3"/>
                </a:solidFill>
                <a:latin typeface="Noto Sans CJK KR"/>
              </a:rPr>
              <a:t>11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982270" y="2863389"/>
            <a:ext cx="461213" cy="195806"/>
          </a:xfrm>
          <a:prstGeom prst="rect">
            <a:avLst/>
          </a:prstGeom>
          <a:solidFill>
            <a:srgbClr val="F3F6FA"/>
          </a:solidFill>
          <a:ln w="12700">
            <a:solidFill>
              <a:srgbClr val="D4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986842" y="2872533"/>
            <a:ext cx="457200" cy="146304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D6E80"/>
                </a:solidFill>
                <a:latin typeface="Noto Sans CJK KR"/>
              </a:rPr>
              <a:t>12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75395" y="2863389"/>
            <a:ext cx="461213" cy="195806"/>
          </a:xfrm>
          <a:prstGeom prst="rect">
            <a:avLst/>
          </a:prstGeom>
          <a:solidFill>
            <a:srgbClr val="F3F6FA"/>
          </a:solidFill>
          <a:ln w="12700">
            <a:solidFill>
              <a:srgbClr val="D4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79967" y="2872533"/>
            <a:ext cx="457200" cy="146304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D6E80"/>
                </a:solidFill>
                <a:latin typeface="Noto Sans CJK KR"/>
              </a:rPr>
              <a:t>13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68519" y="2863389"/>
            <a:ext cx="461213" cy="195806"/>
          </a:xfrm>
          <a:prstGeom prst="rect">
            <a:avLst/>
          </a:prstGeom>
          <a:solidFill>
            <a:srgbClr val="F3F6FA"/>
          </a:solidFill>
          <a:ln w="12700">
            <a:solidFill>
              <a:srgbClr val="D4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73091" y="2872533"/>
            <a:ext cx="457200" cy="146304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D6E80"/>
                </a:solidFill>
                <a:latin typeface="Noto Sans CJK KR"/>
              </a:rPr>
              <a:t>14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61643" y="2863389"/>
            <a:ext cx="461213" cy="195806"/>
          </a:xfrm>
          <a:prstGeom prst="rect">
            <a:avLst/>
          </a:prstGeom>
          <a:solidFill>
            <a:srgbClr val="D7EAFF"/>
          </a:solidFill>
          <a:ln w="12700">
            <a:solidFill>
              <a:srgbClr val="126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66215" y="2872533"/>
            <a:ext cx="457200" cy="146304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1269D3"/>
                </a:solidFill>
                <a:latin typeface="Noto Sans CJK KR"/>
              </a:rPr>
              <a:t>15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54768" y="2863389"/>
            <a:ext cx="461213" cy="195806"/>
          </a:xfrm>
          <a:prstGeom prst="rect">
            <a:avLst/>
          </a:prstGeom>
          <a:solidFill>
            <a:srgbClr val="F3F6FA"/>
          </a:solidFill>
          <a:ln w="12700">
            <a:solidFill>
              <a:srgbClr val="D4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59340" y="2872533"/>
            <a:ext cx="457200" cy="146304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D6E80"/>
                </a:solidFill>
                <a:latin typeface="Noto Sans CJK KR"/>
              </a:rPr>
              <a:t>16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47892" y="2863389"/>
            <a:ext cx="461213" cy="195806"/>
          </a:xfrm>
          <a:prstGeom prst="rect">
            <a:avLst/>
          </a:prstGeom>
          <a:solidFill>
            <a:srgbClr val="F3F6FA"/>
          </a:solidFill>
          <a:ln w="12700">
            <a:solidFill>
              <a:srgbClr val="D4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52464" y="2872533"/>
            <a:ext cx="457200" cy="146304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D6E80"/>
                </a:solidFill>
                <a:latin typeface="Noto Sans CJK KR"/>
              </a:rPr>
              <a:t>17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41016" y="2863389"/>
            <a:ext cx="461213" cy="195806"/>
          </a:xfrm>
          <a:prstGeom prst="rect">
            <a:avLst/>
          </a:prstGeom>
          <a:solidFill>
            <a:srgbClr val="F3F6FA"/>
          </a:solidFill>
          <a:ln w="12700">
            <a:solidFill>
              <a:srgbClr val="D4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45588" y="2872533"/>
            <a:ext cx="457200" cy="146304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D6E80"/>
                </a:solidFill>
                <a:latin typeface="Noto Sans CJK KR"/>
              </a:rPr>
              <a:t>18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96022" y="3713243"/>
            <a:ext cx="461213" cy="195806"/>
          </a:xfrm>
          <a:prstGeom prst="rect">
            <a:avLst/>
          </a:prstGeom>
          <a:solidFill>
            <a:srgbClr val="F3F6FA"/>
          </a:solidFill>
          <a:ln w="12700">
            <a:solidFill>
              <a:srgbClr val="D4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0594" y="3722387"/>
            <a:ext cx="457200" cy="146304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D6E80"/>
                </a:solidFill>
                <a:latin typeface="Noto Sans CJK KR"/>
              </a:rPr>
              <a:t>19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389146" y="3713243"/>
            <a:ext cx="461213" cy="195806"/>
          </a:xfrm>
          <a:prstGeom prst="rect">
            <a:avLst/>
          </a:prstGeom>
          <a:solidFill>
            <a:srgbClr val="F3F6FA"/>
          </a:solidFill>
          <a:ln w="12700">
            <a:solidFill>
              <a:srgbClr val="D4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393718" y="3722387"/>
            <a:ext cx="457200" cy="146304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D6E80"/>
                </a:solidFill>
                <a:latin typeface="Noto Sans CJK KR"/>
              </a:rPr>
              <a:t>20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982270" y="3713243"/>
            <a:ext cx="461213" cy="195806"/>
          </a:xfrm>
          <a:prstGeom prst="rect">
            <a:avLst/>
          </a:prstGeom>
          <a:solidFill>
            <a:srgbClr val="D7EAFF"/>
          </a:solidFill>
          <a:ln w="12700">
            <a:solidFill>
              <a:srgbClr val="126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986842" y="3722387"/>
            <a:ext cx="457200" cy="146304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1269D3"/>
                </a:solidFill>
                <a:latin typeface="Noto Sans CJK KR"/>
              </a:rPr>
              <a:t>21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575395" y="3713243"/>
            <a:ext cx="461213" cy="195806"/>
          </a:xfrm>
          <a:prstGeom prst="rect">
            <a:avLst/>
          </a:prstGeom>
          <a:solidFill>
            <a:srgbClr val="F3F6FA"/>
          </a:solidFill>
          <a:ln w="12700">
            <a:solidFill>
              <a:srgbClr val="D4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579967" y="3722387"/>
            <a:ext cx="457200" cy="146304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D6E80"/>
                </a:solidFill>
                <a:latin typeface="Noto Sans CJK KR"/>
              </a:rPr>
              <a:t>22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168519" y="3713243"/>
            <a:ext cx="461213" cy="195806"/>
          </a:xfrm>
          <a:prstGeom prst="rect">
            <a:avLst/>
          </a:prstGeom>
          <a:solidFill>
            <a:srgbClr val="F3F6FA"/>
          </a:solidFill>
          <a:ln w="12700">
            <a:solidFill>
              <a:srgbClr val="D4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173091" y="3722387"/>
            <a:ext cx="457200" cy="146304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D6E80"/>
                </a:solidFill>
                <a:latin typeface="Noto Sans CJK KR"/>
              </a:rPr>
              <a:t>23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761643" y="3713243"/>
            <a:ext cx="461213" cy="195806"/>
          </a:xfrm>
          <a:prstGeom prst="rect">
            <a:avLst/>
          </a:prstGeom>
          <a:solidFill>
            <a:srgbClr val="F3F6FA"/>
          </a:solidFill>
          <a:ln w="12700">
            <a:solidFill>
              <a:srgbClr val="D4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766215" y="3722387"/>
            <a:ext cx="457200" cy="146304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D6E80"/>
                </a:solidFill>
                <a:latin typeface="Noto Sans CJK KR"/>
              </a:rPr>
              <a:t>24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354768" y="3713243"/>
            <a:ext cx="461213" cy="195806"/>
          </a:xfrm>
          <a:prstGeom prst="rect">
            <a:avLst/>
          </a:prstGeom>
          <a:solidFill>
            <a:srgbClr val="D7EAFF"/>
          </a:solidFill>
          <a:ln w="12700">
            <a:solidFill>
              <a:srgbClr val="126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359340" y="3722387"/>
            <a:ext cx="457200" cy="146304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1269D3"/>
                </a:solidFill>
                <a:latin typeface="Noto Sans CJK KR"/>
              </a:rPr>
              <a:t>25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947892" y="3713243"/>
            <a:ext cx="461213" cy="195806"/>
          </a:xfrm>
          <a:prstGeom prst="rect">
            <a:avLst/>
          </a:prstGeom>
          <a:solidFill>
            <a:srgbClr val="F3F6FA"/>
          </a:solidFill>
          <a:ln w="12700">
            <a:solidFill>
              <a:srgbClr val="D4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952464" y="3722387"/>
            <a:ext cx="457200" cy="146304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D6E80"/>
                </a:solidFill>
                <a:latin typeface="Noto Sans CJK KR"/>
              </a:rPr>
              <a:t>26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541016" y="3713243"/>
            <a:ext cx="461213" cy="195806"/>
          </a:xfrm>
          <a:prstGeom prst="rect">
            <a:avLst/>
          </a:prstGeom>
          <a:solidFill>
            <a:srgbClr val="F3F6FA"/>
          </a:solidFill>
          <a:ln w="12700">
            <a:solidFill>
              <a:srgbClr val="D4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545588" y="3722387"/>
            <a:ext cx="457200" cy="146304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D6E80"/>
                </a:solidFill>
                <a:latin typeface="Noto Sans CJK KR"/>
              </a:rPr>
              <a:t>27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96022" y="4563098"/>
            <a:ext cx="461213" cy="195806"/>
          </a:xfrm>
          <a:prstGeom prst="rect">
            <a:avLst/>
          </a:prstGeom>
          <a:solidFill>
            <a:srgbClr val="F3F6FA"/>
          </a:solidFill>
          <a:ln w="12700">
            <a:solidFill>
              <a:srgbClr val="D4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00594" y="4572242"/>
            <a:ext cx="457200" cy="146304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D6E80"/>
                </a:solidFill>
                <a:latin typeface="Noto Sans CJK KR"/>
              </a:rPr>
              <a:t>28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389146" y="4563098"/>
            <a:ext cx="461213" cy="195806"/>
          </a:xfrm>
          <a:prstGeom prst="rect">
            <a:avLst/>
          </a:prstGeom>
          <a:solidFill>
            <a:srgbClr val="F3F6FA"/>
          </a:solidFill>
          <a:ln w="12700">
            <a:solidFill>
              <a:srgbClr val="D4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393718" y="4572242"/>
            <a:ext cx="457200" cy="146304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D6E80"/>
                </a:solidFill>
                <a:latin typeface="Noto Sans CJK KR"/>
              </a:rPr>
              <a:t>29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982270" y="4563098"/>
            <a:ext cx="461213" cy="195806"/>
          </a:xfrm>
          <a:prstGeom prst="rect">
            <a:avLst/>
          </a:prstGeom>
          <a:solidFill>
            <a:srgbClr val="F3F6FA"/>
          </a:solidFill>
          <a:ln w="12700">
            <a:solidFill>
              <a:srgbClr val="D4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986842" y="4572242"/>
            <a:ext cx="457200" cy="146304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D6E80"/>
                </a:solidFill>
                <a:latin typeface="Noto Sans CJK KR"/>
              </a:rPr>
              <a:t>30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575395" y="4563098"/>
            <a:ext cx="461213" cy="195806"/>
          </a:xfrm>
          <a:prstGeom prst="rect">
            <a:avLst/>
          </a:prstGeom>
          <a:solidFill>
            <a:srgbClr val="F3F6FA"/>
          </a:solidFill>
          <a:ln w="12700">
            <a:solidFill>
              <a:srgbClr val="D4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579967" y="4572242"/>
            <a:ext cx="457200" cy="146304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D6E80"/>
                </a:solidFill>
                <a:latin typeface="Noto Sans CJK KR"/>
              </a:rPr>
              <a:t>31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168519" y="4563098"/>
            <a:ext cx="461213" cy="195806"/>
          </a:xfrm>
          <a:prstGeom prst="rect">
            <a:avLst/>
          </a:prstGeom>
          <a:solidFill>
            <a:srgbClr val="D7EAFF"/>
          </a:solidFill>
          <a:ln w="12700">
            <a:solidFill>
              <a:srgbClr val="126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173091" y="4572242"/>
            <a:ext cx="457200" cy="146304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1269D3"/>
                </a:solidFill>
                <a:latin typeface="Noto Sans CJK KR"/>
              </a:rPr>
              <a:t>32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761643" y="4563098"/>
            <a:ext cx="461213" cy="195806"/>
          </a:xfrm>
          <a:prstGeom prst="rect">
            <a:avLst/>
          </a:prstGeom>
          <a:solidFill>
            <a:srgbClr val="F3F6FA"/>
          </a:solidFill>
          <a:ln w="12700">
            <a:solidFill>
              <a:srgbClr val="D4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766215" y="4572242"/>
            <a:ext cx="457200" cy="146304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D6E80"/>
                </a:solidFill>
                <a:latin typeface="Noto Sans CJK KR"/>
              </a:rPr>
              <a:t>33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354768" y="4563098"/>
            <a:ext cx="461213" cy="195806"/>
          </a:xfrm>
          <a:prstGeom prst="rect">
            <a:avLst/>
          </a:prstGeom>
          <a:solidFill>
            <a:srgbClr val="F3F6FA"/>
          </a:solidFill>
          <a:ln w="12700">
            <a:solidFill>
              <a:srgbClr val="D4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359340" y="4572242"/>
            <a:ext cx="457200" cy="146304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D6E80"/>
                </a:solidFill>
                <a:latin typeface="Noto Sans CJK KR"/>
              </a:rPr>
              <a:t>34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947892" y="4563098"/>
            <a:ext cx="461213" cy="195806"/>
          </a:xfrm>
          <a:prstGeom prst="rect">
            <a:avLst/>
          </a:prstGeom>
          <a:solidFill>
            <a:srgbClr val="F3F6FA"/>
          </a:solidFill>
          <a:ln w="12700">
            <a:solidFill>
              <a:srgbClr val="D4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952464" y="4572242"/>
            <a:ext cx="457200" cy="146304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D6E80"/>
                </a:solidFill>
                <a:latin typeface="Noto Sans CJK KR"/>
              </a:rPr>
              <a:t>35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541016" y="4563098"/>
            <a:ext cx="461213" cy="195806"/>
          </a:xfrm>
          <a:prstGeom prst="rect">
            <a:avLst/>
          </a:prstGeom>
          <a:solidFill>
            <a:srgbClr val="D7EAFF"/>
          </a:solidFill>
          <a:ln w="12700">
            <a:solidFill>
              <a:srgbClr val="126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545588" y="4572242"/>
            <a:ext cx="457200" cy="146304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1269D3"/>
                </a:solidFill>
                <a:latin typeface="Noto Sans CJK KR"/>
              </a:rPr>
              <a:t>36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96022" y="5412952"/>
            <a:ext cx="461213" cy="195806"/>
          </a:xfrm>
          <a:prstGeom prst="rect">
            <a:avLst/>
          </a:prstGeom>
          <a:solidFill>
            <a:srgbClr val="F3F6FA"/>
          </a:solidFill>
          <a:ln w="12700">
            <a:solidFill>
              <a:srgbClr val="D4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00594" y="5422096"/>
            <a:ext cx="457200" cy="146304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D6E80"/>
                </a:solidFill>
                <a:latin typeface="Noto Sans CJK KR"/>
              </a:rPr>
              <a:t>37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389146" y="5412952"/>
            <a:ext cx="461213" cy="195806"/>
          </a:xfrm>
          <a:prstGeom prst="rect">
            <a:avLst/>
          </a:prstGeom>
          <a:solidFill>
            <a:srgbClr val="F3F6FA"/>
          </a:solidFill>
          <a:ln w="12700">
            <a:solidFill>
              <a:srgbClr val="D4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393718" y="5422096"/>
            <a:ext cx="457200" cy="146304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D6E80"/>
                </a:solidFill>
                <a:latin typeface="Noto Sans CJK KR"/>
              </a:rPr>
              <a:t>38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982270" y="5412952"/>
            <a:ext cx="461213" cy="195806"/>
          </a:xfrm>
          <a:prstGeom prst="rect">
            <a:avLst/>
          </a:prstGeom>
          <a:solidFill>
            <a:srgbClr val="F3F6FA"/>
          </a:solidFill>
          <a:ln w="12700">
            <a:solidFill>
              <a:srgbClr val="D4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986842" y="5422096"/>
            <a:ext cx="457200" cy="146304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D6E80"/>
                </a:solidFill>
                <a:latin typeface="Noto Sans CJK KR"/>
              </a:rPr>
              <a:t>39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575395" y="5412952"/>
            <a:ext cx="461213" cy="195806"/>
          </a:xfrm>
          <a:prstGeom prst="rect">
            <a:avLst/>
          </a:prstGeom>
          <a:solidFill>
            <a:srgbClr val="F3F6FA"/>
          </a:solidFill>
          <a:ln w="12700">
            <a:solidFill>
              <a:srgbClr val="D4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579967" y="5422096"/>
            <a:ext cx="457200" cy="146304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D6E80"/>
                </a:solidFill>
                <a:latin typeface="Noto Sans CJK KR"/>
              </a:rPr>
              <a:t>40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168519" y="5412952"/>
            <a:ext cx="461213" cy="195806"/>
          </a:xfrm>
          <a:prstGeom prst="rect">
            <a:avLst/>
          </a:prstGeom>
          <a:solidFill>
            <a:srgbClr val="F3F6FA"/>
          </a:solidFill>
          <a:ln w="12700">
            <a:solidFill>
              <a:srgbClr val="D4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173091" y="5422096"/>
            <a:ext cx="457200" cy="146304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D6E80"/>
                </a:solidFill>
                <a:latin typeface="Noto Sans CJK KR"/>
              </a:rPr>
              <a:t>41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761643" y="5412952"/>
            <a:ext cx="461213" cy="195806"/>
          </a:xfrm>
          <a:prstGeom prst="rect">
            <a:avLst/>
          </a:prstGeom>
          <a:solidFill>
            <a:srgbClr val="F3F6FA"/>
          </a:solidFill>
          <a:ln w="12700">
            <a:solidFill>
              <a:srgbClr val="D4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766215" y="5422096"/>
            <a:ext cx="457200" cy="146304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D6E80"/>
                </a:solidFill>
                <a:latin typeface="Noto Sans CJK KR"/>
              </a:rPr>
              <a:t>42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354768" y="5412952"/>
            <a:ext cx="461213" cy="195806"/>
          </a:xfrm>
          <a:prstGeom prst="rect">
            <a:avLst/>
          </a:prstGeom>
          <a:solidFill>
            <a:srgbClr val="F3F6FA"/>
          </a:solidFill>
          <a:ln w="12700">
            <a:solidFill>
              <a:srgbClr val="D4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359340" y="5422096"/>
            <a:ext cx="457200" cy="146304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D6E80"/>
                </a:solidFill>
                <a:latin typeface="Noto Sans CJK KR"/>
              </a:rPr>
              <a:t>43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947892" y="5412952"/>
            <a:ext cx="461213" cy="195806"/>
          </a:xfrm>
          <a:prstGeom prst="rect">
            <a:avLst/>
          </a:prstGeom>
          <a:solidFill>
            <a:srgbClr val="F3F6FA"/>
          </a:solidFill>
          <a:ln w="12700">
            <a:solidFill>
              <a:srgbClr val="D4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952464" y="5422096"/>
            <a:ext cx="457200" cy="146304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D6E80"/>
                </a:solidFill>
                <a:latin typeface="Noto Sans CJK KR"/>
              </a:rPr>
              <a:t>44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541016" y="5412952"/>
            <a:ext cx="461213" cy="195806"/>
          </a:xfrm>
          <a:prstGeom prst="rect">
            <a:avLst/>
          </a:prstGeom>
          <a:solidFill>
            <a:srgbClr val="F3F6FA"/>
          </a:solidFill>
          <a:ln w="12700">
            <a:solidFill>
              <a:srgbClr val="D4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545588" y="5422096"/>
            <a:ext cx="457200" cy="146304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D6E80"/>
                </a:solidFill>
                <a:latin typeface="Noto Sans CJK KR"/>
              </a:rPr>
              <a:t>45</a:t>
            </a:r>
          </a:p>
        </p:txBody>
      </p:sp>
      <p:sp>
        <p:nvSpPr>
          <p:cNvPr id="99" name="Oval 98"/>
          <p:cNvSpPr/>
          <p:nvPr/>
        </p:nvSpPr>
        <p:spPr>
          <a:xfrm>
            <a:off x="792611" y="1979827"/>
            <a:ext cx="64008" cy="64008"/>
          </a:xfrm>
          <a:prstGeom prst="ellipse">
            <a:avLst/>
          </a:prstGeom>
          <a:solidFill>
            <a:srgbClr val="1269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28603" y="1769515"/>
            <a:ext cx="640080" cy="201168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269D3"/>
                </a:solidFill>
                <a:latin typeface="Noto Sans CJK KR"/>
              </a:rPr>
              <a:t>H01</a:t>
            </a:r>
          </a:p>
        </p:txBody>
      </p:sp>
      <p:sp>
        <p:nvSpPr>
          <p:cNvPr id="101" name="Oval 100"/>
          <p:cNvSpPr/>
          <p:nvPr/>
        </p:nvSpPr>
        <p:spPr>
          <a:xfrm>
            <a:off x="1385736" y="2829682"/>
            <a:ext cx="64008" cy="64008"/>
          </a:xfrm>
          <a:prstGeom prst="ellipse">
            <a:avLst/>
          </a:prstGeom>
          <a:solidFill>
            <a:srgbClr val="1269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321728" y="2619370"/>
            <a:ext cx="640080" cy="201168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269D3"/>
                </a:solidFill>
                <a:latin typeface="Noto Sans CJK KR"/>
              </a:rPr>
              <a:t>H02</a:t>
            </a:r>
          </a:p>
        </p:txBody>
      </p:sp>
      <p:sp>
        <p:nvSpPr>
          <p:cNvPr id="103" name="Oval 102"/>
          <p:cNvSpPr/>
          <p:nvPr/>
        </p:nvSpPr>
        <p:spPr>
          <a:xfrm>
            <a:off x="1978860" y="3679536"/>
            <a:ext cx="64008" cy="64008"/>
          </a:xfrm>
          <a:prstGeom prst="ellipse">
            <a:avLst/>
          </a:prstGeom>
          <a:solidFill>
            <a:srgbClr val="1269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914852" y="3469224"/>
            <a:ext cx="640080" cy="201168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269D3"/>
                </a:solidFill>
                <a:latin typeface="Noto Sans CJK KR"/>
              </a:rPr>
              <a:t>H03</a:t>
            </a:r>
          </a:p>
        </p:txBody>
      </p:sp>
      <p:sp>
        <p:nvSpPr>
          <p:cNvPr id="105" name="Oval 104"/>
          <p:cNvSpPr/>
          <p:nvPr/>
        </p:nvSpPr>
        <p:spPr>
          <a:xfrm>
            <a:off x="3165109" y="4529390"/>
            <a:ext cx="64008" cy="64008"/>
          </a:xfrm>
          <a:prstGeom prst="ellipse">
            <a:avLst/>
          </a:prstGeom>
          <a:solidFill>
            <a:srgbClr val="1269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101101" y="4319078"/>
            <a:ext cx="640080" cy="201168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269D3"/>
                </a:solidFill>
                <a:latin typeface="Noto Sans CJK KR"/>
              </a:rPr>
              <a:t>H04</a:t>
            </a:r>
          </a:p>
        </p:txBody>
      </p:sp>
      <p:sp>
        <p:nvSpPr>
          <p:cNvPr id="107" name="Oval 106"/>
          <p:cNvSpPr/>
          <p:nvPr/>
        </p:nvSpPr>
        <p:spPr>
          <a:xfrm>
            <a:off x="3229166" y="1979827"/>
            <a:ext cx="64008" cy="64008"/>
          </a:xfrm>
          <a:prstGeom prst="ellipse">
            <a:avLst/>
          </a:prstGeom>
          <a:solidFill>
            <a:srgbClr val="1269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3165158" y="1769515"/>
            <a:ext cx="640080" cy="201168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269D3"/>
                </a:solidFill>
                <a:latin typeface="Noto Sans CJK KR"/>
              </a:rPr>
              <a:t>H05</a:t>
            </a:r>
          </a:p>
        </p:txBody>
      </p:sp>
      <p:sp>
        <p:nvSpPr>
          <p:cNvPr id="109" name="Oval 108"/>
          <p:cNvSpPr/>
          <p:nvPr/>
        </p:nvSpPr>
        <p:spPr>
          <a:xfrm>
            <a:off x="3886348" y="2829682"/>
            <a:ext cx="64008" cy="64008"/>
          </a:xfrm>
          <a:prstGeom prst="ellipse">
            <a:avLst/>
          </a:prstGeom>
          <a:solidFill>
            <a:srgbClr val="1269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822340" y="2619370"/>
            <a:ext cx="640080" cy="201168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269D3"/>
                </a:solidFill>
                <a:latin typeface="Noto Sans CJK KR"/>
              </a:rPr>
              <a:t>H06</a:t>
            </a:r>
          </a:p>
        </p:txBody>
      </p:sp>
      <p:sp>
        <p:nvSpPr>
          <p:cNvPr id="111" name="Oval 110"/>
          <p:cNvSpPr/>
          <p:nvPr/>
        </p:nvSpPr>
        <p:spPr>
          <a:xfrm>
            <a:off x="4543530" y="3679536"/>
            <a:ext cx="64008" cy="64008"/>
          </a:xfrm>
          <a:prstGeom prst="ellipse">
            <a:avLst/>
          </a:prstGeom>
          <a:solidFill>
            <a:srgbClr val="1269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479522" y="3469224"/>
            <a:ext cx="640080" cy="201168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269D3"/>
                </a:solidFill>
                <a:latin typeface="Noto Sans CJK KR"/>
              </a:rPr>
              <a:t>H07</a:t>
            </a:r>
          </a:p>
        </p:txBody>
      </p:sp>
      <p:sp>
        <p:nvSpPr>
          <p:cNvPr id="113" name="Oval 112"/>
          <p:cNvSpPr/>
          <p:nvPr/>
        </p:nvSpPr>
        <p:spPr>
          <a:xfrm>
            <a:off x="5537606" y="4529390"/>
            <a:ext cx="64008" cy="64008"/>
          </a:xfrm>
          <a:prstGeom prst="ellipse">
            <a:avLst/>
          </a:prstGeom>
          <a:solidFill>
            <a:srgbClr val="1269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5473598" y="4319078"/>
            <a:ext cx="640080" cy="201168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269D3"/>
                </a:solidFill>
                <a:latin typeface="Noto Sans CJK KR"/>
              </a:rPr>
              <a:t>H08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76656" y="5824728"/>
            <a:ext cx="5522976" cy="201168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D6E80"/>
                </a:solidFill>
                <a:latin typeface="Noto Sans CJK KR"/>
              </a:rPr>
              <a:t>배치 확대도 · Cell 가로77.76 / 세로46.08 mm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6784848" y="1207008"/>
            <a:ext cx="4983480" cy="1956816"/>
          </a:xfrm>
          <a:prstGeom prst="roundRect">
            <a:avLst>
              <a:gd name="adj" fmla="val 10000"/>
            </a:avLst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986016" y="1362456"/>
            <a:ext cx="4526280" cy="292608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269D3"/>
                </a:solidFill>
                <a:latin typeface="Noto Sans CJK KR"/>
              </a:rPr>
              <a:t>2개 스캐너 / 기판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986016" y="1783080"/>
            <a:ext cx="4526280" cy="438912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0243A"/>
                </a:solidFill>
                <a:latin typeface="Noto Sans CJK KR"/>
              </a:rPr>
              <a:t>4기판 · 10분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986016" y="2377440"/>
            <a:ext cx="4526280" cy="54864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0243A"/>
                </a:solidFill>
                <a:latin typeface="Noto Sans CJK KR"/>
              </a:rPr>
              <a:t>1매 H01→H02 / 2매 H03→H04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0243A"/>
                </a:solidFill>
                <a:latin typeface="Noto Sans CJK KR"/>
              </a:rPr>
              <a:t>3매 H05→H06 / 4매 H07→H08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6784848" y="3374136"/>
            <a:ext cx="4983480" cy="1956816"/>
          </a:xfrm>
          <a:prstGeom prst="roundRect">
            <a:avLst>
              <a:gd name="adj" fmla="val 10000"/>
            </a:avLst>
          </a:prstGeom>
          <a:solidFill>
            <a:srgbClr val="DE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986016" y="3529584"/>
            <a:ext cx="4526280" cy="292608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269D3"/>
                </a:solidFill>
                <a:latin typeface="Noto Sans CJK KR"/>
              </a:rPr>
              <a:t>4개 스캐너 / 기판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986016" y="3950208"/>
            <a:ext cx="4526280" cy="438912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0243A"/>
                </a:solidFill>
                <a:latin typeface="Noto Sans CJK KR"/>
              </a:rPr>
              <a:t>2기판 · 5분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986016" y="4544568"/>
            <a:ext cx="4526280" cy="54864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0243A"/>
                </a:solidFill>
                <a:latin typeface="Noto Sans CJK KR"/>
              </a:rPr>
              <a:t>1매 H01→H02→H03→H04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0243A"/>
                </a:solidFill>
                <a:latin typeface="Noto Sans CJK KR"/>
              </a:rPr>
              <a:t>2매 H05→H06→H07→H08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949440" y="5660136"/>
            <a:ext cx="4572000" cy="484632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D6E80"/>
                </a:solidFill>
                <a:latin typeface="Noto Sans CJK KR"/>
              </a:rPr>
              <a:t>150초/기판 계획 · 기본 조건에서 두 방식 가능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D6E80"/>
                </a:solidFill>
                <a:latin typeface="Noto Sans CJK KR"/>
              </a:rPr>
              <a:t>대상: 고정 대표점 8개 / 전수 검사는 별도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005840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37160"/>
            <a:ext cx="11384280" cy="466344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Noto Sans CJK KR"/>
              </a:rPr>
              <a:t>X는 먼저 도착하고, Y가 목표 위치를 지나갈 때 촬영합니다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658368"/>
            <a:ext cx="10972800" cy="210312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CFE2F4"/>
                </a:solidFill>
                <a:latin typeface="Noto Sans CJK KR"/>
              </a:rPr>
              <a:t>입력 8개: 노출·허용blur / X·Y속도 / X·Y가속도·감속도 · 2개/4개 측정 선택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6473952"/>
            <a:ext cx="10789920" cy="22860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D6E80"/>
                </a:solidFill>
                <a:latin typeface="Noto Sans CJK KR"/>
              </a:rPr>
              <a:t>A3 Laser Driller · 2026-10-06 · 명목 설계 계산 / 실제 장비·영상 검증 필요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65408" y="6419088"/>
            <a:ext cx="475488" cy="27432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D6E80"/>
                </a:solidFill>
                <a:latin typeface="Noto Sans CJK KR"/>
              </a:rPr>
              <a:t>3/3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261872"/>
            <a:ext cx="2633472" cy="987552"/>
          </a:xfrm>
          <a:prstGeom prst="roundRect">
            <a:avLst>
              <a:gd name="adj" fmla="val 10000"/>
            </a:avLst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380744"/>
            <a:ext cx="2386584" cy="32004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269D3"/>
                </a:solidFill>
                <a:latin typeface="Noto Sans CJK KR"/>
              </a:rPr>
              <a:t>1  다른 Cell 선택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792224"/>
            <a:ext cx="2386584" cy="246888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0243A"/>
                </a:solidFill>
                <a:latin typeface="Noto Sans CJK KR"/>
              </a:rPr>
              <a:t>헤드당 유효 가공점 1개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64408" y="1261872"/>
            <a:ext cx="2633472" cy="987552"/>
          </a:xfrm>
          <a:prstGeom prst="roundRect">
            <a:avLst>
              <a:gd name="adj" fmla="val 10000"/>
            </a:avLst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380744"/>
            <a:ext cx="2386584" cy="32004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269D3"/>
                </a:solidFill>
                <a:latin typeface="Noto Sans CJK KR"/>
              </a:rPr>
              <a:t>2  X 선도착·대기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792224"/>
            <a:ext cx="2386584" cy="246888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0243A"/>
                </a:solidFill>
                <a:latin typeface="Noto Sans CJK KR"/>
              </a:rPr>
              <a:t>이동 → 정착 → 대기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17336" y="1261872"/>
            <a:ext cx="2633472" cy="987552"/>
          </a:xfrm>
          <a:prstGeom prst="roundRect">
            <a:avLst>
              <a:gd name="adj" fmla="val 10000"/>
            </a:avLst>
          </a:prstGeom>
          <a:solidFill>
            <a:srgbClr val="DE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6208" y="1380744"/>
            <a:ext cx="2386584" cy="32004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269D3"/>
                </a:solidFill>
                <a:latin typeface="Noto Sans CJK KR"/>
              </a:rPr>
              <a:t>3  위치 Trigger 촬영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1792224"/>
            <a:ext cx="2386584" cy="246888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0243A"/>
                </a:solidFill>
                <a:latin typeface="Noto Sans CJK KR"/>
              </a:rPr>
              <a:t>Y 등속 · 노출 중심 보정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70263" y="1261872"/>
            <a:ext cx="2633472" cy="987552"/>
          </a:xfrm>
          <a:prstGeom prst="roundRect">
            <a:avLst>
              <a:gd name="adj" fmla="val 10000"/>
            </a:avLst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89136" y="1380744"/>
            <a:ext cx="2386584" cy="32004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269D3"/>
                </a:solidFill>
                <a:latin typeface="Noto Sans CJK KR"/>
              </a:rPr>
              <a:t>4  결과 확인·순환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89136" y="1792224"/>
            <a:ext cx="2386584" cy="246888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0243A"/>
                </a:solidFill>
                <a:latin typeface="Noto Sans CJK KR"/>
              </a:rPr>
              <a:t>Frame 수신 + Vision 결과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2487168"/>
            <a:ext cx="7461504" cy="3017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2651760"/>
            <a:ext cx="7040880" cy="356616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0243A"/>
                </a:solidFill>
                <a:latin typeface="Noto Sans CJK KR"/>
              </a:rPr>
              <a:t>가장 여유가 작은 이동: H03 → H04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3136392"/>
            <a:ext cx="6949440" cy="32004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5D6E80"/>
                </a:solidFill>
                <a:latin typeface="Noto Sans CJK KR"/>
              </a:rPr>
              <a:t>ΔX200 mm · ΔY200 mm · X200 / Y100 mm/s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703320"/>
            <a:ext cx="3917289" cy="347472"/>
          </a:xfrm>
          <a:prstGeom prst="rect">
            <a:avLst/>
          </a:prstGeom>
          <a:solidFill>
            <a:srgbClr val="009F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48809" y="3703320"/>
            <a:ext cx="228710" cy="347472"/>
          </a:xfrm>
          <a:prstGeom prst="rect">
            <a:avLst/>
          </a:prstGeom>
          <a:solidFill>
            <a:srgbClr val="EFB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877520" y="3703320"/>
            <a:ext cx="2382815" cy="347472"/>
          </a:xfrm>
          <a:prstGeom prst="rect">
            <a:avLst/>
          </a:prstGeom>
          <a:solidFill>
            <a:srgbClr val="D7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3730752"/>
            <a:ext cx="2926080" cy="246888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Noto Sans CJK KR"/>
              </a:rPr>
              <a:t>X 이동 1.200초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38344" y="4133087"/>
            <a:ext cx="2221992" cy="256032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805B"/>
                </a:solidFill>
                <a:latin typeface="Noto Sans CJK KR"/>
              </a:rPr>
              <a:t>대기 여유 0.730초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31520" y="4553712"/>
            <a:ext cx="6528816" cy="0"/>
          </a:xfrm>
          <a:prstGeom prst="line">
            <a:avLst/>
          </a:prstGeom>
          <a:ln w="38100">
            <a:solidFill>
              <a:srgbClr val="126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22376" y="4681728"/>
            <a:ext cx="6583680" cy="301752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269D3"/>
                </a:solidFill>
                <a:latin typeface="Noto Sans CJK KR"/>
              </a:rPr>
              <a:t>다음 점 도착 2.000초 ≥ 준비 1.270062초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" y="5175504"/>
            <a:ext cx="6620256" cy="201168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D6E80"/>
                </a:solidFill>
                <a:latin typeface="Noto Sans CJK KR"/>
              </a:rPr>
              <a:t>준비: 이동+정착50ms+Guard20ms+노출·지연·Jitter 여유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19872" y="2487168"/>
            <a:ext cx="3648456" cy="3017520"/>
          </a:xfrm>
          <a:prstGeom prst="roundRect">
            <a:avLst>
              <a:gd name="adj" fmla="val 10000"/>
            </a:avLst>
          </a:prstGeom>
          <a:solidFill>
            <a:srgbClr val="DE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11896" y="2679192"/>
            <a:ext cx="3236976" cy="329184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0F805B"/>
                </a:solidFill>
                <a:latin typeface="Noto Sans CJK KR"/>
              </a:rPr>
              <a:t>기본 조건의 판정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3200400"/>
            <a:ext cx="3191256" cy="941832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10243A"/>
                </a:solidFill>
                <a:latin typeface="Noto Sans CJK KR"/>
              </a:rPr>
              <a:t>Blur 1.6px ≤2px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10243A"/>
                </a:solidFill>
                <a:latin typeface="Noto Sans CJK KR"/>
              </a:rPr>
              <a:t>X 선도착 여유 ≥0.730초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10243A"/>
                </a:solidFill>
                <a:latin typeface="Noto Sans CJK KR"/>
              </a:rPr>
              <a:t>촬영 모두 Y 등속 구간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4489704"/>
            <a:ext cx="3191256" cy="530352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5D6E80"/>
                </a:solidFill>
                <a:latin typeface="Noto Sans CJK KR"/>
              </a:rPr>
              <a:t>가공통과 12.232초 / 30초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5D6E80"/>
                </a:solidFill>
                <a:latin typeface="Noto Sans CJK KR"/>
              </a:rPr>
              <a:t>계산 Tact 100.505초 / 150초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1480" y="5733288"/>
            <a:ext cx="11356848" cy="4937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5824728"/>
            <a:ext cx="10972800" cy="265176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D6E80"/>
                </a:solidFill>
                <a:latin typeface="Noto Sans CJK KR"/>
              </a:rPr>
              <a:t>고정: 정착50ms·Guard20ms·18.5fps·150초/기판. 실제 밝기·Trigger 지연·정착성능은 장비에서 확인합니다.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0선방어 Flying Review 검토자료</dc:title>
  <dc:subject>Basler a2a2600-20gcBAS / Mitutoyo 378-810-3 · 서로 다른 Cell의 2/4 Head Review</dc:subject>
  <dc:creator>A3 Laser Driller</dc:creator>
  <cp:keywords>Flying Vision, Zero Defence, Basler, Motion Blur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