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7ede96be14691" /><Relationship Type="http://schemas.openxmlformats.org/officeDocument/2006/relationships/extended-properties" Target="/docProps/app.xml" Id="R627d15b6e2764ec9" /><Relationship Type="http://schemas.openxmlformats.org/officeDocument/2006/relationships/officeDocument" Target="/ppt/presentation.xml" Id="Rf6be9a0a6d45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9be020390f4b92"/>
  </p:sldMasterIdLst>
  <p:notesMasterIdLst>
    <p:notesMasterId xmlns:r="http://schemas.openxmlformats.org/officeDocument/2006/relationships" r:id="R0c61b8f3d09949f7"/>
  </p:notesMasterIdLst>
  <p:sldIdLst>
    <p:sldId xmlns:r="http://schemas.openxmlformats.org/officeDocument/2006/relationships" id="256" r:id="Ra0fb4a413135451d"/>
    <p:sldId xmlns:r="http://schemas.openxmlformats.org/officeDocument/2006/relationships" id="257" r:id="R367eb6948f66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b603267db34fb4" /><Relationship Type="http://schemas.openxmlformats.org/officeDocument/2006/relationships/slideMaster" Target="/ppt/slideMasters/slideMaster1.xml" Id="R379be020390f4b92" /><Relationship Type="http://schemas.openxmlformats.org/officeDocument/2006/relationships/notesMaster" Target="/ppt/notesMasters/notesMaster1.xml" Id="R0c61b8f3d09949f7" /><Relationship Type="http://schemas.openxmlformats.org/officeDocument/2006/relationships/presProps" Target="/ppt/presProps.xml" Id="Rbf04816b177a4988" /><Relationship Type="http://schemas.openxmlformats.org/officeDocument/2006/relationships/tableStyles" Target="/ppt/tableStyles.xml" Id="Rae406752584b46d9" /><Relationship Type="http://schemas.openxmlformats.org/officeDocument/2006/relationships/slide" Target="/ppt/slides/slide1.xml" Id="Ra0fb4a413135451d" /><Relationship Type="http://schemas.openxmlformats.org/officeDocument/2006/relationships/slide" Target="/ppt/slides/slide2.xml" Id="R367eb6948f66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22345c603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a612527d044b6" /><Relationship Type="http://schemas.openxmlformats.org/officeDocument/2006/relationships/notesMaster" Target="/ppt/notesMasters/notesMaster1.xml" Id="R7bf965016dbb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c5c96ac2da4112" /><Relationship Type="http://schemas.openxmlformats.org/officeDocument/2006/relationships/notesMaster" Target="/ppt/notesMasters/notesMaster1.xml" Id="Rdbc534cb1ccb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계산 근거: 제공 test0929 Recipe, A3_LD_Process_SW_IPS commit 6b19d7aaf0de81271468ab7dac0fa15493172f38, 동봉 v4 Baseline_calculation.json. 이 표는 동일한 기본 자동 제안 8좌표에서 Glass 상한만2/4/8로 변경한 결과다. 8점 계산상 성립을 실기 확정으로 제시하지 않는다. Head당 한 고정 Branch를 리뷰하며 모든 Cell/홀 전수를 뜻하지 않는다. 원본 장비 설정은 H01만 ON/AutoInspection OFF이고 시뮬레이터는8 Head 설계 검토다. 실제 고객사 고정0선 좌표가 제안 좌표와 다르면 재계산해야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계산 근거: 동일 제안 좌표 H06=(541.15,659.375) / H07=(760.05,816.175), Camera Review X 차218.9mm. Y100mm/s 등속 도착간격1.568s. X200mm/s,A=B1000mm/s² 사다리꼴 이동1.2945s. 필요시간1.36457s=X1.2945+정착.05+Guard.02+Trigger지연.00005+노출.00001+Jitter양쪽.00001. 여유.20343s. Camera Frame최소1/23=.043478s이므로 이 구간은X가 지배한다. 자동좌표4점상한의 두번째Glass에H06/H07이 포함된다. 기하 가공12.232s≤30s,Stage이동39.504875s+영상Tail1+기타60=100.504875s≤150s. 도면: 사용자첨부0aa24176785e5bac5c46056a06c940c5.png / 1cd49938d45adc5db126f2f9081fa501.png의 StageStroke3960mm,ReviewStroke1025mm. Limit3980/1033 및StopperGap은정상Stroke에더하지 않는다. 절대좌표원점은등록가정이다. Sony23FPS/최소노출10µs,Sensor3.45µm/20배=Object.1725µm/px. 100×10µs=1µm=5.797px이며 임시1µm 허용값이 검출 품질을 보증하지 않는다. GlobalShutter/위치Trigger 및명목가감속가정. Laser/Scanner 처리량과Servo정착은실기확인대상이다.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fb10887c945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cca7102fa49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a8483f5c44e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922b5b43844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de70e27704d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8009bcede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CC05982-62DD-4D77-95B7-1369F71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AC2254-F70F-438F-B0BC-8E0A2F66D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6EE2AF4-103E-4648-9E25-F73F197D84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17231CB-340D-4025-A9AA-75C5115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D9617B-7F6F-4B5B-BB83-B3D1E96FD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4B9647-BD3D-48F5-9F75-C1466D15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6525F8-C45D-4242-B570-21EB6A017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7C6F4E9-A1EC-4656-80B8-FD2DA998F6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C848B6-EEAE-4708-A28E-10DAA1C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6190A1-5197-459F-80F7-55DB826FD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F2916F-0094-4D19-A22D-A5C571595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536EEA-6C62-4079-89B7-94B66A06BD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8824FB1-AB63-4C8D-A7BB-BE425290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84FF48-E16C-4D51-B14B-2FC3B7E185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4F959D-2C5A-4754-8665-03ED43D91A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3e9c520844963" /><Relationship Type="http://schemas.openxmlformats.org/officeDocument/2006/relationships/slideLayout" Target="/ppt/slideLayouts/slideLayout1.xml" Id="Rdc8e5b412ef5480b" /><Relationship Type="http://schemas.openxmlformats.org/officeDocument/2006/relationships/slideLayout" Target="/ppt/slideLayouts/slideLayout2.xml" Id="R02cf4f02ab2f4006" /><Relationship Type="http://schemas.openxmlformats.org/officeDocument/2006/relationships/slideLayout" Target="/ppt/slideLayouts/slideLayout3.xml" Id="Rd08ea75fb6834a62" /><Relationship Type="http://schemas.openxmlformats.org/officeDocument/2006/relationships/slideLayout" Target="/ppt/slideLayouts/slideLayout4.xml" Id="Rbdec7daf517f4d17" /><Relationship Type="http://schemas.openxmlformats.org/officeDocument/2006/relationships/slideLayout" Target="/ppt/slideLayouts/slideLayout5.xml" Id="Rda9646c6180f484d" /><Relationship Type="http://schemas.openxmlformats.org/officeDocument/2006/relationships/slideLayout" Target="/ppt/slideLayouts/slideLayout6.xml" Id="R6877693da2b6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8e5b412ef5480b"/>
    <p:sldLayoutId xmlns:r="http://schemas.openxmlformats.org/officeDocument/2006/relationships" id="2147483650" r:id="R02cf4f02ab2f4006"/>
    <p:sldLayoutId xmlns:r="http://schemas.openxmlformats.org/officeDocument/2006/relationships" id="2147483651" r:id="Rd08ea75fb6834a62"/>
    <p:sldLayoutId xmlns:r="http://schemas.openxmlformats.org/officeDocument/2006/relationships" id="2147483652" r:id="Rbdec7daf517f4d17"/>
    <p:sldLayoutId xmlns:r="http://schemas.openxmlformats.org/officeDocument/2006/relationships" id="2147483653" r:id="Rda9646c6180f484d"/>
    <p:sldLayoutId xmlns:r="http://schemas.openxmlformats.org/officeDocument/2006/relationships" id="2147483654" r:id="R6877693da2b6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2bcc25260420d" /><Relationship Type="http://schemas.openxmlformats.org/officeDocument/2006/relationships/notesSlide" Target="/ppt/notesSlides/notesSlide1.xml" Id="R1c03751524a0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d8d9ed4ae43a7" /><Relationship Type="http://schemas.openxmlformats.org/officeDocument/2006/relationships/chart" Target="/ppt/slides/charts/chart1.xml" Id="R03379a4693504d63" /><Relationship Type="http://schemas.openxmlformats.org/officeDocument/2006/relationships/notesSlide" Target="/ppt/notesSlides/notesSlide2.xml" Id="Ra34aa8b557f447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시간 (ms)</c:v>
          </c:tx>
          <c:spPr>
            <a:solidFill xmlns:a="http://schemas.openxmlformats.org/drawingml/2006/main">
              <a:srgbClr val="087D8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AA8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D8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다음 점 도착까지</c:v>
                </c:pt>
                <c:pt idx="1">
                  <c:v>X 준비에 필요한 시간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1568</c:v>
                </c:pt>
                <c:pt idx="1">
                  <c:v>1364.57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53248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6EC"/>
              </a:solidFill>
            </a:ln>
          </c:spPr>
        </c:majorGridlines>
        <c:numFmt formatCode="0&quot; m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06777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6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">
            <a:extLst xmlns:a="http://schemas.openxmlformats.org/drawingml/2006/main">
              <a:ext uri="{FF2B5EF4-FFF2-40B4-BE49-F238E27FC236}">
                <a16:creationId xmlns:a16="http://schemas.microsoft.com/office/drawing/2014/main" id="{DA082F06-3FB5-4AC0-9CC9-BE238666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0선 방어 리뷰: 기판당 2점·4점 순환 검사</a:t>
            </a:r>
          </a:p>
        </p:txBody>
      </p:sp>
      <p:sp>
        <p:nvSpPr>
          <p:cNvPr id="2" name="claim-1">
            <a:extLst xmlns:a="http://schemas.openxmlformats.org/drawingml/2006/main">
              <a:ext uri="{FF2B5EF4-FFF2-40B4-BE49-F238E27FC236}">
                <a16:creationId xmlns:a16="http://schemas.microsoft.com/office/drawing/2014/main" id="{6BB312D0-2D6D-43D1-AF02-034DD0F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D8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087D88"/>
                </a:solidFill>
                <a:latin typeface="Noto Sans KR"/>
                <a:ea typeface="Noto Sans KR"/>
                <a:cs typeface="Noto Sans KR"/>
              </a:rPr>
              <a:t>기본 제안 좌표와 속도에서 2점·4점/기판 모두 계산상 가능</a:t>
            </a:r>
          </a:p>
        </p:txBody>
      </p:sp>
      <p:graphicFrame>
        <p:nvGraphicFramePr>
          <p:cNvPr id="9" name="coverage-options"/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476500"/>
                <a:gridCol w="6648450"/>
              </a:tblGrid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기판당 검사</a:t>
                      </a:r>
                    </a:p>
                  </a:txBody>
                  <a:tcPr marL="123825" marR="123825" marT="95250" marB="95250" anchor="ctr">
                    <a:solidFill>
                      <a:srgbClr val="1532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 Head 1회 커버</a:t>
                      </a:r>
                    </a:p>
                  </a:txBody>
                  <a:tcPr marL="123825" marR="123825" marT="95250" marB="95250" anchor="ctr">
                    <a:solidFill>
                      <a:srgbClr val="1532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Glass별 검사 Head</a:t>
                      </a:r>
                    </a:p>
                  </a:txBody>
                  <a:tcPr marL="123825" marR="123825" marT="95250" marB="95250" anchor="ctr">
                    <a:solidFill>
                      <a:srgbClr val="15324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2점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 Glass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H01·02 / H03·04 / H05·06 / H07·08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4점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 Glass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H01~04 / H05~08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8점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Glass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H01~08 (제안 좌표의 명목 계산)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</a:tr>
            </a:tbl>
          </a:graphicData>
        </a:graphic>
      </p:graphicFrame>
      <p:sp>
        <p:nvSpPr>
          <p:cNvPr id="4" name="operation-1">
            <a:extLst xmlns:a="http://schemas.openxmlformats.org/drawingml/2006/main">
              <a:ext uri="{FF2B5EF4-FFF2-40B4-BE49-F238E27FC236}">
                <a16:creationId xmlns:a16="http://schemas.microsoft.com/office/drawing/2014/main" id="{063DE6F6-A1D0-4B9C-8FF4-4C78AA8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Head마다 고정점 하나를 선택하고, 같은 Recipe에서 반복 사용</a:t>
            </a:r>
          </a:p>
        </p:txBody>
      </p:sp>
      <p:sp>
        <p:nvSpPr>
          <p:cNvPr id="5" name="meaning-1">
            <a:extLst xmlns:a="http://schemas.openxmlformats.org/drawingml/2006/main">
              <a:ext uri="{FF2B5EF4-FFF2-40B4-BE49-F238E27FC236}">
                <a16:creationId xmlns:a16="http://schemas.microsoft.com/office/drawing/2014/main" id="{2B165A16-750A-490E-B2C4-B3C41D1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한 사이클은 H01~H08 대표점 8개의 1회 커버입니다.</a:t>
            </a:r>
          </a:p>
          <a:p xmlns:a="http://schemas.openxmlformats.org/drawingml/2006/main">
            <a:pPr>
              <a:defRPr sz="187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검사한 점은 Glass가 바뀌어도 표시하고 다음 사이클 시작 때 초기화합니다.</a:t>
            </a:r>
          </a:p>
        </p:txBody>
      </p:sp>
      <p:sp>
        <p:nvSpPr>
          <p:cNvPr id="6" name="qualification-1">
            <a:extLst xmlns:a="http://schemas.openxmlformats.org/drawingml/2006/main">
              <a:ext uri="{FF2B5EF4-FFF2-40B4-BE49-F238E27FC236}">
                <a16:creationId xmlns:a16="http://schemas.microsoft.com/office/drawing/2014/main" id="{8F7DB956-28C5-432A-9CAF-6849142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rPr>
              <a:t>표는 자동 제안 좌표 기준입니다. 실제 고정 0선 좌표의 시간 여유·영상 품질 검증 후 운영 개수를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647075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89CF959B-E311-4D4B-86FD-1673F867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두 점 사이의 시간 여유와 촬영 조건</a:t>
            </a:r>
          </a:p>
        </p:txBody>
      </p:sp>
      <p:sp>
        <p:nvSpPr>
          <p:cNvPr id="2" name="principle-2">
            <a:extLst xmlns:a="http://schemas.openxmlformats.org/drawingml/2006/main">
              <a:ext uri="{FF2B5EF4-FFF2-40B4-BE49-F238E27FC236}">
                <a16:creationId xmlns:a16="http://schemas.microsoft.com/office/drawing/2014/main" id="{8A85DBE6-418F-4536-88E1-3F17530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D88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87D88"/>
                </a:solidFill>
                <a:latin typeface="Noto Sans KR"/>
                <a:ea typeface="Noto Sans KR"/>
                <a:cs typeface="Noto Sans KR"/>
              </a:rPr>
              <a:t>다음 점이 오기 전에 Camera X 이동·정착을 끝내면 촬영 가능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6238875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379a4693504d63"/>
          </a:graphicData>
        </a:graphic>
      </p:graphicFrame>
      <p:sp>
        <p:nvSpPr>
          <p:cNvPr id="4" name="pair-example">
            <a:extLst xmlns:a="http://schemas.openxmlformats.org/drawingml/2006/main">
              <a:ext uri="{FF2B5EF4-FFF2-40B4-BE49-F238E27FC236}">
                <a16:creationId xmlns:a16="http://schemas.microsoft.com/office/drawing/2014/main" id="{E7F5A453-0443-44A1-AF1C-3EEC3808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4672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H06·H07 연속 검사 예시</a:t>
            </a:r>
          </a:p>
          <a:p xmlns:a="http://schemas.openxmlformats.org/drawingml/2006/main">
            <a:pPr>
              <a:def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Y 간격156.8mm ÷ 100mm/s = 1.568초</a:t>
            </a:r>
          </a:p>
          <a:p xmlns:a="http://schemas.openxmlformats.org/drawingml/2006/main">
            <a:pPr>
              <a:def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X 이동218.9mm: 가감속 포함1.2945초</a:t>
            </a:r>
          </a:p>
          <a:p xmlns:a="http://schemas.openxmlformats.org/drawingml/2006/main">
            <a:pPr>
              <a:def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Camera 최소주기43.48ms &lt; 도착간격</a:t>
            </a:r>
          </a:p>
        </p:txBody>
      </p:sp>
      <p:sp>
        <p:nvSpPr>
          <p:cNvPr id="5" name="slack-finding">
            <a:extLst xmlns:a="http://schemas.openxmlformats.org/drawingml/2006/main">
              <a:ext uri="{FF2B5EF4-FFF2-40B4-BE49-F238E27FC236}">
                <a16:creationId xmlns:a16="http://schemas.microsoft.com/office/drawing/2014/main" id="{248B60EE-1736-4D3C-9A71-2B5D2C8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8137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735D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735D"/>
                </a:solidFill>
                <a:latin typeface="Noto Sans KR"/>
                <a:ea typeface="Noto Sans KR"/>
                <a:cs typeface="Noto Sans KR"/>
              </a:rPr>
              <a:t>X 선도착 여유 203.43ms</a:t>
            </a:r>
          </a:p>
        </p:txBody>
      </p:sp>
      <p:sp>
        <p:nvSpPr>
          <p:cNvPr id="6" name="same-y">
            <a:extLst xmlns:a="http://schemas.openxmlformats.org/drawingml/2006/main">
              <a:ext uri="{FF2B5EF4-FFF2-40B4-BE49-F238E27FC236}">
                <a16:creationId xmlns:a16="http://schemas.microsoft.com/office/drawing/2014/main" id="{3A661008-D8D4-4178-A252-DE87D8D1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4467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같은 Y의 점은 동시에 도착합니다.</a:t>
            </a:r>
          </a:p>
          <a:p xmlns:a="http://schemas.openxmlformats.org/drawingml/2006/main">
            <a:pPr>
              <a:defRPr sz="172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53248"/>
                </a:solidFill>
                <a:latin typeface="Noto Sans KR"/>
                <a:ea typeface="Noto Sans KR"/>
                <a:cs typeface="Noto Sans KR"/>
              </a:rPr>
              <a:t>다른 Y점을 고르거나 Glass를 나눕니다.</a:t>
            </a:r>
          </a:p>
        </p:txBody>
      </p:sp>
      <p:graphicFrame>
        <p:nvGraphicFramePr>
          <p:cNvPr id="15" name="conditions"/>
          <p:cNvGraphicFramePr/>
          <p:nvPr/>
        </p:nvGraphicFramePr>
        <p:xfrm>
          <a:off xmlns:a="http://schemas.openxmlformats.org/drawingml/2006/main" x="533400" y="4524375"/>
          <a:ext xmlns:a="http://schemas.openxmlformats.org/drawingml/2006/main" cx="1112520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6410325"/>
              </a:tblGrid>
              <a:tr h="520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설정 조건</a:t>
                      </a:r>
                    </a:p>
                  </a:txBody>
                  <a:tcPr marL="123825" marR="123825" marT="95250" marB="95250" anchor="ctr">
                    <a:solidFill>
                      <a:srgbClr val="1532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가감속·촬영·시간 조건</a:t>
                      </a:r>
                    </a:p>
                  </a:txBody>
                  <a:tcPr marL="123825" marR="123825" marT="95250" marB="95250" anchor="ctr">
                    <a:solidFill>
                      <a:srgbClr val="153248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Stage Y 100 / Review X 200 mm/s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Y 가감속500 / X 가감속1000 mm/s²</a:t>
                      </a:r>
                    </a:p>
                  </a:txBody>
                  <a:tcPr marL="123825" marR="123825" marT="95250" marB="95250" anchor="ctr">
                    <a:solidFill>
                      <a:srgbClr val="ECF3F7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Camera 23 FPS / 노출10µs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3248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정착50ms / 선도착20ms / Tact 약100.50초</a:t>
                      </a:r>
                    </a:p>
                  </a:txBody>
                  <a:tcPr marL="123825" marR="1238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quality-caveat">
            <a:extLst xmlns:a="http://schemas.openxmlformats.org/drawingml/2006/main">
              <a:ext uri="{FF2B5EF4-FFF2-40B4-BE49-F238E27FC236}">
                <a16:creationId xmlns:a16="http://schemas.microsoft.com/office/drawing/2014/main" id="{FD08CAEE-7A3A-4AED-8CD1-C6C7376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00775"/>
            <a:ext cx="11125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rPr>
              <a:t>영상 품질 별도 검증: 노출 중 이동1µm는 20배 광학에서 약5.8px입니다.</a:t>
            </a:r>
          </a:p>
          <a:p xmlns:a="http://schemas.openxmlformats.org/drawingml/2006/main">
            <a:pPr>
              <a:defRPr sz="157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06777"/>
                </a:solidFill>
                <a:latin typeface="Noto Sans KR"/>
                <a:ea typeface="Noto Sans KR"/>
                <a:cs typeface="Noto Sans KR"/>
              </a:rPr>
              <a:t>1px 기준을 적용하면 현재 조건은 불가입니다. 실제 고정 좌표와 검출 품질 확인 후 운영 개수를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443252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2026-10-02T00:40:14.4240000Z</dcterms:created>
  <dcterms:modified xsi:type="dcterms:W3CDTF">2026-10-02T00:40:14.4240000Z</dcterms:modified>
</coreProperties>
</file>