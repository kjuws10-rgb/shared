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9c227c3de94cc8" /><Relationship Type="http://schemas.openxmlformats.org/officeDocument/2006/relationships/extended-properties" Target="/docProps/app.xml" Id="R77521bbbfda94582" /><Relationship Type="http://schemas.openxmlformats.org/officeDocument/2006/relationships/officeDocument" Target="/ppt/presentation.xml" Id="Rd0f12bf19519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a642bcf04f4261"/>
  </p:sldMasterIdLst>
  <p:notesMasterIdLst>
    <p:notesMasterId xmlns:r="http://schemas.openxmlformats.org/officeDocument/2006/relationships" r:id="Rf4dd0425c82b48c2"/>
  </p:notesMasterIdLst>
  <p:sldIdLst>
    <p:sldId xmlns:r="http://schemas.openxmlformats.org/officeDocument/2006/relationships" id="256" r:id="R8c5645ced9034e01"/>
    <p:sldId xmlns:r="http://schemas.openxmlformats.org/officeDocument/2006/relationships" id="257" r:id="R94b038b9339b44a2"/>
    <p:sldId xmlns:r="http://schemas.openxmlformats.org/officeDocument/2006/relationships" id="258" r:id="R4d2adc9018834525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466403ab8348f6" /><Relationship Type="http://schemas.openxmlformats.org/officeDocument/2006/relationships/slideMaster" Target="/ppt/slideMasters/slideMaster1.xml" Id="R72a642bcf04f4261" /><Relationship Type="http://schemas.openxmlformats.org/officeDocument/2006/relationships/notesMaster" Target="/ppt/notesMasters/notesMaster1.xml" Id="Rf4dd0425c82b48c2" /><Relationship Type="http://schemas.openxmlformats.org/officeDocument/2006/relationships/presProps" Target="/ppt/presProps.xml" Id="R6415c2b20d794fa2" /><Relationship Type="http://schemas.openxmlformats.org/officeDocument/2006/relationships/tableStyles" Target="/ppt/tableStyles.xml" Id="R719d33d82a524b3e" /><Relationship Type="http://schemas.openxmlformats.org/officeDocument/2006/relationships/slide" Target="/ppt/slides/slide1.xml" Id="R8c5645ced9034e01" /><Relationship Type="http://schemas.openxmlformats.org/officeDocument/2006/relationships/slide" Target="/ppt/slides/slide2.xml" Id="R94b038b9339b44a2" /><Relationship Type="http://schemas.openxmlformats.org/officeDocument/2006/relationships/slide" Target="/ppt/slides/slide3.xml" Id="R4d2adc90188345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11e252924943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5f9b9ef84f4f17" /><Relationship Type="http://schemas.openxmlformats.org/officeDocument/2006/relationships/notesMaster" Target="/ppt/notesMasters/notesMaster1.xml" Id="Rf2d0556d904545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1f8a4f3b064bf6" /><Relationship Type="http://schemas.openxmlformats.org/officeDocument/2006/relationships/notesMaster" Target="/ppt/notesMasters/notesMaster1.xml" Id="R783840634f2c47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411594d2374f6f" /><Relationship Type="http://schemas.openxmlformats.org/officeDocument/2006/relationships/notesMaster" Target="/ppt/notesMasters/notesMaster1.xml" Id="R66d22b8766d649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파라미터 Y Cell-to-Cell 간격=200mm. 등속 구간의 같은 기판 촬영 간 가용시간은 Y Cell간격/Y속도=200/100=2s로 계산하며 고정2초가 아님. 사용자 최신 조건: 현재 기판 0선방어 이후 다음 기판 투입 전 3분 이상의 여유. 180초를 ReviewDone 및 X 이동 허가 이후 사용 가능한 창의 하한으로 반영. 이는 기판 시작 간격 또는 장비 Tact가 아님. 준비=1.632993161855452+settle0.05+guard0.02=1.7029931618554521s. 기판 내 준비는 노출·trigger/jitter·camera period도 포함하여 1.7030631618554524s. X 선정점 H2=104.05000000000001, H3=204.05. 초기 H1 XReady는 기동 1회 별도 확보. XReady 조건은 위치 일치·속도0·정착 완료. ReviewDone은 실제 Frame·Vision 완료 확인. 전체 장비 Tact 단축 초 수를 산출한 것이 아니라 선배치로 증가하는 추가 대기가 0초인 명목 설계 계산. 상자 폭은 시간 비례가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고정 유효점 X: H1=4.05,H2=104.05,H3=204.05,H4=306.75,H5=414.85,H6=525.65,H7=636.45,H8=747.25 mm. Head fieldWidth110mm와 이동거리 구분; 이동거리=선정점 X차 절대값. Cell IDs=[1,11,21,31,5,15,25,35], 모두 unique, 기존 레시피 Head 소유권·Mask 검증됨. 각 선배치=[{"fromX":104.05000000000001,"toX":204.05,"dx":100,"move":1.632993161855452,"settle":0.05,"guard":0.02,"need":1.7029931618554521,"from":2,"to":3,"fromGlass":1,"toGlass":2,"wrap":false,"window":180,"slack":178.29700683814454,"extraTactS":0,"valid":true},{"fromX":306.75,"toX":414.84999999999997,"dx":108.09999999999997,"move":1.6978417672641541,"settle":0.05,"guard":0.02,"need":1.7678417672641542,"from":4,"to":5,"fromGlass":2,"toGlass":3,"wrap":false,"window":180,"slack":178.23215823273586,"extraTactS":0,"valid":true},{"fromX":525.65,"toX":636.4499999999999,"dx":110.79999999999995,"move":1.7189143860782206,"settle":0.05,"guard":0.02,"need":1.7889143860782206,"from":6,"to":7,"fromGlass":3,"toGlass":4,"wrap":false,"window":180,"slack":178.21108561392177,"extraTactS":0,"valid":true},{"fromX":747.25,"toX":4.049999999999997,"dx":743.2,"move":5.049333333333333,"settle":0.05,"guard":0.02,"need":5.119333333333333,"from":8,"to":1,"fromGlass":4,"toGlass":1,"wrap":true,"window":180,"slack":174.88066666666666,"extraTactS":0,"valid":true}]. 총20x 전제는200mm tube lens+1x relay. 선배치 준비는 이동+settle50ms+guard20ms. X정지-정지 사다리꼴/삼각형 운동으로 가감속 포함. 초기Park0→H1=0.3986335s는 초기 기동1회 별도이며180초 순환에 반복 포함하지 않음. 사용자의3분 여유를180초 하한으로 계산. 실제 통신·처리·interlock대기는 측정된 사용 가능창에 포함되지 않는다는 전제.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동작 model은 역방향 StageY stroke2700mm, V100mm/s A=D150mm/s², total27.6666667s. 입력 Y Cell-to-Cell 간격200mm이므로 같은 기판 촬영 간 가용시간=200/100=2s. 간격 변경 시 선정점 Y좌표·도착시간·최소Stroke·X 준비 여유를 함께 재계산. 등속0.6666667~27s,2633.3333mm. Scanner 기판1500mm통과5.333333~20.333333s; Review 기판진입20.003333s; 물리동시통과0.33s. 이번 기판 선택 2점별 review end H2=22.165088s,H4=26.165088s,H6=22.165088s,H8=26.165088s. 각 선정점 가공 완료 후 촬영, 전체가공완료를 기다리지 않음. 실제LaserON은 recipe/service 신호로 판정. 4점 첫/마지막20.165083~26.165083s, Y감속27s, 최소Stroke2616.509333mm,max30Stroke2933.333333mm. blur8px=1um 허용경계. Basler sensor2.5um/pixel,total20x→.125um/px, 기본18.5fps,min exposure2us. 실제Frame/Vision처리시간, S-curve/following error, 영상 검출성능 미모델링. 공식사양 기확인2026-10-06: https://docs.baslerweb.com/a2a2600-20gcbas ; https://docs.baslerweb.com/exposure-time ; https://www.mitutoyo.com/webfoo/wp-content/uploads/E4191-378_010611.pdf p20,p29. 각기판 기동전 XReady가 전제이고 대기창 내 X 선배치가 신규 대기를 만들지 않는다는 계산이며 전체Tact를보증하지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f2fac829d44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b89f3c44e47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b53e6f5b44b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bb149936940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0578ba1aa47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4897d74ef4e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56BB727-98B3-4B66-89FF-3258C926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B564D7-BA30-4ED1-AA1F-F22F2DBED6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59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96CABC7-1B35-4E73-AEEF-BC9AA4BAEF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39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8FF0BC6-F338-4D7C-8571-12D40CCF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DF0221-144A-4810-9667-1D6B6AB3C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599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E93B4B-0182-4026-B22B-BB5A20A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FC0C4C-6A45-45FC-B973-DBA1FD623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0BB6F46-CA69-494B-AF44-6F0E7F56F4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399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B2BFB62-4B9B-48AD-ABD0-F35A5452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F80D8C-AF3C-469F-B8D3-B838EE7EE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EA2D81-DCB6-4DF7-8AA0-F489D59EF7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461D20-420A-4C0E-8417-4B275E836E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6999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7B2C3BC-E53E-47CD-AA71-7DA646B4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7C9D40-BCB8-4F34-9CFC-11825FD74C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4BAB4D-72BC-4B3A-B221-71CF9EF630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15ea53217b410c" /><Relationship Type="http://schemas.openxmlformats.org/officeDocument/2006/relationships/slideLayout" Target="/ppt/slideLayouts/slideLayout1.xml" Id="Rc589bc6af4474b85" /><Relationship Type="http://schemas.openxmlformats.org/officeDocument/2006/relationships/slideLayout" Target="/ppt/slideLayouts/slideLayout2.xml" Id="Rd6f441b4fe194152" /><Relationship Type="http://schemas.openxmlformats.org/officeDocument/2006/relationships/slideLayout" Target="/ppt/slideLayouts/slideLayout3.xml" Id="Re4fb5906c6e84d3a" /><Relationship Type="http://schemas.openxmlformats.org/officeDocument/2006/relationships/slideLayout" Target="/ppt/slideLayouts/slideLayout4.xml" Id="R6429c7c2d56d4253" /><Relationship Type="http://schemas.openxmlformats.org/officeDocument/2006/relationships/slideLayout" Target="/ppt/slideLayouts/slideLayout5.xml" Id="Rdd60a2817fd341eb" /><Relationship Type="http://schemas.openxmlformats.org/officeDocument/2006/relationships/slideLayout" Target="/ppt/slideLayouts/slideLayout6.xml" Id="R55c5d070892f44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9bc6af4474b85"/>
    <p:sldLayoutId xmlns:r="http://schemas.openxmlformats.org/officeDocument/2006/relationships" id="2147483650" r:id="Rd6f441b4fe194152"/>
    <p:sldLayoutId xmlns:r="http://schemas.openxmlformats.org/officeDocument/2006/relationships" id="2147483651" r:id="Re4fb5906c6e84d3a"/>
    <p:sldLayoutId xmlns:r="http://schemas.openxmlformats.org/officeDocument/2006/relationships" id="2147483652" r:id="R6429c7c2d56d4253"/>
    <p:sldLayoutId xmlns:r="http://schemas.openxmlformats.org/officeDocument/2006/relationships" id="2147483653" r:id="Rdd60a2817fd341eb"/>
    <p:sldLayoutId xmlns:r="http://schemas.openxmlformats.org/officeDocument/2006/relationships" id="2147483654" r:id="R55c5d070892f44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761055a4542e9" /><Relationship Type="http://schemas.openxmlformats.org/officeDocument/2006/relationships/notesSlide" Target="/ppt/notesSlides/notesSlide1.xml" Id="R6421b15ca46744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d0b95f5fbe4c08" /><Relationship Type="http://schemas.openxmlformats.org/officeDocument/2006/relationships/notesSlide" Target="/ppt/notesSlides/notesSlide2.xml" Id="Rf982cb9eca084f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b915c05f04f8f" /><Relationship Type="http://schemas.openxmlformats.org/officeDocument/2006/relationships/notesSlide" Target="/ppt/notesSlides/notesSlide3.xml" Id="R08c14758dae7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D7EC7B-48EF-4D38-A029-48FB426C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FC390-F6F1-497B-A7F6-CCDA2F5C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2875"/>
            <a:ext cx="1133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기판 사이 3분에 X를 선배치하면, 추가 대기 0초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7986E-0D97-4AE5-B064-3065A1E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rPr>
              <a:t>기판당2개 측정 · H01·H02 리뷰 후 H03 준비 · 180초는 사용 가능한 대기창의 하한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1DD9B-DA49-47E6-AE63-ED3ABBA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A3 Laser Driller · 2026-10-07 · 명목 이동 계산 / XReady·실제 ReviewDone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D59CE-86FC-4CBC-902D-34869517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1/3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B4346-D011-423B-82BB-1ED58A68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8725"/>
            <a:ext cx="11353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43617-0FFD-4B9F-BFCA-D60B53E4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Stroke2700mm · 노출10µs · 허용blur8px · Y Cell간격200mm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X200mm/s·가감속150 / Y100mm/s·가감속150mm/s²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35C4C-1064-4765-9335-C982DE7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43125"/>
            <a:ext cx="556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D090A-9D0A-4DF2-B5D5-C6F56421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515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69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69D3"/>
                </a:solidFill>
                <a:latin typeface="Noto Sans KR"/>
                <a:ea typeface="Noto Sans KR"/>
                <a:cs typeface="Noto Sans KR"/>
              </a:rPr>
              <a:t>기판 내 촬영: H01 → H02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F71ED-1F98-44BC-9976-EA3C2466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5153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Y 200.0 ÷ 100.0 = 2.000초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DB5CD-DEB8-4F6C-AE06-51DA230B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5153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X·취득 준비 1.703초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AEB90-C954-4A38-8FFF-AB3F06E7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5153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9D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269D3"/>
                </a:solidFill>
                <a:latin typeface="Noto Sans KR"/>
                <a:ea typeface="Noto Sans KR"/>
                <a:cs typeface="Noto Sans KR"/>
              </a:rPr>
              <a:t>촬영 간 여유 0.297초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9C86C-0EB4-49DC-8182-87993CBC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556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53797-B371-462F-B36E-5D1D2305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515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기판 사이 준비: H02 → H03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75A5B-638C-4DD0-AD67-4BC123D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33675"/>
            <a:ext cx="5153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사용 가능한 대기창 180초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7C7D5-21D5-4535-A7C4-4224154C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5153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X 선배치 1.703초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49500-3758-4CB1-BD4D-56290406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5153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남는 시간 178.297초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710A7-BE46-4724-9E8E-6B6BC737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25F2C-EE5F-4B73-A014-393F0D92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현재 기판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4DBAE-468C-42CF-91E0-365DB3BC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H01·H02 측정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05E11-D3EB-4442-92CB-1C9EDEB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00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316F4-818F-4FCF-8E92-75111196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9AE98-CEB0-4872-BC82-C48DD975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리뷰 완료 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3DC6E5-1037-4C12-8776-ABAE25A3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H03 선정점으로 이동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CDC25-FDB4-498B-8482-D4E4BB2E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00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DF71B3-4F89-45FC-9706-B4228DC8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618CCF-4401-443B-A837-066D4C52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XReady 확보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AF471-A866-42F8-8658-FADE7DE5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위치·정지·정착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1F031E-2FF5-4814-9497-E22BB542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00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61F304-3AEE-48C0-9579-ED1A9CD0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47B186-9B7C-43AD-A1B6-5F4FBF11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다음 기판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8706C5-8289-4D14-9A65-6441E2D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H03·H04 측정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FEE9C-D57E-49C7-B120-F06A2B0F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135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선배치 추가 대기 = max(0, 선배치 준비시간 − 180초) = 0초</a:t>
            </a:r>
          </a:p>
        </p:txBody>
      </p:sp>
    </p:spTree>
    <p:extLst>
      <p:ext uri="{BB962C8B-B14F-4D97-AF65-F5344CB8AC3E}">
        <p14:creationId xmlns:p14="http://schemas.microsoft.com/office/powerpoint/2010/main" val="360961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187B-068F-4569-A3C9-388DDBCD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E7E17-DA28-4CDA-B6B7-1D97901F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2875"/>
            <a:ext cx="1133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2개 측정: 네 기판으로 8개 스캐너를 순환합니다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0E19D-E0EC-4816-8884-3145F6CF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rPr>
              <a:t>같은 기판의 촬영은 유지하고, 다음 첫 촬영 위치 준비를 기판 사이 대기창에 배치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B2EFE-9A8D-4231-9EB4-E4CA7296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A3 Laser Driller · 2026-10-07 · 명목 이동 계산 / XReady·실제 ReviewDone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41631-16D8-49CB-A879-97D674F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2/3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19100" y="1381125"/>
          <a:ext xmlns:a="http://schemas.openxmlformats.org/drawingml/2006/main" cx="11353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2276475"/>
                <a:gridCol w="2771775"/>
                <a:gridCol w="1409700"/>
                <a:gridCol w="1628775"/>
                <a:gridCol w="2200275"/>
              </a:tblGrid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이번 기판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 순서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기판 사이 선배치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ΔX(mm)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준비(s)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 여유(s)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H01 → H02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H02 → H03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178.297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2매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H03 → H04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H04 → H05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108.1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1.768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178.232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H05 → H06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H06 → H07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110.8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178.211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4매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H07 → H08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H08 → H01 (복귀)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743.2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5.119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174.881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40203-4A0A-4AD6-9FFF-FAF4DD9F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52925"/>
            <a:ext cx="113538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0A072-6CC7-448B-AA0A-E50FA257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가장 긴 H08→H01 복귀도 5.119초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50D62-E774-42F4-9584-A923179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180초 안에 준비 완료 · 남는 시간 174.881초 · 선배치 추가 대기 0초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EE5EA-4143-491C-B3D2-18703739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10200"/>
            <a:ext cx="1135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다음 위치 = 스캐너 중심이 아니라, 다음 촬영 선정점의 실제 X좌표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47048-F4F2-4598-BEE7-2195B8C0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38825"/>
            <a:ext cx="1135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매 기판 Park0 복귀 없음 · 8개 Head마다 다른 Cell에서 1점 · H08 후 H01로 순환</a:t>
            </a:r>
          </a:p>
        </p:txBody>
      </p:sp>
    </p:spTree>
    <p:extLst>
      <p:ext uri="{BB962C8B-B14F-4D97-AF65-F5344CB8AC3E}">
        <p14:creationId xmlns:p14="http://schemas.microsoft.com/office/powerpoint/2010/main" val="2082446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78636-3118-4F06-B1A1-E2838307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7CDF1-0031-4021-9447-8EAD87EE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2875"/>
            <a:ext cx="1133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선배치가 해결하는 것은 다음 기판 준비입니다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C8286-D63D-4D29-94E9-1DEECCE5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rPr>
              <a:t>현재 기판의 30초·Stroke·blur·촬영 간 X 이동 조건은 계속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2985C-B050-4A29-90BD-29DFB1A7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A3 Laser Driller · 2026-10-07 · 명목 이동 계산 / XReady·실제 ReviewDone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7E168-C347-4B42-9460-2978D927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3/3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19100" y="1362075"/>
          <a:ext xmlns:a="http://schemas.openxmlformats.org/drawingml/2006/main" cx="113538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3050"/>
                <a:gridCol w="2095500"/>
                <a:gridCol w="1838325"/>
                <a:gridCol w="5876925"/>
              </a:tblGrid>
              <a:tr h="5556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운용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기판 내 X 이동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8개 Head 확인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다음 첫 위치 준비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5556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2개 / 기판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촬영 사이 1회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4기판 순환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H02→03, H04→05, H06→07, H08→01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 / 기판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촬영 사이 3회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2기판 순환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H04→05, H08→01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EA5EA-42D2-43B8-8D5E-77AB519A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28975"/>
            <a:ext cx="11353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3FCA6-410D-41D1-8B3E-C76ADC85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현재 기준: 역방향 27.667초 · 이동 blur 8.00px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20DF1-1354-4F04-AE32-797B77C5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Y Cell간격 200.0mm → 촬영 간 2.000초 · X 최소 여유 0.211초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A6FC4-244D-4C99-A697-438592A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13538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84723-1B5D-4922-968A-B0EC290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현재 리뷰 완료·X 이동 허가 → 선배치 → XReady → 다음 기판 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C6095-EC2C-4392-9AE0-C4F3891A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다음 기판이 들어올 때 첫 위치 준비 완료 · 실제 Frame·Vision 결과로 ReviewDone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7EC33-1600-40AE-88CE-E6BA8418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53050"/>
            <a:ext cx="1135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기판 내 촬영 마감이 부족하면, 기판 사이 3분으로 보완할 수 없습니다.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A837E-C011-4F26-8D84-2D9922B9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135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180초는 기판 시작 간격이 아닙니다. 반송·투입을 포함한 전체 장비 Tact는 별도입니다.</a:t>
            </a:r>
          </a:p>
        </p:txBody>
      </p:sp>
    </p:spTree>
    <p:extLst>
      <p:ext uri="{BB962C8B-B14F-4D97-AF65-F5344CB8AC3E}">
        <p14:creationId xmlns:p14="http://schemas.microsoft.com/office/powerpoint/2010/main" val="2145171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2026-10-07T02:16:47.3530000Z</dcterms:created>
  <dcterms:modified xsi:type="dcterms:W3CDTF">2026-10-07T02:16:47.3530000Z</dcterms:modified>
</coreProperties>
</file>