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ags/tag1.xml" ContentType="application/vnd.openxmlformats-officedocument.presentationml.tag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4.xml" ContentType="application/vnd.openxmlformats-officedocument.presentationml.slide+xml"/>
  <Override PartName="/ppt/notesSlides/review_notesSlide4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700" r:id="rId1"/>
    <p:sldMasterId id="2147483764" r:id="rId2"/>
  </p:sldMasterIdLst>
  <p:notesMasterIdLst>
    <p:notesMasterId r:id="rId6"/>
  </p:notesMasterIdLst>
  <p:handoutMasterIdLst>
    <p:handoutMasterId r:id="rId7"/>
  </p:handoutMasterIdLst>
  <p:sldIdLst>
    <p:sldId id="2147474975" r:id="rId3"/>
    <p:sldId id="2147474984" r:id="rId4"/>
    <p:sldId id="2147474982" r:id="rId5"/>
    <p:sldId id="2147474985" r:id="rIdCameraReview"/>
  </p:sldIdLst>
  <p:sldSz cx="10439400" cy="7559675"/>
  <p:notesSz cx="6797675" cy="9926638"/>
  <p:defaultTextStyle>
    <a:defPPr>
      <a:defRPr lang="en-US"/>
    </a:defPPr>
    <a:lvl1pPr marL="0" algn="l" defTabSz="490897" rtl="0" eaLnBrk="1" latinLnBrk="0" hangingPunct="1">
      <a:defRPr sz="1933" kern="1200">
        <a:solidFill>
          <a:schemeClr val="tx1"/>
        </a:solidFill>
        <a:latin typeface="+mn-lt"/>
        <a:ea typeface="+mn-ea"/>
        <a:cs typeface="+mn-cs"/>
      </a:defRPr>
    </a:lvl1pPr>
    <a:lvl2pPr marL="490897" algn="l" defTabSz="490897" rtl="0" eaLnBrk="1" latinLnBrk="0" hangingPunct="1">
      <a:defRPr sz="1933" kern="1200">
        <a:solidFill>
          <a:schemeClr val="tx1"/>
        </a:solidFill>
        <a:latin typeface="+mn-lt"/>
        <a:ea typeface="+mn-ea"/>
        <a:cs typeface="+mn-cs"/>
      </a:defRPr>
    </a:lvl2pPr>
    <a:lvl3pPr marL="981794" algn="l" defTabSz="490897" rtl="0" eaLnBrk="1" latinLnBrk="0" hangingPunct="1">
      <a:defRPr sz="1933" kern="1200">
        <a:solidFill>
          <a:schemeClr val="tx1"/>
        </a:solidFill>
        <a:latin typeface="+mn-lt"/>
        <a:ea typeface="+mn-ea"/>
        <a:cs typeface="+mn-cs"/>
      </a:defRPr>
    </a:lvl3pPr>
    <a:lvl4pPr marL="1472691" algn="l" defTabSz="490897" rtl="0" eaLnBrk="1" latinLnBrk="0" hangingPunct="1">
      <a:defRPr sz="1933" kern="1200">
        <a:solidFill>
          <a:schemeClr val="tx1"/>
        </a:solidFill>
        <a:latin typeface="+mn-lt"/>
        <a:ea typeface="+mn-ea"/>
        <a:cs typeface="+mn-cs"/>
      </a:defRPr>
    </a:lvl4pPr>
    <a:lvl5pPr marL="1963587" algn="l" defTabSz="490897" rtl="0" eaLnBrk="1" latinLnBrk="0" hangingPunct="1">
      <a:defRPr sz="1933" kern="1200">
        <a:solidFill>
          <a:schemeClr val="tx1"/>
        </a:solidFill>
        <a:latin typeface="+mn-lt"/>
        <a:ea typeface="+mn-ea"/>
        <a:cs typeface="+mn-cs"/>
      </a:defRPr>
    </a:lvl5pPr>
    <a:lvl6pPr marL="2454484" algn="l" defTabSz="490897" rtl="0" eaLnBrk="1" latinLnBrk="0" hangingPunct="1">
      <a:defRPr sz="1933" kern="1200">
        <a:solidFill>
          <a:schemeClr val="tx1"/>
        </a:solidFill>
        <a:latin typeface="+mn-lt"/>
        <a:ea typeface="+mn-ea"/>
        <a:cs typeface="+mn-cs"/>
      </a:defRPr>
    </a:lvl6pPr>
    <a:lvl7pPr marL="2945382" algn="l" defTabSz="490897" rtl="0" eaLnBrk="1" latinLnBrk="0" hangingPunct="1">
      <a:defRPr sz="1933" kern="1200">
        <a:solidFill>
          <a:schemeClr val="tx1"/>
        </a:solidFill>
        <a:latin typeface="+mn-lt"/>
        <a:ea typeface="+mn-ea"/>
        <a:cs typeface="+mn-cs"/>
      </a:defRPr>
    </a:lvl7pPr>
    <a:lvl8pPr marL="3436280" algn="l" defTabSz="490897" rtl="0" eaLnBrk="1" latinLnBrk="0" hangingPunct="1">
      <a:defRPr sz="1933" kern="1200">
        <a:solidFill>
          <a:schemeClr val="tx1"/>
        </a:solidFill>
        <a:latin typeface="+mn-lt"/>
        <a:ea typeface="+mn-ea"/>
        <a:cs typeface="+mn-cs"/>
      </a:defRPr>
    </a:lvl8pPr>
    <a:lvl9pPr marL="3927177" algn="l" defTabSz="490897" rtl="0" eaLnBrk="1" latinLnBrk="0" hangingPunct="1">
      <a:defRPr sz="193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3" userDrawn="1">
          <p15:clr>
            <a:srgbClr val="A4A3A4"/>
          </p15:clr>
        </p15:guide>
        <p15:guide id="5" pos="2313" userDrawn="1">
          <p15:clr>
            <a:srgbClr val="A4A3A4"/>
          </p15:clr>
        </p15:guide>
        <p15:guide id="6" orient="horz" pos="4558" userDrawn="1">
          <p15:clr>
            <a:srgbClr val="A4A3A4"/>
          </p15:clr>
        </p15:guide>
        <p15:guide id="7" orient="horz" pos="4445" userDrawn="1">
          <p15:clr>
            <a:srgbClr val="A4A3A4"/>
          </p15:clr>
        </p15:guide>
        <p15:guide id="8" pos="5261" userDrawn="1">
          <p15:clr>
            <a:srgbClr val="A4A3A4"/>
          </p15:clr>
        </p15:guide>
        <p15:guide id="9" pos="204" userDrawn="1">
          <p15:clr>
            <a:srgbClr val="A4A3A4"/>
          </p15:clr>
        </p15:guide>
        <p15:guide id="10" pos="6325" userDrawn="1">
          <p15:clr>
            <a:srgbClr val="A4A3A4"/>
          </p15:clr>
        </p15:guide>
        <p15:guide id="11" orient="horz" pos="90" userDrawn="1">
          <p15:clr>
            <a:srgbClr val="A4A3A4"/>
          </p15:clr>
        </p15:guide>
        <p15:guide id="12" orient="horz" pos="47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 재철" initials="김재" lastIdx="1" clrIdx="0">
    <p:extLst>
      <p:ext uri="{19B8F6BF-5375-455C-9EA6-DF929625EA0E}">
        <p15:presenceInfo xmlns:p15="http://schemas.microsoft.com/office/powerpoint/2012/main" userId="S-1-5-21-2466483774-3049606652-1447174927-26840" providerId="AD"/>
      </p:ext>
    </p:extLst>
  </p:cmAuthor>
  <p:cmAuthor id="2" name="황 정철" initials="황정" lastIdx="1" clrIdx="1">
    <p:extLst>
      <p:ext uri="{19B8F6BF-5375-455C-9EA6-DF929625EA0E}">
        <p15:presenceInfo xmlns:p15="http://schemas.microsoft.com/office/powerpoint/2012/main" userId="S-1-5-21-2466483774-3049606652-1447174927-28480" providerId="AD"/>
      </p:ext>
    </p:extLst>
  </p:cmAuthor>
  <p:cmAuthor id="3" name="김 경모" initials="김경" lastIdx="3" clrIdx="2">
    <p:extLst>
      <p:ext uri="{19B8F6BF-5375-455C-9EA6-DF929625EA0E}">
        <p15:presenceInfo xmlns:p15="http://schemas.microsoft.com/office/powerpoint/2012/main" userId="S-1-5-21-2466483774-3049606652-1447174927-2137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66FF"/>
    <a:srgbClr val="FFFFCC"/>
    <a:srgbClr val="FF00FF"/>
    <a:srgbClr val="0000CC"/>
    <a:srgbClr val="FFFE92"/>
    <a:srgbClr val="0E5296"/>
    <a:srgbClr val="0A2D75"/>
    <a:srgbClr val="D6DCE5"/>
    <a:srgbClr val="BFA9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770" autoAdjust="0"/>
    <p:restoredTop sz="95847" autoAdjust="0"/>
  </p:normalViewPr>
  <p:slideViewPr>
    <p:cSldViewPr snapToGrid="0">
      <p:cViewPr varScale="1">
        <p:scale>
          <a:sx n="99" d="100"/>
          <a:sy n="99" d="100"/>
        </p:scale>
        <p:origin x="876" y="72"/>
      </p:cViewPr>
      <p:guideLst>
        <p:guide orient="horz" pos="793"/>
        <p:guide pos="2313"/>
        <p:guide orient="horz" pos="4558"/>
        <p:guide orient="horz" pos="4445"/>
        <p:guide pos="5261"/>
        <p:guide pos="204"/>
        <p:guide pos="6325"/>
        <p:guide orient="horz" pos="90"/>
        <p:guide orient="horz" pos="476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77" d="100"/>
          <a:sy n="77" d="100"/>
        </p:scale>
        <p:origin x="3144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1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Relationship Id="rIdCameraReview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>
              <a:latin typeface="나눔고딕" panose="020D0604000000000000" pitchFamily="50" charset="-127"/>
              <a:ea typeface="나눔고딕" panose="020D0604000000000000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9B231A-2D1C-4C91-A1B5-298AE64F0ACE}" type="datetimeFigureOut">
              <a:rPr lang="ko-KR" altLang="en-US" smtClean="0">
                <a:latin typeface="나눔고딕" panose="020D0604000000000000" pitchFamily="50" charset="-127"/>
                <a:ea typeface="나눔고딕" panose="020D0604000000000000"/>
              </a:rPr>
              <a:t>2026-10-13</a:t>
            </a:fld>
            <a:endParaRPr lang="ko-KR" altLang="en-US" dirty="0">
              <a:latin typeface="나눔고딕" panose="020D0604000000000000" pitchFamily="50" charset="-127"/>
              <a:ea typeface="나눔고딕" panose="020D0604000000000000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9753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>
              <a:latin typeface="나눔고딕" panose="020D0604000000000000" pitchFamily="50" charset="-127"/>
              <a:ea typeface="나눔고딕" panose="020D0604000000000000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8" y="9429753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73F6B7-55BA-4023-A77E-0E88C5D71800}" type="slidenum">
              <a:rPr lang="ko-KR" altLang="en-US" smtClean="0">
                <a:latin typeface="나눔고딕" panose="020D0604000000000000" pitchFamily="50" charset="-127"/>
                <a:ea typeface="나눔고딕" panose="020D0604000000000000"/>
              </a:rPr>
              <a:t>‹#›</a:t>
            </a:fld>
            <a:endParaRPr lang="ko-KR" altLang="en-US" dirty="0">
              <a:latin typeface="나눔고딕" panose="020D0604000000000000" pitchFamily="50" charset="-127"/>
              <a:ea typeface="나눔고딕" panose="020D0604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93381296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6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나눔고딕" panose="020D0604000000000000" pitchFamily="50" charset="-127"/>
                <a:ea typeface="나눔고딕" panose="020D0604000000000000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9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나눔고딕" panose="020D0604000000000000" pitchFamily="50" charset="-127"/>
                <a:ea typeface="나눔고딕" panose="020D0604000000000000"/>
              </a:defRPr>
            </a:lvl1pPr>
          </a:lstStyle>
          <a:p>
            <a:fld id="{B26C9447-5504-4FBA-89BB-21C885EAEB17}" type="datetimeFigureOut">
              <a:rPr lang="ko-KR" altLang="en-US" smtClean="0"/>
              <a:pPr/>
              <a:t>2026-10-13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085850" y="1241425"/>
            <a:ext cx="462597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7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6" y="9428587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나눔고딕" panose="020D0604000000000000" pitchFamily="50" charset="-127"/>
                <a:ea typeface="나눔고딕" panose="020D0604000000000000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9" y="9428587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나눔고딕" panose="020D0604000000000000" pitchFamily="50" charset="-127"/>
                <a:ea typeface="나눔고딕" panose="020D0604000000000000"/>
              </a:defRPr>
            </a:lvl1pPr>
          </a:lstStyle>
          <a:p>
            <a:fld id="{BEAE340A-231E-469E-9748-6AD8B6A45E1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D31EC9E-E7FB-4B4F-BEC8-4A0D6F6C3A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1304" y="4279796"/>
            <a:ext cx="1093264" cy="313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3360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81794" rtl="0" eaLnBrk="1" latinLnBrk="1" hangingPunct="1">
      <a:defRPr sz="1289" kern="1200">
        <a:solidFill>
          <a:schemeClr val="tx1"/>
        </a:solidFill>
        <a:latin typeface="나눔고딕" panose="020D0604000000000000" pitchFamily="50" charset="-127"/>
        <a:ea typeface="나눔고딕" panose="020D0604000000000000"/>
        <a:cs typeface="+mn-cs"/>
      </a:defRPr>
    </a:lvl1pPr>
    <a:lvl2pPr marL="490897" algn="l" defTabSz="981794" rtl="0" eaLnBrk="1" latinLnBrk="1" hangingPunct="1">
      <a:defRPr sz="1289" kern="1200">
        <a:solidFill>
          <a:schemeClr val="tx1"/>
        </a:solidFill>
        <a:latin typeface="나눔고딕" panose="020D0604000000000000" pitchFamily="50" charset="-127"/>
        <a:ea typeface="나눔고딕" panose="020D0604000000000000"/>
        <a:cs typeface="+mn-cs"/>
      </a:defRPr>
    </a:lvl2pPr>
    <a:lvl3pPr marL="981794" algn="l" defTabSz="981794" rtl="0" eaLnBrk="1" latinLnBrk="1" hangingPunct="1">
      <a:defRPr sz="1289" kern="1200">
        <a:solidFill>
          <a:schemeClr val="tx1"/>
        </a:solidFill>
        <a:latin typeface="나눔고딕" panose="020D0604000000000000" pitchFamily="50" charset="-127"/>
        <a:ea typeface="나눔고딕" panose="020D0604000000000000"/>
        <a:cs typeface="+mn-cs"/>
      </a:defRPr>
    </a:lvl3pPr>
    <a:lvl4pPr marL="1472691" algn="l" defTabSz="981794" rtl="0" eaLnBrk="1" latinLnBrk="1" hangingPunct="1">
      <a:defRPr sz="1289" kern="1200">
        <a:solidFill>
          <a:schemeClr val="tx1"/>
        </a:solidFill>
        <a:latin typeface="나눔고딕" panose="020D0604000000000000" pitchFamily="50" charset="-127"/>
        <a:ea typeface="나눔고딕" panose="020D0604000000000000"/>
        <a:cs typeface="+mn-cs"/>
      </a:defRPr>
    </a:lvl4pPr>
    <a:lvl5pPr marL="1963587" algn="l" defTabSz="981794" rtl="0" eaLnBrk="1" latinLnBrk="1" hangingPunct="1">
      <a:defRPr sz="1289" kern="1200">
        <a:solidFill>
          <a:schemeClr val="tx1"/>
        </a:solidFill>
        <a:latin typeface="나눔고딕" panose="020D0604000000000000" pitchFamily="50" charset="-127"/>
        <a:ea typeface="나눔고딕" panose="020D0604000000000000"/>
        <a:cs typeface="+mn-cs"/>
      </a:defRPr>
    </a:lvl5pPr>
    <a:lvl6pPr marL="2454484" algn="l" defTabSz="981794" rtl="0" eaLnBrk="1" latinLnBrk="1" hangingPunct="1">
      <a:defRPr sz="1289" kern="1200">
        <a:solidFill>
          <a:schemeClr val="tx1"/>
        </a:solidFill>
        <a:latin typeface="+mn-lt"/>
        <a:ea typeface="+mn-ea"/>
        <a:cs typeface="+mn-cs"/>
      </a:defRPr>
    </a:lvl6pPr>
    <a:lvl7pPr marL="2945382" algn="l" defTabSz="981794" rtl="0" eaLnBrk="1" latinLnBrk="1" hangingPunct="1">
      <a:defRPr sz="1289" kern="1200">
        <a:solidFill>
          <a:schemeClr val="tx1"/>
        </a:solidFill>
        <a:latin typeface="+mn-lt"/>
        <a:ea typeface="+mn-ea"/>
        <a:cs typeface="+mn-cs"/>
      </a:defRPr>
    </a:lvl7pPr>
    <a:lvl8pPr marL="3436280" algn="l" defTabSz="981794" rtl="0" eaLnBrk="1" latinLnBrk="1" hangingPunct="1">
      <a:defRPr sz="1289" kern="1200">
        <a:solidFill>
          <a:schemeClr val="tx1"/>
        </a:solidFill>
        <a:latin typeface="+mn-lt"/>
        <a:ea typeface="+mn-ea"/>
        <a:cs typeface="+mn-cs"/>
      </a:defRPr>
    </a:lvl8pPr>
    <a:lvl9pPr marL="3927177" algn="l" defTabSz="981794" rtl="0" eaLnBrk="1" latinLnBrk="1" hangingPunct="1">
      <a:defRPr sz="128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review_notesSlide4.xml.rels><?xml version='1.0' encoding='UTF-8' standalone='yes'?>
<Relationships xmlns="http://schemas.openxmlformats.org/package/2006/relationships"><Relationship Type="http://schemas.openxmlformats.org/officeDocument/2006/relationships/slide" Target="../slides/slide4.xml" Id="R9fc3f07220e34af0"/><Relationship Type="http://schemas.openxmlformats.org/officeDocument/2006/relationships/notesMaster" Target="../notesMasters/notesMaster1.xml" Id="Ref392a7ec82c491f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085850" y="1241425"/>
            <a:ext cx="4625975" cy="33496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9089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AE340A-231E-469E-9748-6AD8B6A45E1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/>
                <a:cs typeface="+mn-cs"/>
              </a:rPr>
              <a:pPr marL="0" marR="0" lvl="0" indent="0" algn="r" defTabSz="49089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84099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085850" y="1241425"/>
            <a:ext cx="4625975" cy="33496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9089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AE340A-231E-469E-9748-6AD8B6A45E1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/>
                <a:cs typeface="+mn-cs"/>
              </a:rPr>
              <a:pPr marL="0" marR="0" lvl="0" indent="0" algn="r" defTabSz="49089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60575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085850" y="1241425"/>
            <a:ext cx="4625975" cy="33496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9089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AE340A-231E-469E-9748-6AD8B6A45E1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/>
                <a:cs typeface="+mn-cs"/>
              </a:rPr>
              <a:pPr marL="0" marR="0" lvl="0" indent="0" algn="r" defTabSz="49089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6563552"/>
      </p:ext>
    </p:extLst>
  </p:cSld>
  <p:clrMapOvr>
    <a:masterClrMapping/>
  </p:clrMapOvr>
</p:notes>
</file>

<file path=ppt/notesSlides/review_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검토 결론</a:t>
            </a:r>
          </a:p>
          <a:p xmlns:a="http://schemas.openxmlformats.org/drawingml/2006/main">
            <a:r>
              <a:t>Basler 조건부 채택을 권고한다. 2.5µm 센서 픽셀은 물체의 측정 분해능 그 자체가 아니다. 실제 광학배율20x라면0.125µm/px이며 Sony0.1725µm/px에 비해 선형 샘플링 밀도가38% 높다. 실제 보조전극 지름은214.375px /153.292px로 약1.399배다. 같은 전극임은 파일만으로 확정할 수 없으며 nominal 물체 지름은26.797/26.442µm로1.34% 차이도 존재한다. 따라서 스케일 보정 전 µm는 조건부 환산이다.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원본 경계 비교</a:t>
            </a:r>
          </a:p>
          <a:p xmlns:a="http://schemas.openxmlformats.org/drawingml/2006/main">
            <a:r>
              <a:t>180개 방향(2도 간격)마다 ±0.6도 내5개 radial ray를 bilinear sampling하여 평균했다. 각 profile ±14px 구간에서 error-function step +선형 배경을 robust fitting하여10–90% 폭을2.5631×sigma로 계산했다. 구간별 edge위치를 robust circle fitting했다. 폭 중앙값 Sony6.0009px(1.0351µm), Basler8.1412px(1.0177µm). IQR Sony.996–1.085µm/Basler.911–1.155µm다. 1.7% nominal 차이는 calibration 및 sample 차이보다 작을 수 있어 Basler 광학 edge 우위의 증거로 쓰지 않는다. 경계 대비 Sony57.092DN/Basler43.796DN. 공간 high-pass residual은 영상-Gaussian(sigma1px) 차의1.4826×MAD를 전극 안쪽 및 바깥 ring에서 계산한 뒤 RMS결합한1.0525/1.5288DN이다. 표면무늬, PRNU, shot/read noise, 그레이변환을 분리하지 못하며 temporal SNR 또는 camera readnoise로 표시하지 않는다. 명암차/공간잔차 proxy는54.24/28.65로 Sony가 더 유리하다. 원맞춤 radial residual RMS=.2804/.4242px(.0484/.0530µm)는 형상 및 추출 잔차이며 정확도나 반복정밀도가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중심 민감도</a:t>
            </a:r>
          </a:p>
          <a:p xmlns:a="http://schemas.openxmlformats.org/drawingml/2006/main">
            <a:r>
              <a:t>전극의 내부·외부 gray median을 이용해30/40/50/60/70% global threshold와sigma0/.6/1/2/2.55px Gaussian을 교차변경했다. raw50% threshold 중심을 기준으로 최대거리 Sony.37797px(.06520µm), Basler.32421px(.04053µm). 더 작은 민감도는 해당 영상의 알고리즘 설정 변화에 대한 결과이며 반복촬영 정확도를 보증하지 않는다. 소수점 위치가 검출됐다는 이유로 nm accuracy를 주장하지 않는다. 카메라간 절대 center좌표를 빼면 장착위치·FOV 차이를 측정하므로 가공정밀도로 사용할 수 없다. 실제같은frame에서 d=(hole_center-electrode_center)를 계산하고 calibrated XY 및 vector길이로 평가한다.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Gaussian11 및 정규화</a:t>
            </a:r>
          </a:p>
          <a:p xmlns:a="http://schemas.openxmlformats.org/drawingml/2006/main">
            <a:r>
              <a:t>MVTec gauss_filter Size11은11×11 kernel, sigma2.55px다. OpenCV11×11 float filtering은 비교용이며 HALCON과 수치동일성을 주장하지 않는다. sigma 물체길이는 Sony.439875µm/Basler.31875µm로 동일 kernel은 동일 물체길이 평활화가 아니다. 경계폭 nominal Sony1.5504µm/Basler1.2941µm로 원본대비49.8%/27.2% 증가한다. 약한 공통물체sigma조건은 Sony.6px/Basler.828px(.1035µm)이며 폭1.0674/1.0549µm로 raw대비3.1/3.7%만 증가한다. 따라서 원본 또는 원본ROI에 약한 필터를 우선검토하고11은 잡음감소가 필요할 때 실제홀로 선택한다. scale_image_max는 매영상min/max 선형정규화로 신호와 잡음을 함께 늘리며 정보와 SNR을 복원하지 않는다. 학습·추론 전처리를 고정하고 frame마다 outlier에 흔들리는 정규화를 검토해야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YOLO 및100ms</a:t>
            </a:r>
          </a:p>
          <a:p xmlns:a="http://schemas.openxmlformats.org/drawingml/2006/main">
            <a:r>
              <a:t>YOLO는검출ROI를 제공하고 원본ROI에서 subpixel boundary fit/강건한circle fit으로 최종계측 중심을 구한다. 비원형 가공홀은 circle fit 중심, contour centroid 등 중심정의부터 공정검증으로 정해야 한다. 전체영상을width640으로 축소하면5–7µm홀은Sony7.6–10.6px/Basler9.8–13.8px로 작아지며 box 중심은정밀도보증이 아니다. 절대위치뿐 아니라 mask/keypoint 모델도 실제기준계로검증한다. </a:t>
            </a:r>
          </a:p>
          <a:p xmlns:a="http://schemas.openxmlformats.org/drawingml/2006/main">
            <a:r>
              <a:t>전처리benchmark는i7-7700HQ, Windows10, Python3.12.14, OpenCV5.0.0, CPU1thread,40warm measurements이며 fileI/O, camera transport, YOLO/GPUcopy, 결과전송을제외한다. 표에서SonyROI 비용도 별첨 HTML에 있다. 전체frame기준Basler pixels10.36%더많다. 동일ROI는유사비용이며 여기시스템의p95차이는실행변동으로카메라속도우열을뜻하지않는다. 별도512ROI Gaussian5+coarsecircle+180×113radiallocal50%subpixel+robustalgebraiccircle fit PoC는150회/15warmup에서P95Sony6.16ms/Basler7.46ms이며 홀추출과YOLO제외, 계측성능은미검증이다.</a:t>
            </a:r>
          </a:p>
          <a:p xmlns:a="http://schemas.openxmlformats.org/drawingml/2006/main">
            <a:r>
              <a:t>Basler2600×2128에서GigE1Gb/s payload-only 하한:1byte44.2624ms, RGB8 threebyte132.7872ms. 프로토콜 및SDKoverhead는추가된다. Mono/Bayer8 전송 후hostgrayconversion 또는hardwareROI를검토한다. Mono8 선택은컬러CFA를제거하지않는다. 호스트crop은전송량을줄이지않는다. Frameperiod와readout/transfer가겹칠수있어단순합산하지않는다. 100ms가image-ready-to-result인지trigger-to-result인지정의하고 실제model/GPU/N개ROI, YOLOpreprocess/inference/postprocess, hole/electrode양center, calibratedresult까지동일조건에서P95/P99/최대지연을측정한다. 현자료로100ms보증은할수없다.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최종판정시험</a:t>
            </a:r>
          </a:p>
          <a:p xmlns:a="http://schemas.openxmlformats.org/drawingml/2006/main">
            <a:r>
              <a:t>실측stage격자또는전극knownsize로XYµm/px 및왜곡을보정한다. 센서color/gray변환, rawformat, gain,gamma,blacklevel,focus,viewport를기록한다. user고정10µs/HP30/20x를유지한다. 원본1페이지30µs표기는이번BMP10µs조건과구분한다. 실제5/6/7µm가공홀 및위치범위를포함한시료를카메라별반복100장정도(시험계획예시)촬영한다. 사전에공정허용오차T와계측허용오차U를정하고, 기준계(reference measurement)의불확실도도검토한다. Δx/Δy/vector의bias, 반복std, 실패율,기준계대비오차및E95등의분포를비교한다. 실제홀E95&lt;=U, 불검출/형상별bias가허용기준을만족하고실장비전체지연&lt;=100ms조건을확인하면Basler최종채택가능하다. 이를충족하지못하면첨부만으로카메라가문제라단정하지말고grayconversion/focus/weakROI처리를확인한뒤Sony대안과비교한다.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첨부BMP 두파일(원본수정없음)및제공PPT1–3페이지. Basler a2A2600-20gcBAS official product documentation: https://docs.baslerweb.com/a2a2600-20gcbas</a:t>
            </a:r>
          </a:p>
          <a:p xmlns:a="http://schemas.openxmlformats.org/drawingml/2006/main">
            <a:r>
              <a:t>Sony XCG-CG series official catalog V5: https://www.sony.co.jp/Products/ISP/download/pdf/seriescatalog/XCG-CG_series_V5_s.pdf</a:t>
            </a:r>
          </a:p>
          <a:p xmlns:a="http://schemas.openxmlformats.org/drawingml/2006/main">
            <a:r>
              <a:t>Basler pixel-format documentation: https://docs.baslerweb.com/pixel-format</a:t>
            </a:r>
          </a:p>
          <a:p xmlns:a="http://schemas.openxmlformats.org/drawingml/2006/main">
            <a:r>
              <a:t>HALCON gauss_filter reference 25.05: https://www.mvtec.com/doc/halcon/2505/en/gauss_filter.html</a:t>
            </a:r>
          </a:p>
          <a:p xmlns:a="http://schemas.openxmlformats.org/drawingml/2006/main">
            <a:r>
              <a:t>HALCON scale_image_max reference 25.05: https://www.mvtec.com/doc/halcon/2505/en/scale_image_max.html</a:t>
            </a:r>
          </a:p>
          <a:p xmlns:a="http://schemas.openxmlformats.org/drawingml/2006/main">
            <a:r>
              <a:t>Ultralytics predict documentation: https://docs.ultralytics.com/modes/predict</a:t>
            </a:r>
          </a:p>
          <a:p xmlns:a="http://schemas.openxmlformats.org/drawingml/2006/main">
            <a:r>
              <a:t>HALCON subpixel edge detection reference: https://www.mvtec.com/doc/halcon/2505/en/edges_sub_pix.html</a:t>
            </a:r>
          </a:p>
          <a:p xmlns:a="http://schemas.openxmlformats.org/drawingml/2006/main">
            <a:r>
              <a:t>HALCON fit_circle_contour_xld reference: https://www.mvtec.com/doc/halcon/2505/en/fit_circle_contour_xld.html</a:t>
            </a:r>
          </a:p>
          <a:p xmlns:a="http://schemas.openxmlformats.org/drawingml/2006/main">
            <a:r>
              <a:t>Basler image ROI documentation: https://docs.baslerweb.com/image-roi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분석재현파일</a:t>
            </a:r>
          </a:p>
          <a:p xmlns:a="http://schemas.openxmlformats.org/drawingml/2006/main">
            <a:r>
              <a:t>Camera_Comparison_20261014/analysis/analyze_cameras.py, metrics.json, *_edge_profile.csv, fast_roi_benchmark.py. benchmarks/preprocess_benchmark.py 및json. 세부표·방법·한계는동봉HTML보고서에서확인가능하다.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2955" y="1237197"/>
            <a:ext cx="8873490" cy="263188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04931" y="3970582"/>
            <a:ext cx="7829551" cy="1825171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3" indent="0" algn="ctr">
              <a:buNone/>
              <a:defRPr sz="2000"/>
            </a:lvl2pPr>
            <a:lvl3pPr marL="914405" indent="0" algn="ctr">
              <a:buNone/>
              <a:defRPr sz="1800"/>
            </a:lvl3pPr>
            <a:lvl4pPr marL="1371608" indent="0" algn="ctr">
              <a:buNone/>
              <a:defRPr sz="1600"/>
            </a:lvl4pPr>
            <a:lvl5pPr marL="1828810" indent="0" algn="ctr">
              <a:buNone/>
              <a:defRPr sz="1600"/>
            </a:lvl5pPr>
            <a:lvl6pPr marL="2286013" indent="0" algn="ctr">
              <a:buNone/>
              <a:defRPr sz="1600"/>
            </a:lvl6pPr>
            <a:lvl7pPr marL="2743216" indent="0" algn="ctr">
              <a:buNone/>
              <a:defRPr sz="1600"/>
            </a:lvl7pPr>
            <a:lvl8pPr marL="3200418" indent="0" algn="ctr">
              <a:buNone/>
              <a:defRPr sz="1600"/>
            </a:lvl8pPr>
            <a:lvl9pPr marL="3657621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A16C5-5EFC-419A-9909-D2152CA15F8C}" type="datetimeFigureOut">
              <a:rPr lang="ko-KR" altLang="en-US" smtClean="0"/>
              <a:t>2026-10-13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AA2CB-7BB8-469D-BEA9-43D638B4300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03722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A16C5-5EFC-419A-9909-D2152CA15F8C}" type="datetimeFigureOut">
              <a:rPr lang="ko-KR" altLang="en-US" smtClean="0"/>
              <a:t>2026-10-13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AA2CB-7BB8-469D-BEA9-43D638B4300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55154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2272" y="1884679"/>
            <a:ext cx="9003983" cy="3144614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2272" y="5059045"/>
            <a:ext cx="9003983" cy="165367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3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1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1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1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2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A16C5-5EFC-419A-9909-D2152CA15F8C}" type="datetimeFigureOut">
              <a:rPr lang="ko-KR" altLang="en-US" smtClean="0"/>
              <a:t>2026-10-13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AA2CB-7BB8-469D-BEA9-43D638B4300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81086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7711" y="2012414"/>
            <a:ext cx="4436745" cy="4796544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84946" y="2012414"/>
            <a:ext cx="4436745" cy="4796544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A16C5-5EFC-419A-9909-D2152CA15F8C}" type="datetimeFigureOut">
              <a:rPr lang="ko-KR" altLang="en-US" smtClean="0"/>
              <a:t>2026-10-13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AA2CB-7BB8-469D-BEA9-43D638B4300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31954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071" y="402490"/>
            <a:ext cx="9003983" cy="1461188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9074" y="1853171"/>
            <a:ext cx="4416355" cy="90821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3" indent="0">
              <a:buNone/>
              <a:defRPr sz="2000" b="1"/>
            </a:lvl2pPr>
            <a:lvl3pPr marL="914405" indent="0">
              <a:buNone/>
              <a:defRPr sz="1800" b="1"/>
            </a:lvl3pPr>
            <a:lvl4pPr marL="1371608" indent="0">
              <a:buNone/>
              <a:defRPr sz="1600" b="1"/>
            </a:lvl4pPr>
            <a:lvl5pPr marL="1828810" indent="0">
              <a:buNone/>
              <a:defRPr sz="1600" b="1"/>
            </a:lvl5pPr>
            <a:lvl6pPr marL="2286013" indent="0">
              <a:buNone/>
              <a:defRPr sz="1600" b="1"/>
            </a:lvl6pPr>
            <a:lvl7pPr marL="2743216" indent="0">
              <a:buNone/>
              <a:defRPr sz="1600" b="1"/>
            </a:lvl7pPr>
            <a:lvl8pPr marL="3200418" indent="0">
              <a:buNone/>
              <a:defRPr sz="1600" b="1"/>
            </a:lvl8pPr>
            <a:lvl9pPr marL="3657621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" y="2761381"/>
            <a:ext cx="4416355" cy="4061576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84949" y="1853171"/>
            <a:ext cx="4438105" cy="90821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3" indent="0">
              <a:buNone/>
              <a:defRPr sz="2000" b="1"/>
            </a:lvl2pPr>
            <a:lvl3pPr marL="914405" indent="0">
              <a:buNone/>
              <a:defRPr sz="1800" b="1"/>
            </a:lvl3pPr>
            <a:lvl4pPr marL="1371608" indent="0">
              <a:buNone/>
              <a:defRPr sz="1600" b="1"/>
            </a:lvl4pPr>
            <a:lvl5pPr marL="1828810" indent="0">
              <a:buNone/>
              <a:defRPr sz="1600" b="1"/>
            </a:lvl5pPr>
            <a:lvl6pPr marL="2286013" indent="0">
              <a:buNone/>
              <a:defRPr sz="1600" b="1"/>
            </a:lvl6pPr>
            <a:lvl7pPr marL="2743216" indent="0">
              <a:buNone/>
              <a:defRPr sz="1600" b="1"/>
            </a:lvl7pPr>
            <a:lvl8pPr marL="3200418" indent="0">
              <a:buNone/>
              <a:defRPr sz="1600" b="1"/>
            </a:lvl8pPr>
            <a:lvl9pPr marL="3657621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84949" y="2761381"/>
            <a:ext cx="4438105" cy="4061576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A16C5-5EFC-419A-9909-D2152CA15F8C}" type="datetimeFigureOut">
              <a:rPr lang="ko-KR" altLang="en-US" smtClean="0"/>
              <a:t>2026-10-13</a:t>
            </a:fld>
            <a:endParaRPr lang="ko-KR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AA2CB-7BB8-469D-BEA9-43D638B4300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17741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A16C5-5EFC-419A-9909-D2152CA15F8C}" type="datetimeFigureOut">
              <a:rPr lang="ko-KR" altLang="en-US" smtClean="0"/>
              <a:t>2026-10-13</a:t>
            </a:fld>
            <a:endParaRPr lang="ko-KR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AA2CB-7BB8-469D-BEA9-43D638B43005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6" name="Line 29"/>
          <p:cNvSpPr>
            <a:spLocks noChangeShapeType="1"/>
          </p:cNvSpPr>
          <p:nvPr userDrawn="1"/>
        </p:nvSpPr>
        <p:spPr bwMode="auto">
          <a:xfrm>
            <a:off x="285663" y="866795"/>
            <a:ext cx="9837395" cy="0"/>
          </a:xfrm>
          <a:prstGeom prst="line">
            <a:avLst/>
          </a:prstGeom>
          <a:noFill/>
          <a:ln w="28575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/>
          <a:lstStyle/>
          <a:p>
            <a:pPr algn="ctr" eaLnBrk="1" hangingPunct="1">
              <a:lnSpc>
                <a:spcPct val="130000"/>
              </a:lnSpc>
              <a:buFont typeface="Wingdings" panose="05000000000000000000" pitchFamily="2" charset="2"/>
              <a:buNone/>
              <a:defRPr/>
            </a:pPr>
            <a:endParaRPr lang="ko-KR" altLang="en-US" sz="1800" dirty="0">
              <a:ea typeface="굴림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26237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ine 29"/>
          <p:cNvSpPr>
            <a:spLocks noChangeShapeType="1"/>
          </p:cNvSpPr>
          <p:nvPr userDrawn="1"/>
        </p:nvSpPr>
        <p:spPr bwMode="auto">
          <a:xfrm>
            <a:off x="285663" y="866795"/>
            <a:ext cx="9837395" cy="0"/>
          </a:xfrm>
          <a:prstGeom prst="line">
            <a:avLst/>
          </a:prstGeom>
          <a:noFill/>
          <a:ln w="28575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/>
          <a:lstStyle/>
          <a:p>
            <a:pPr algn="ctr" eaLnBrk="1" hangingPunct="1">
              <a:lnSpc>
                <a:spcPct val="130000"/>
              </a:lnSpc>
              <a:buFont typeface="Wingdings" panose="05000000000000000000" pitchFamily="2" charset="2"/>
              <a:buNone/>
              <a:defRPr/>
            </a:pPr>
            <a:endParaRPr lang="ko-KR" altLang="en-US" sz="1800" dirty="0">
              <a:ea typeface="굴림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78237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075" y="503978"/>
            <a:ext cx="3366978" cy="176392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38107" y="1088465"/>
            <a:ext cx="5284947" cy="537226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9075" y="2267902"/>
            <a:ext cx="3366978" cy="4201570"/>
          </a:xfrm>
        </p:spPr>
        <p:txBody>
          <a:bodyPr/>
          <a:lstStyle>
            <a:lvl1pPr marL="0" indent="0">
              <a:buNone/>
              <a:defRPr sz="1600"/>
            </a:lvl1pPr>
            <a:lvl2pPr marL="457203" indent="0">
              <a:buNone/>
              <a:defRPr sz="1400"/>
            </a:lvl2pPr>
            <a:lvl3pPr marL="914405" indent="0">
              <a:buNone/>
              <a:defRPr sz="1200"/>
            </a:lvl3pPr>
            <a:lvl4pPr marL="1371608" indent="0">
              <a:buNone/>
              <a:defRPr sz="1000"/>
            </a:lvl4pPr>
            <a:lvl5pPr marL="1828810" indent="0">
              <a:buNone/>
              <a:defRPr sz="1000"/>
            </a:lvl5pPr>
            <a:lvl6pPr marL="2286013" indent="0">
              <a:buNone/>
              <a:defRPr sz="1000"/>
            </a:lvl6pPr>
            <a:lvl7pPr marL="2743216" indent="0">
              <a:buNone/>
              <a:defRPr sz="1000"/>
            </a:lvl7pPr>
            <a:lvl8pPr marL="3200418" indent="0">
              <a:buNone/>
              <a:defRPr sz="1000"/>
            </a:lvl8pPr>
            <a:lvl9pPr marL="3657621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A16C5-5EFC-419A-9909-D2152CA15F8C}" type="datetimeFigureOut">
              <a:rPr lang="ko-KR" altLang="en-US" smtClean="0"/>
              <a:t>2026-10-13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AA2CB-7BB8-469D-BEA9-43D638B4300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52546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075" y="503978"/>
            <a:ext cx="3366978" cy="176392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38107" y="1088465"/>
            <a:ext cx="5284947" cy="537226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3" indent="0">
              <a:buNone/>
              <a:defRPr sz="2800"/>
            </a:lvl2pPr>
            <a:lvl3pPr marL="914405" indent="0">
              <a:buNone/>
              <a:defRPr sz="2400"/>
            </a:lvl3pPr>
            <a:lvl4pPr marL="1371608" indent="0">
              <a:buNone/>
              <a:defRPr sz="2000"/>
            </a:lvl4pPr>
            <a:lvl5pPr marL="1828810" indent="0">
              <a:buNone/>
              <a:defRPr sz="2000"/>
            </a:lvl5pPr>
            <a:lvl6pPr marL="2286013" indent="0">
              <a:buNone/>
              <a:defRPr sz="2000"/>
            </a:lvl6pPr>
            <a:lvl7pPr marL="2743216" indent="0">
              <a:buNone/>
              <a:defRPr sz="2000"/>
            </a:lvl7pPr>
            <a:lvl8pPr marL="3200418" indent="0">
              <a:buNone/>
              <a:defRPr sz="2000"/>
            </a:lvl8pPr>
            <a:lvl9pPr marL="3657621" indent="0">
              <a:buNone/>
              <a:defRPr sz="2000"/>
            </a:lvl9pPr>
          </a:lstStyle>
          <a:p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9075" y="2267902"/>
            <a:ext cx="3366978" cy="4201570"/>
          </a:xfrm>
        </p:spPr>
        <p:txBody>
          <a:bodyPr/>
          <a:lstStyle>
            <a:lvl1pPr marL="0" indent="0">
              <a:buNone/>
              <a:defRPr sz="1600"/>
            </a:lvl1pPr>
            <a:lvl2pPr marL="457203" indent="0">
              <a:buNone/>
              <a:defRPr sz="1400"/>
            </a:lvl2pPr>
            <a:lvl3pPr marL="914405" indent="0">
              <a:buNone/>
              <a:defRPr sz="1200"/>
            </a:lvl3pPr>
            <a:lvl4pPr marL="1371608" indent="0">
              <a:buNone/>
              <a:defRPr sz="1000"/>
            </a:lvl4pPr>
            <a:lvl5pPr marL="1828810" indent="0">
              <a:buNone/>
              <a:defRPr sz="1000"/>
            </a:lvl5pPr>
            <a:lvl6pPr marL="2286013" indent="0">
              <a:buNone/>
              <a:defRPr sz="1000"/>
            </a:lvl6pPr>
            <a:lvl7pPr marL="2743216" indent="0">
              <a:buNone/>
              <a:defRPr sz="1000"/>
            </a:lvl7pPr>
            <a:lvl8pPr marL="3200418" indent="0">
              <a:buNone/>
              <a:defRPr sz="1000"/>
            </a:lvl8pPr>
            <a:lvl9pPr marL="3657621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A16C5-5EFC-419A-9909-D2152CA15F8C}" type="datetimeFigureOut">
              <a:rPr lang="ko-KR" altLang="en-US" smtClean="0"/>
              <a:t>2026-10-13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AA2CB-7BB8-469D-BEA9-43D638B4300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00910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BarOutliner" hidden="1"/>
          <p:cNvSpPr>
            <a:spLocks noChangeArrowheads="1"/>
          </p:cNvSpPr>
          <p:nvPr>
            <p:custDataLst>
              <p:tags r:id="rId1"/>
            </p:custDataLst>
          </p:nvPr>
        </p:nvSpPr>
        <p:spPr bwMode="white">
          <a:xfrm>
            <a:off x="0" y="2220660"/>
            <a:ext cx="10439400" cy="3118366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eaLnBrk="0" hangingPunct="0"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1pPr>
            <a:lvl2pPr marL="742950" indent="-285750" eaLnBrk="0" hangingPunct="0"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2pPr>
            <a:lvl3pPr marL="1143000" indent="-228600" eaLnBrk="0" hangingPunct="0"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3pPr>
            <a:lvl4pPr marL="1600200" indent="-228600" eaLnBrk="0" hangingPunct="0"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4pPr>
            <a:lvl5pPr marL="2057400" indent="-228600" eaLnBrk="0" hangingPunct="0"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5pPr>
            <a:lvl6pPr marL="2514600" indent="-228600"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2971800" indent="-228600"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429000" indent="-228600"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3886200" indent="-228600"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algn="ctr">
              <a:spcBef>
                <a:spcPct val="50000"/>
              </a:spcBef>
              <a:defRPr/>
            </a:pPr>
            <a:endParaRPr kumimoji="0" lang="ko-KR" altLang="en-US" sz="1199" dirty="0">
              <a:latin typeface="나눔고딕" panose="020D0604000000000000" pitchFamily="50" charset="-127"/>
              <a:ea typeface="굴림" pitchFamily="50" charset="-127"/>
            </a:endParaRPr>
          </a:p>
        </p:txBody>
      </p:sp>
      <p:pic>
        <p:nvPicPr>
          <p:cNvPr id="3" name="LogoMainW" descr="MER_FC_w" hidden="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603" y="447992"/>
            <a:ext cx="3205300" cy="9712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AdditionalLogoW" descr="Pillars_w" hidden="1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9026" y="335986"/>
            <a:ext cx="4470680" cy="503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그림 6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" y="0"/>
            <a:ext cx="10444421" cy="755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84431792"/>
      </p:ext>
    </p:extLst>
  </p:cSld>
  <p:clrMapOvr>
    <a:masterClrMapping/>
  </p:clrMapOvr>
  <p:transition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5E66A4B6-FA9D-40FA-8F71-0B4F6C83A888}"/>
              </a:ext>
            </a:extLst>
          </p:cNvPr>
          <p:cNvSpPr/>
          <p:nvPr userDrawn="1"/>
        </p:nvSpPr>
        <p:spPr>
          <a:xfrm>
            <a:off x="6223254" y="7216131"/>
            <a:ext cx="4004596" cy="2870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ko-KR" sz="1265" b="1" i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 Dynamic IPS _ Make BIG Difference</a:t>
            </a:r>
            <a:endParaRPr lang="en-US" altLang="ko-KR" sz="1265" b="1" i="0" dirty="0">
              <a:solidFill>
                <a:srgbClr val="000000"/>
              </a:solidFill>
              <a:effectLst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Line 29">
            <a:extLst>
              <a:ext uri="{FF2B5EF4-FFF2-40B4-BE49-F238E27FC236}">
                <a16:creationId xmlns:a16="http://schemas.microsoft.com/office/drawing/2014/main" id="{439F5EAC-15BD-4587-B728-B82A58930012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359106" y="7212140"/>
            <a:ext cx="9868744" cy="0"/>
          </a:xfrm>
          <a:prstGeom prst="line">
            <a:avLst/>
          </a:prstGeom>
          <a:noFill/>
          <a:ln w="9525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/>
          <a:lstStyle/>
          <a:p>
            <a:pPr algn="ctr" eaLnBrk="1" hangingPunct="1">
              <a:lnSpc>
                <a:spcPct val="130000"/>
              </a:lnSpc>
              <a:buFont typeface="Wingdings" panose="05000000000000000000" pitchFamily="2" charset="2"/>
              <a:buNone/>
              <a:defRPr/>
            </a:pPr>
            <a:endParaRPr lang="ko-KR" altLang="en-US" sz="1897" dirty="0">
              <a:ea typeface="굴림" charset="-127"/>
            </a:endParaRPr>
          </a:p>
        </p:txBody>
      </p:sp>
      <p:sp>
        <p:nvSpPr>
          <p:cNvPr id="11" name="Line 29">
            <a:extLst>
              <a:ext uri="{FF2B5EF4-FFF2-40B4-BE49-F238E27FC236}">
                <a16:creationId xmlns:a16="http://schemas.microsoft.com/office/drawing/2014/main" id="{9BF94AC9-9B72-43D4-A29C-3A85C6E8B536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285656" y="586894"/>
            <a:ext cx="9868744" cy="0"/>
          </a:xfrm>
          <a:prstGeom prst="line">
            <a:avLst/>
          </a:prstGeom>
          <a:noFill/>
          <a:ln w="28575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/>
          <a:lstStyle/>
          <a:p>
            <a:pPr algn="ctr" eaLnBrk="1" hangingPunct="1">
              <a:lnSpc>
                <a:spcPct val="130000"/>
              </a:lnSpc>
              <a:buFont typeface="Wingdings" panose="05000000000000000000" pitchFamily="2" charset="2"/>
              <a:buNone/>
              <a:defRPr/>
            </a:pPr>
            <a:endParaRPr lang="ko-KR" altLang="en-US" sz="1897" dirty="0">
              <a:ea typeface="굴림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F082A88B-392E-4E61-8395-42FA04492C18}"/>
              </a:ext>
            </a:extLst>
          </p:cNvPr>
          <p:cNvGrpSpPr/>
          <p:nvPr userDrawn="1"/>
        </p:nvGrpSpPr>
        <p:grpSpPr>
          <a:xfrm>
            <a:off x="8799283" y="87107"/>
            <a:ext cx="1428571" cy="513460"/>
            <a:chOff x="9982283" y="-64939"/>
            <a:chExt cx="1521756" cy="571517"/>
          </a:xfrm>
        </p:grpSpPr>
        <p:pic>
          <p:nvPicPr>
            <p:cNvPr id="13" name="그림 3" descr="영문시그니춰_대문자(R)2.png">
              <a:extLst>
                <a:ext uri="{FF2B5EF4-FFF2-40B4-BE49-F238E27FC236}">
                  <a16:creationId xmlns:a16="http://schemas.microsoft.com/office/drawing/2014/main" id="{99FC1FED-2D37-4C42-B571-05DC1011C82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82283" y="-64939"/>
              <a:ext cx="1521753" cy="3389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" name="바닥글 개체 틀 1">
              <a:extLst>
                <a:ext uri="{FF2B5EF4-FFF2-40B4-BE49-F238E27FC236}">
                  <a16:creationId xmlns:a16="http://schemas.microsoft.com/office/drawing/2014/main" id="{D4812CB6-755E-43FC-8185-FAD9CFBA8F3D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0212705" y="209716"/>
              <a:ext cx="1291334" cy="296862"/>
            </a:xfrm>
            <a:prstGeom prst="rect">
              <a:avLst/>
            </a:prstGeom>
            <a:noFill/>
          </p:spPr>
          <p:txBody>
            <a:bodyPr anchor="ctr"/>
            <a:lstStyle>
              <a:defPPr>
                <a:defRPr lang="ko-KR"/>
              </a:defPPr>
              <a:lvl1pPr marL="0" algn="l" defTabSz="914400" rtl="0" eaLnBrk="1" latinLnBrk="1" hangingPunct="1">
                <a:defRPr sz="1108" b="1" kern="1200">
                  <a:solidFill>
                    <a:srgbClr val="FF0000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843" dirty="0">
                  <a:latin typeface="Arial" panose="020B0604020202020204" pitchFamily="34" charset="0"/>
                  <a:ea typeface="KoPubWorld돋움체 Medium" panose="00000600000000000000" pitchFamily="2" charset="-127"/>
                  <a:cs typeface="Arial" panose="020B0604020202020204" pitchFamily="34" charset="0"/>
                </a:rPr>
                <a:t>WONIK Confidential</a:t>
              </a:r>
              <a:endParaRPr kumimoji="0" lang="ko-KR" altLang="en-US" sz="843" dirty="0">
                <a:latin typeface="Arial" panose="020B0604020202020204" pitchFamily="34" charset="0"/>
                <a:ea typeface="KoPubWorld돋움체 Medium" panose="00000600000000000000" pitchFamily="2" charset="-127"/>
                <a:cs typeface="Arial" panose="020B0604020202020204" pitchFamily="34" charset="0"/>
              </a:endParaRPr>
            </a:p>
          </p:txBody>
        </p:sp>
      </p:grpSp>
      <p:sp>
        <p:nvSpPr>
          <p:cNvPr id="8" name="슬라이드 번호 개체 틀 4">
            <a:extLst>
              <a:ext uri="{FF2B5EF4-FFF2-40B4-BE49-F238E27FC236}">
                <a16:creationId xmlns:a16="http://schemas.microsoft.com/office/drawing/2014/main" id="{52D42A12-E6D6-419C-99ED-0B10466AD090}"/>
              </a:ext>
            </a:extLst>
          </p:cNvPr>
          <p:cNvSpPr txBox="1">
            <a:spLocks/>
          </p:cNvSpPr>
          <p:nvPr userDrawn="1"/>
        </p:nvSpPr>
        <p:spPr>
          <a:xfrm>
            <a:off x="3355418" y="7212142"/>
            <a:ext cx="3697877" cy="402483"/>
          </a:xfrm>
          <a:prstGeom prst="rect">
            <a:avLst/>
          </a:prstGeom>
        </p:spPr>
        <p:txBody>
          <a:bodyPr vert="horz" lIns="96410" tIns="48205" rIns="96410" bIns="48205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현대산스 Text Medium" panose="020B0600000101010101" pitchFamily="50" charset="-127"/>
                <a:ea typeface="현대산스 Text Medium" panose="020B0600000101010101" pitchFamily="50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407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782BAE-520B-4D27-BC31-860BE610106F}" type="slidenum">
              <a:rPr kumimoji="0" lang="ko-KR" altLang="en-US" sz="948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+mn-cs"/>
              </a:rPr>
              <a:pPr marL="0" marR="0" lvl="0" indent="0" algn="ctr" defTabSz="964076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altLang="ko-KR" sz="948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+mn-cs"/>
              </a:rPr>
              <a:t>/1</a:t>
            </a:r>
            <a:endParaRPr kumimoji="0" lang="ko-KR" altLang="en-US" sz="948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KoPubWorld돋움체 Medium" panose="00000600000000000000" pitchFamily="2" charset="-127"/>
              <a:ea typeface="KoPubWorld돋움체 Medium" panose="00000600000000000000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25397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BarOutliner" hidden="1"/>
          <p:cNvSpPr>
            <a:spLocks noChangeArrowheads="1"/>
          </p:cNvSpPr>
          <p:nvPr>
            <p:custDataLst>
              <p:tags r:id="rId1"/>
            </p:custDataLst>
          </p:nvPr>
        </p:nvSpPr>
        <p:spPr bwMode="white">
          <a:xfrm>
            <a:off x="0" y="2220659"/>
            <a:ext cx="10439400" cy="3118366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eaLnBrk="0" hangingPunct="0"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1pPr>
            <a:lvl2pPr marL="742950" indent="-285750" eaLnBrk="0" hangingPunct="0"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2pPr>
            <a:lvl3pPr marL="1143000" indent="-228600" eaLnBrk="0" hangingPunct="0"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3pPr>
            <a:lvl4pPr marL="1600200" indent="-228600" eaLnBrk="0" hangingPunct="0"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4pPr>
            <a:lvl5pPr marL="2057400" indent="-228600" eaLnBrk="0" hangingPunct="0"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5pPr>
            <a:lvl6pPr marL="2514600" indent="-228600"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2971800" indent="-228600"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429000" indent="-228600"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3886200" indent="-228600"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algn="ctr">
              <a:spcBef>
                <a:spcPct val="50000"/>
              </a:spcBef>
              <a:defRPr/>
            </a:pPr>
            <a:endParaRPr kumimoji="0" lang="ko-KR" altLang="en-US" sz="1264" dirty="0">
              <a:latin typeface="나눔고딕" panose="020D0604000000000000" pitchFamily="50" charset="-127"/>
              <a:ea typeface="굴림" pitchFamily="50" charset="-127"/>
            </a:endParaRPr>
          </a:p>
        </p:txBody>
      </p:sp>
      <p:pic>
        <p:nvPicPr>
          <p:cNvPr id="3" name="LogoMainW" descr="MER_FC_w" hidden="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602" y="447984"/>
            <a:ext cx="3205299" cy="9712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AdditionalLogoW" descr="Pillars_w" hidden="1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9027" y="335986"/>
            <a:ext cx="4470680" cy="503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그림 6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444421" cy="755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20509204"/>
      </p:ext>
    </p:extLst>
  </p:cSld>
  <p:clrMapOvr>
    <a:masterClrMapping/>
  </p:clrMapOvr>
  <p:transition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만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AC71F45-3D84-4383-8CD3-A3907B2CF275}"/>
              </a:ext>
            </a:extLst>
          </p:cNvPr>
          <p:cNvSpPr/>
          <p:nvPr userDrawn="1"/>
        </p:nvSpPr>
        <p:spPr>
          <a:xfrm>
            <a:off x="3709109" y="1483936"/>
            <a:ext cx="3401131" cy="8959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75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53CC6F-0E2B-4E69-A5AC-7DE021BFDB2B}"/>
              </a:ext>
            </a:extLst>
          </p:cNvPr>
          <p:cNvSpPr txBox="1"/>
          <p:nvPr userDrawn="1"/>
        </p:nvSpPr>
        <p:spPr>
          <a:xfrm>
            <a:off x="6666175" y="7079469"/>
            <a:ext cx="3696427" cy="3877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1460" b="1" i="1" dirty="0">
                <a:solidFill>
                  <a:srgbClr val="0E529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“Dynamic IPS, Make BIG Difference”</a:t>
            </a:r>
            <a:endParaRPr lang="ko-KR" altLang="en-US" sz="1460" b="1" i="1" dirty="0">
              <a:solidFill>
                <a:srgbClr val="0E5296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D02C4B2-143D-481B-B2EC-1C5B2539DF28}"/>
              </a:ext>
            </a:extLst>
          </p:cNvPr>
          <p:cNvSpPr/>
          <p:nvPr userDrawn="1"/>
        </p:nvSpPr>
        <p:spPr>
          <a:xfrm>
            <a:off x="1" y="0"/>
            <a:ext cx="4128944" cy="7559675"/>
          </a:xfrm>
          <a:prstGeom prst="rect">
            <a:avLst/>
          </a:prstGeom>
          <a:solidFill>
            <a:srgbClr val="4491FE">
              <a:alpha val="80000"/>
            </a:srgb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97" dirty="0"/>
          </a:p>
        </p:txBody>
      </p:sp>
    </p:spTree>
    <p:extLst>
      <p:ext uri="{BB962C8B-B14F-4D97-AF65-F5344CB8AC3E}">
        <p14:creationId xmlns:p14="http://schemas.microsoft.com/office/powerpoint/2010/main" val="30726256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29">
            <a:extLst>
              <a:ext uri="{FF2B5EF4-FFF2-40B4-BE49-F238E27FC236}">
                <a16:creationId xmlns:a16="http://schemas.microsoft.com/office/drawing/2014/main" id="{B9237C9F-D263-43AD-BEFA-D67E000F5296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286217" y="636973"/>
            <a:ext cx="9868639" cy="0"/>
          </a:xfrm>
          <a:prstGeom prst="line">
            <a:avLst/>
          </a:prstGeom>
          <a:noFill/>
          <a:ln w="28575">
            <a:solidFill>
              <a:srgbClr val="808389"/>
            </a:solidFill>
            <a:round/>
            <a:headEnd/>
            <a:tailEnd/>
          </a:ln>
          <a:effectLst/>
        </p:spPr>
        <p:txBody>
          <a:bodyPr/>
          <a:lstStyle/>
          <a:p>
            <a:pPr algn="ctr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endParaRPr lang="ko-KR" altLang="en-US" sz="1896" dirty="0">
              <a:latin typeface="+mn-lt"/>
              <a:ea typeface="굴림" charset="-127"/>
            </a:endParaRPr>
          </a:p>
        </p:txBody>
      </p:sp>
      <p:grpSp>
        <p:nvGrpSpPr>
          <p:cNvPr id="4" name="그룹 7">
            <a:extLst>
              <a:ext uri="{FF2B5EF4-FFF2-40B4-BE49-F238E27FC236}">
                <a16:creationId xmlns:a16="http://schemas.microsoft.com/office/drawing/2014/main" id="{9C6B7211-9FB4-4FF7-8D92-E8095CA9B01E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6807288" y="106752"/>
            <a:ext cx="3421218" cy="407732"/>
            <a:chOff x="7859466" y="-43715"/>
            <a:chExt cx="3644574" cy="454000"/>
          </a:xfrm>
        </p:grpSpPr>
        <p:pic>
          <p:nvPicPr>
            <p:cNvPr id="5" name="그림 4" descr="영문시그니춰_대문자(R)2.png">
              <a:extLst>
                <a:ext uri="{FF2B5EF4-FFF2-40B4-BE49-F238E27FC236}">
                  <a16:creationId xmlns:a16="http://schemas.microsoft.com/office/drawing/2014/main" id="{C7143F7F-298E-4BFE-8ECB-05466B3EA2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59466" y="-43715"/>
              <a:ext cx="2038350" cy="454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바닥글 개체 틀 1">
              <a:extLst>
                <a:ext uri="{FF2B5EF4-FFF2-40B4-BE49-F238E27FC236}">
                  <a16:creationId xmlns:a16="http://schemas.microsoft.com/office/drawing/2014/main" id="{3A88A647-64BB-4886-B95F-288117EC9C7F}"/>
                </a:ext>
              </a:extLst>
            </p:cNvPr>
            <p:cNvSpPr txBox="1">
              <a:spLocks/>
            </p:cNvSpPr>
            <p:nvPr/>
          </p:nvSpPr>
          <p:spPr>
            <a:xfrm>
              <a:off x="9897503" y="114113"/>
              <a:ext cx="1606537" cy="296172"/>
            </a:xfrm>
            <a:prstGeom prst="rect">
              <a:avLst/>
            </a:prstGeom>
            <a:noFill/>
          </p:spPr>
          <p:txBody>
            <a:bodyPr anchor="ctr"/>
            <a:lstStyle>
              <a:defPPr>
                <a:defRPr lang="ko-KR"/>
              </a:defPPr>
              <a:lvl1pPr marL="0" algn="l" defTabSz="914400" rtl="0" eaLnBrk="1" latinLnBrk="1" hangingPunct="1">
                <a:defRPr sz="1108" b="1" kern="1200">
                  <a:solidFill>
                    <a:srgbClr val="FF0000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1053" dirty="0">
                  <a:latin typeface="Arial" panose="020B0604020202020204" pitchFamily="34" charset="0"/>
                  <a:ea typeface="KoPubWorld돋움체 Medium" panose="00000600000000000000" pitchFamily="2" charset="-127"/>
                  <a:cs typeface="Arial" panose="020B0604020202020204" pitchFamily="34" charset="0"/>
                </a:rPr>
                <a:t>WONIK Confidential</a:t>
              </a:r>
              <a:endParaRPr lang="ko-KR" altLang="en-US" sz="1053" dirty="0">
                <a:latin typeface="Arial" panose="020B0604020202020204" pitchFamily="34" charset="0"/>
                <a:ea typeface="KoPubWorld돋움체 Medium" panose="00000600000000000000" pitchFamily="2" charset="-127"/>
                <a:cs typeface="Arial" panose="020B0604020202020204" pitchFamily="34" charset="0"/>
              </a:endParaRPr>
            </a:p>
          </p:txBody>
        </p:sp>
      </p:grpSp>
      <p:sp>
        <p:nvSpPr>
          <p:cNvPr id="7" name="직사각형 10">
            <a:extLst>
              <a:ext uri="{FF2B5EF4-FFF2-40B4-BE49-F238E27FC236}">
                <a16:creationId xmlns:a16="http://schemas.microsoft.com/office/drawing/2014/main" id="{21706A48-4105-4E40-89A0-C252C873ADE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23137" y="7186947"/>
            <a:ext cx="4005369" cy="3516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/>
            <a:r>
              <a:rPr lang="en-US" altLang="ko-KR" sz="1685" b="1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Dynamic IPS _ Make BIG Difference</a:t>
            </a:r>
            <a:endParaRPr lang="en-US" altLang="ko-KR" sz="1685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Line 29">
            <a:extLst>
              <a:ext uri="{FF2B5EF4-FFF2-40B4-BE49-F238E27FC236}">
                <a16:creationId xmlns:a16="http://schemas.microsoft.com/office/drawing/2014/main" id="{8B34495B-589E-4E24-A5CA-0DFCC1B14961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286217" y="7186942"/>
            <a:ext cx="9868639" cy="0"/>
          </a:xfrm>
          <a:prstGeom prst="line">
            <a:avLst/>
          </a:prstGeom>
          <a:noFill/>
          <a:ln w="9525">
            <a:solidFill>
              <a:srgbClr val="808389"/>
            </a:solidFill>
            <a:round/>
            <a:headEnd/>
            <a:tailEnd/>
          </a:ln>
          <a:effectLst/>
        </p:spPr>
        <p:txBody>
          <a:bodyPr/>
          <a:lstStyle/>
          <a:p>
            <a:pPr algn="ctr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endParaRPr lang="ko-KR" altLang="en-US" sz="1896" dirty="0">
              <a:latin typeface="+mn-lt"/>
              <a:ea typeface="굴림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55575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7711" y="402490"/>
            <a:ext cx="9003983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711" y="2012414"/>
            <a:ext cx="9003983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7714" y="7006710"/>
            <a:ext cx="2348865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나눔고딕" panose="020D0604000000000000"/>
              </a:defRPr>
            </a:lvl1pPr>
          </a:lstStyle>
          <a:p>
            <a:fld id="{71AA16C5-5EFC-419A-9909-D2152CA15F8C}" type="datetimeFigureOut">
              <a:rPr lang="ko-KR" altLang="en-US" smtClean="0"/>
              <a:pPr/>
              <a:t>2026-10-13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8051" y="7006710"/>
            <a:ext cx="352329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나눔고딕" panose="020D0604000000000000"/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372831" y="7006710"/>
            <a:ext cx="2348865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나눔고딕" panose="020D0604000000000000"/>
              </a:defRPr>
            </a:lvl1pPr>
          </a:lstStyle>
          <a:p>
            <a:fld id="{4F5AA2CB-7BB8-469D-BEA9-43D638B4300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90931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3" r:id="rId10"/>
  </p:sldLayoutIdLst>
  <p:txStyles>
    <p:titleStyle>
      <a:lvl1pPr algn="l" defTabSz="914405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나눔고딕" panose="020D0604000000000000"/>
          <a:cs typeface="+mj-cs"/>
        </a:defRPr>
      </a:lvl1pPr>
    </p:titleStyle>
    <p:bodyStyle>
      <a:lvl1pPr marL="228601" indent="-228601" algn="l" defTabSz="914405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나눔고딕" panose="020D0604000000000000"/>
          <a:cs typeface="+mn-cs"/>
        </a:defRPr>
      </a:lvl1pPr>
      <a:lvl2pPr marL="685804" indent="-228601" algn="l" defTabSz="914405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나눔고딕" panose="020D0604000000000000"/>
          <a:cs typeface="+mn-cs"/>
        </a:defRPr>
      </a:lvl2pPr>
      <a:lvl3pPr marL="1143007" indent="-228601" algn="l" defTabSz="914405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나눔고딕" panose="020D0604000000000000"/>
          <a:cs typeface="+mn-cs"/>
        </a:defRPr>
      </a:lvl3pPr>
      <a:lvl4pPr marL="1600210" indent="-228601" algn="l" defTabSz="914405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나눔고딕" panose="020D0604000000000000"/>
          <a:cs typeface="+mn-cs"/>
        </a:defRPr>
      </a:lvl4pPr>
      <a:lvl5pPr marL="2057412" indent="-228601" algn="l" defTabSz="914405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나눔고딕" panose="020D0604000000000000"/>
          <a:cs typeface="+mn-cs"/>
        </a:defRPr>
      </a:lvl5pPr>
      <a:lvl6pPr marL="2514614" indent="-228601" algn="l" defTabSz="914405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18" indent="-228601" algn="l" defTabSz="914405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21" indent="-228601" algn="l" defTabSz="914405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24" indent="-228601" algn="l" defTabSz="914405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3" algn="l" defTabSz="91440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5" algn="l" defTabSz="91440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8" algn="l" defTabSz="91440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10" algn="l" defTabSz="91440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13" algn="l" defTabSz="91440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16" algn="l" defTabSz="91440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18" algn="l" defTabSz="91440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21" algn="l" defTabSz="91440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7710" y="402486"/>
            <a:ext cx="9003983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710" y="2012414"/>
            <a:ext cx="9003983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7709" y="7006702"/>
            <a:ext cx="2348865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5">
                <a:solidFill>
                  <a:schemeClr val="tx1">
                    <a:tint val="75000"/>
                  </a:schemeClr>
                </a:solidFill>
                <a:ea typeface="나눔고딕" panose="020D0604000000000000"/>
              </a:defRPr>
            </a:lvl1pPr>
          </a:lstStyle>
          <a:p>
            <a:fld id="{71AA16C5-5EFC-419A-9909-D2152CA15F8C}" type="datetimeFigureOut">
              <a:rPr lang="ko-KR" altLang="en-US" smtClean="0"/>
              <a:pPr/>
              <a:t>2026-10-13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8052" y="7006702"/>
            <a:ext cx="352329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5">
                <a:solidFill>
                  <a:schemeClr val="tx1">
                    <a:tint val="75000"/>
                  </a:schemeClr>
                </a:solidFill>
                <a:ea typeface="나눔고딕" panose="020D0604000000000000"/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372827" y="7006702"/>
            <a:ext cx="2348865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5">
                <a:solidFill>
                  <a:schemeClr val="tx1">
                    <a:tint val="75000"/>
                  </a:schemeClr>
                </a:solidFill>
                <a:ea typeface="나눔고딕" panose="020D0604000000000000"/>
              </a:defRPr>
            </a:lvl1pPr>
          </a:lstStyle>
          <a:p>
            <a:fld id="{4F5AA2CB-7BB8-469D-BEA9-43D638B4300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2733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</p:sldLayoutIdLst>
  <p:txStyles>
    <p:titleStyle>
      <a:lvl1pPr algn="l" defTabSz="963595" rtl="0" eaLnBrk="1" latinLnBrk="1" hangingPunct="1">
        <a:lnSpc>
          <a:spcPct val="90000"/>
        </a:lnSpc>
        <a:spcBef>
          <a:spcPct val="0"/>
        </a:spcBef>
        <a:buNone/>
        <a:defRPr sz="4637" kern="1200">
          <a:solidFill>
            <a:schemeClr val="tx1"/>
          </a:solidFill>
          <a:latin typeface="+mj-lt"/>
          <a:ea typeface="나눔고딕" panose="020D0604000000000000"/>
          <a:cs typeface="+mj-cs"/>
        </a:defRPr>
      </a:lvl1pPr>
    </p:titleStyle>
    <p:bodyStyle>
      <a:lvl1pPr marL="240899" indent="-240899" algn="l" defTabSz="963595" rtl="0" eaLnBrk="1" latinLnBrk="1" hangingPunct="1">
        <a:lnSpc>
          <a:spcPct val="90000"/>
        </a:lnSpc>
        <a:spcBef>
          <a:spcPts val="1054"/>
        </a:spcBef>
        <a:buFont typeface="Arial" panose="020B0604020202020204" pitchFamily="34" charset="0"/>
        <a:buChar char="•"/>
        <a:defRPr sz="2951" kern="1200">
          <a:solidFill>
            <a:schemeClr val="tx1"/>
          </a:solidFill>
          <a:latin typeface="+mn-lt"/>
          <a:ea typeface="나눔고딕" panose="020D0604000000000000"/>
          <a:cs typeface="+mn-cs"/>
        </a:defRPr>
      </a:lvl1pPr>
      <a:lvl2pPr marL="722696" indent="-240899" algn="l" defTabSz="963595" rtl="0" eaLnBrk="1" latinLnBrk="1" hangingPunct="1">
        <a:lnSpc>
          <a:spcPct val="90000"/>
        </a:lnSpc>
        <a:spcBef>
          <a:spcPts val="527"/>
        </a:spcBef>
        <a:buFont typeface="Arial" panose="020B0604020202020204" pitchFamily="34" charset="0"/>
        <a:buChar char="•"/>
        <a:defRPr sz="2529" kern="1200">
          <a:solidFill>
            <a:schemeClr val="tx1"/>
          </a:solidFill>
          <a:latin typeface="+mn-lt"/>
          <a:ea typeface="나눔고딕" panose="020D0604000000000000"/>
          <a:cs typeface="+mn-cs"/>
        </a:defRPr>
      </a:lvl2pPr>
      <a:lvl3pPr marL="1204493" indent="-240899" algn="l" defTabSz="963595" rtl="0" eaLnBrk="1" latinLnBrk="1" hangingPunct="1">
        <a:lnSpc>
          <a:spcPct val="90000"/>
        </a:lnSpc>
        <a:spcBef>
          <a:spcPts val="527"/>
        </a:spcBef>
        <a:buFont typeface="Arial" panose="020B0604020202020204" pitchFamily="34" charset="0"/>
        <a:buChar char="•"/>
        <a:defRPr sz="2108" kern="1200">
          <a:solidFill>
            <a:schemeClr val="tx1"/>
          </a:solidFill>
          <a:latin typeface="+mn-lt"/>
          <a:ea typeface="나눔고딕" panose="020D0604000000000000"/>
          <a:cs typeface="+mn-cs"/>
        </a:defRPr>
      </a:lvl3pPr>
      <a:lvl4pPr marL="1686291" indent="-240899" algn="l" defTabSz="963595" rtl="0" eaLnBrk="1" latinLnBrk="1" hangingPunct="1">
        <a:lnSpc>
          <a:spcPct val="90000"/>
        </a:lnSpc>
        <a:spcBef>
          <a:spcPts val="527"/>
        </a:spcBef>
        <a:buFont typeface="Arial" panose="020B0604020202020204" pitchFamily="34" charset="0"/>
        <a:buChar char="•"/>
        <a:defRPr sz="1897" kern="1200">
          <a:solidFill>
            <a:schemeClr val="tx1"/>
          </a:solidFill>
          <a:latin typeface="+mn-lt"/>
          <a:ea typeface="나눔고딕" panose="020D0604000000000000"/>
          <a:cs typeface="+mn-cs"/>
        </a:defRPr>
      </a:lvl4pPr>
      <a:lvl5pPr marL="2168088" indent="-240899" algn="l" defTabSz="963595" rtl="0" eaLnBrk="1" latinLnBrk="1" hangingPunct="1">
        <a:lnSpc>
          <a:spcPct val="90000"/>
        </a:lnSpc>
        <a:spcBef>
          <a:spcPts val="527"/>
        </a:spcBef>
        <a:buFont typeface="Arial" panose="020B0604020202020204" pitchFamily="34" charset="0"/>
        <a:buChar char="•"/>
        <a:defRPr sz="1897" kern="1200">
          <a:solidFill>
            <a:schemeClr val="tx1"/>
          </a:solidFill>
          <a:latin typeface="+mn-lt"/>
          <a:ea typeface="나눔고딕" panose="020D0604000000000000"/>
          <a:cs typeface="+mn-cs"/>
        </a:defRPr>
      </a:lvl5pPr>
      <a:lvl6pPr marL="2649885" indent="-240899" algn="l" defTabSz="963595" rtl="0" eaLnBrk="1" latinLnBrk="1" hangingPunct="1">
        <a:lnSpc>
          <a:spcPct val="90000"/>
        </a:lnSpc>
        <a:spcBef>
          <a:spcPts val="527"/>
        </a:spcBef>
        <a:buFont typeface="Arial" panose="020B0604020202020204" pitchFamily="34" charset="0"/>
        <a:buChar char="•"/>
        <a:defRPr sz="1897" kern="1200">
          <a:solidFill>
            <a:schemeClr val="tx1"/>
          </a:solidFill>
          <a:latin typeface="+mn-lt"/>
          <a:ea typeface="+mn-ea"/>
          <a:cs typeface="+mn-cs"/>
        </a:defRPr>
      </a:lvl6pPr>
      <a:lvl7pPr marL="3131683" indent="-240899" algn="l" defTabSz="963595" rtl="0" eaLnBrk="1" latinLnBrk="1" hangingPunct="1">
        <a:lnSpc>
          <a:spcPct val="90000"/>
        </a:lnSpc>
        <a:spcBef>
          <a:spcPts val="527"/>
        </a:spcBef>
        <a:buFont typeface="Arial" panose="020B0604020202020204" pitchFamily="34" charset="0"/>
        <a:buChar char="•"/>
        <a:defRPr sz="1897" kern="1200">
          <a:solidFill>
            <a:schemeClr val="tx1"/>
          </a:solidFill>
          <a:latin typeface="+mn-lt"/>
          <a:ea typeface="+mn-ea"/>
          <a:cs typeface="+mn-cs"/>
        </a:defRPr>
      </a:lvl7pPr>
      <a:lvl8pPr marL="3613480" indent="-240899" algn="l" defTabSz="963595" rtl="0" eaLnBrk="1" latinLnBrk="1" hangingPunct="1">
        <a:lnSpc>
          <a:spcPct val="90000"/>
        </a:lnSpc>
        <a:spcBef>
          <a:spcPts val="527"/>
        </a:spcBef>
        <a:buFont typeface="Arial" panose="020B0604020202020204" pitchFamily="34" charset="0"/>
        <a:buChar char="•"/>
        <a:defRPr sz="1897" kern="1200">
          <a:solidFill>
            <a:schemeClr val="tx1"/>
          </a:solidFill>
          <a:latin typeface="+mn-lt"/>
          <a:ea typeface="+mn-ea"/>
          <a:cs typeface="+mn-cs"/>
        </a:defRPr>
      </a:lvl8pPr>
      <a:lvl9pPr marL="4095278" indent="-240899" algn="l" defTabSz="963595" rtl="0" eaLnBrk="1" latinLnBrk="1" hangingPunct="1">
        <a:lnSpc>
          <a:spcPct val="90000"/>
        </a:lnSpc>
        <a:spcBef>
          <a:spcPts val="527"/>
        </a:spcBef>
        <a:buFont typeface="Arial" panose="020B0604020202020204" pitchFamily="34" charset="0"/>
        <a:buChar char="•"/>
        <a:defRPr sz="189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3595" rtl="0" eaLnBrk="1" latinLnBrk="1" hangingPunct="1">
        <a:defRPr sz="1897" kern="1200">
          <a:solidFill>
            <a:schemeClr val="tx1"/>
          </a:solidFill>
          <a:latin typeface="+mn-lt"/>
          <a:ea typeface="+mn-ea"/>
          <a:cs typeface="+mn-cs"/>
        </a:defRPr>
      </a:lvl1pPr>
      <a:lvl2pPr marL="481797" algn="l" defTabSz="963595" rtl="0" eaLnBrk="1" latinLnBrk="1" hangingPunct="1">
        <a:defRPr sz="1897" kern="1200">
          <a:solidFill>
            <a:schemeClr val="tx1"/>
          </a:solidFill>
          <a:latin typeface="+mn-lt"/>
          <a:ea typeface="+mn-ea"/>
          <a:cs typeface="+mn-cs"/>
        </a:defRPr>
      </a:lvl2pPr>
      <a:lvl3pPr marL="963595" algn="l" defTabSz="963595" rtl="0" eaLnBrk="1" latinLnBrk="1" hangingPunct="1">
        <a:defRPr sz="1897" kern="1200">
          <a:solidFill>
            <a:schemeClr val="tx1"/>
          </a:solidFill>
          <a:latin typeface="+mn-lt"/>
          <a:ea typeface="+mn-ea"/>
          <a:cs typeface="+mn-cs"/>
        </a:defRPr>
      </a:lvl3pPr>
      <a:lvl4pPr marL="1445392" algn="l" defTabSz="963595" rtl="0" eaLnBrk="1" latinLnBrk="1" hangingPunct="1">
        <a:defRPr sz="1897" kern="1200">
          <a:solidFill>
            <a:schemeClr val="tx1"/>
          </a:solidFill>
          <a:latin typeface="+mn-lt"/>
          <a:ea typeface="+mn-ea"/>
          <a:cs typeface="+mn-cs"/>
        </a:defRPr>
      </a:lvl4pPr>
      <a:lvl5pPr marL="1927189" algn="l" defTabSz="963595" rtl="0" eaLnBrk="1" latinLnBrk="1" hangingPunct="1">
        <a:defRPr sz="1897" kern="1200">
          <a:solidFill>
            <a:schemeClr val="tx1"/>
          </a:solidFill>
          <a:latin typeface="+mn-lt"/>
          <a:ea typeface="+mn-ea"/>
          <a:cs typeface="+mn-cs"/>
        </a:defRPr>
      </a:lvl5pPr>
      <a:lvl6pPr marL="2408987" algn="l" defTabSz="963595" rtl="0" eaLnBrk="1" latinLnBrk="1" hangingPunct="1">
        <a:defRPr sz="1897" kern="1200">
          <a:solidFill>
            <a:schemeClr val="tx1"/>
          </a:solidFill>
          <a:latin typeface="+mn-lt"/>
          <a:ea typeface="+mn-ea"/>
          <a:cs typeface="+mn-cs"/>
        </a:defRPr>
      </a:lvl6pPr>
      <a:lvl7pPr marL="2890784" algn="l" defTabSz="963595" rtl="0" eaLnBrk="1" latinLnBrk="1" hangingPunct="1">
        <a:defRPr sz="1897" kern="1200">
          <a:solidFill>
            <a:schemeClr val="tx1"/>
          </a:solidFill>
          <a:latin typeface="+mn-lt"/>
          <a:ea typeface="+mn-ea"/>
          <a:cs typeface="+mn-cs"/>
        </a:defRPr>
      </a:lvl7pPr>
      <a:lvl8pPr marL="3372582" algn="l" defTabSz="963595" rtl="0" eaLnBrk="1" latinLnBrk="1" hangingPunct="1">
        <a:defRPr sz="1897" kern="1200">
          <a:solidFill>
            <a:schemeClr val="tx1"/>
          </a:solidFill>
          <a:latin typeface="+mn-lt"/>
          <a:ea typeface="+mn-ea"/>
          <a:cs typeface="+mn-cs"/>
        </a:defRPr>
      </a:lvl8pPr>
      <a:lvl9pPr marL="3854379" algn="l" defTabSz="963595" rtl="0" eaLnBrk="1" latinLnBrk="1" hangingPunct="1">
        <a:defRPr sz="189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4" Type="http://schemas.microsoft.com/office/2007/relationships/hdphoto" Target="../media/hdphoto1.wdp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11.xml" Id="Rcca1604fd61446fd"/><Relationship Type="http://schemas.openxmlformats.org/officeDocument/2006/relationships/image" Target="../media/review_image17.png" Id="Rf3409330b2e442b8"/><Relationship Type="http://schemas.openxmlformats.org/officeDocument/2006/relationships/image" Target="../media/review_image18.png" Id="R5eeefea5afb540ac"/><Relationship Type="http://schemas.openxmlformats.org/officeDocument/2006/relationships/notesSlide" Target="../notesSlides/review_notesSlide4.xml" Id="R40bd31822d4545bc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9FA5F800-6741-4CF9-B09C-00EF007D58BC}"/>
              </a:ext>
            </a:extLst>
          </p:cNvPr>
          <p:cNvSpPr txBox="1"/>
          <p:nvPr/>
        </p:nvSpPr>
        <p:spPr>
          <a:xfrm>
            <a:off x="323850" y="162753"/>
            <a:ext cx="78210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400" b="1" dirty="0">
                <a:solidFill>
                  <a:prstClr val="black"/>
                </a:solidFill>
                <a:latin typeface="맑은 고딕"/>
                <a:ea typeface="맑은 고딕"/>
              </a:rPr>
              <a:t>1. Review </a:t>
            </a:r>
            <a:r>
              <a:rPr lang="ko-KR" altLang="en-US" sz="2400" b="1" dirty="0">
                <a:solidFill>
                  <a:prstClr val="black"/>
                </a:solidFill>
                <a:latin typeface="맑은 고딕"/>
                <a:ea typeface="맑은 고딕"/>
              </a:rPr>
              <a:t>카메라 이미지 비교 분석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9D0E3465-69BC-49D5-BA67-3B53D5C289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5537271"/>
              </p:ext>
            </p:extLst>
          </p:nvPr>
        </p:nvGraphicFramePr>
        <p:xfrm>
          <a:off x="388144" y="622096"/>
          <a:ext cx="9663112" cy="65978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63112">
                  <a:extLst>
                    <a:ext uri="{9D8B030D-6E8A-4147-A177-3AD203B41FA5}">
                      <a16:colId xmlns:a16="http://schemas.microsoft.com/office/drawing/2014/main" val="3030245001"/>
                    </a:ext>
                  </a:extLst>
                </a:gridCol>
              </a:tblGrid>
              <a:tr h="6597854"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buSzPct val="100000"/>
                        <a:buFontTx/>
                        <a:buNone/>
                      </a:pPr>
                      <a:r>
                        <a:rPr lang="en-US" altLang="ko-KR" sz="1800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맑은 고딕 Semilight" panose="020B0502040204020203" pitchFamily="50" charset="-127"/>
                        </a:rPr>
                        <a:t>   </a:t>
                      </a:r>
                    </a:p>
                  </a:txBody>
                  <a:tcPr marT="3600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1456235"/>
                  </a:ext>
                </a:extLst>
              </a:tr>
            </a:tbl>
          </a:graphicData>
        </a:graphic>
      </p:graphicFrame>
      <p:pic>
        <p:nvPicPr>
          <p:cNvPr id="8" name="그림 7">
            <a:extLst>
              <a:ext uri="{FF2B5EF4-FFF2-40B4-BE49-F238E27FC236}">
                <a16:creationId xmlns:a16="http://schemas.microsoft.com/office/drawing/2014/main" id="{8303AA78-2850-492F-9DD1-55BB16145D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1607" y="1673395"/>
            <a:ext cx="903412" cy="276264"/>
          </a:xfrm>
          <a:prstGeom prst="rect">
            <a:avLst/>
          </a:prstGeom>
        </p:spPr>
      </p:pic>
      <p:graphicFrame>
        <p:nvGraphicFramePr>
          <p:cNvPr id="6" name="표 2">
            <a:extLst>
              <a:ext uri="{FF2B5EF4-FFF2-40B4-BE49-F238E27FC236}">
                <a16:creationId xmlns:a16="http://schemas.microsoft.com/office/drawing/2014/main" id="{90EC0FD5-FD38-4CF0-893C-515675BF5E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7904619"/>
              </p:ext>
            </p:extLst>
          </p:nvPr>
        </p:nvGraphicFramePr>
        <p:xfrm>
          <a:off x="815128" y="746093"/>
          <a:ext cx="8993016" cy="610636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74068">
                  <a:extLst>
                    <a:ext uri="{9D8B030D-6E8A-4147-A177-3AD203B41FA5}">
                      <a16:colId xmlns:a16="http://schemas.microsoft.com/office/drawing/2014/main" val="362746414"/>
                    </a:ext>
                  </a:extLst>
                </a:gridCol>
                <a:gridCol w="3609474">
                  <a:extLst>
                    <a:ext uri="{9D8B030D-6E8A-4147-A177-3AD203B41FA5}">
                      <a16:colId xmlns:a16="http://schemas.microsoft.com/office/drawing/2014/main" val="468858443"/>
                    </a:ext>
                  </a:extLst>
                </a:gridCol>
                <a:gridCol w="3609474">
                  <a:extLst>
                    <a:ext uri="{9D8B030D-6E8A-4147-A177-3AD203B41FA5}">
                      <a16:colId xmlns:a16="http://schemas.microsoft.com/office/drawing/2014/main" val="2402241623"/>
                    </a:ext>
                  </a:extLst>
                </a:gridCol>
              </a:tblGrid>
              <a:tr h="391654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광학 조건 </a:t>
                      </a:r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: Exposure(30us) / HP</a:t>
                      </a: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LED(30%)</a:t>
                      </a: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View Port(</a:t>
                      </a: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無</a:t>
                      </a:r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) / </a:t>
                      </a: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렌즈</a:t>
                      </a:r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(Mitutoyo 20x SL) </a:t>
                      </a:r>
                      <a:endParaRPr lang="ko-KR" altLang="en-US" sz="14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8360540"/>
                  </a:ext>
                </a:extLst>
              </a:tr>
              <a:tr h="3916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Sony </a:t>
                      </a: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카메라 </a:t>
                      </a:r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(3.45um)</a:t>
                      </a:r>
                      <a:endParaRPr lang="ko-KR" altLang="en-US" sz="14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Basler</a:t>
                      </a: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 카메라 </a:t>
                      </a:r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(2.5um)</a:t>
                      </a:r>
                      <a:endParaRPr lang="ko-KR" altLang="en-US" sz="14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132759"/>
                  </a:ext>
                </a:extLst>
              </a:tr>
              <a:tr h="21745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이미지</a:t>
                      </a:r>
                      <a:endParaRPr lang="en-US" altLang="ko-KR" sz="14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latinLnBrk="1"/>
                      <a:endParaRPr lang="en-US" altLang="ko-KR" sz="1400" b="1" dirty="0">
                        <a:latin typeface="+mn-ea"/>
                        <a:ea typeface="+mn-ea"/>
                      </a:endParaRPr>
                    </a:p>
                    <a:p>
                      <a:pPr lvl="0" algn="l" latinLnBrk="1"/>
                      <a:endParaRPr lang="en-US" altLang="ko-KR" sz="1400" b="1" dirty="0">
                        <a:latin typeface="+mn-ea"/>
                        <a:ea typeface="+mn-ea"/>
                      </a:endParaRPr>
                    </a:p>
                    <a:p>
                      <a:pPr lvl="0" algn="l" latinLnBrk="1"/>
                      <a:endParaRPr lang="en-US" altLang="ko-KR" sz="1400" b="1" dirty="0">
                        <a:latin typeface="+mn-ea"/>
                        <a:ea typeface="+mn-ea"/>
                      </a:endParaRPr>
                    </a:p>
                    <a:p>
                      <a:pPr lvl="0" algn="l" latinLnBrk="1"/>
                      <a:endParaRPr lang="en-US" altLang="ko-KR" sz="1400" b="1" dirty="0">
                        <a:latin typeface="+mn-ea"/>
                        <a:ea typeface="+mn-ea"/>
                      </a:endParaRPr>
                    </a:p>
                    <a:p>
                      <a:pPr lvl="0" algn="l" latinLnBrk="1"/>
                      <a:endParaRPr lang="en-US" altLang="ko-KR" sz="1400" b="1" dirty="0">
                        <a:latin typeface="+mn-ea"/>
                        <a:ea typeface="+mn-ea"/>
                      </a:endParaRPr>
                    </a:p>
                    <a:p>
                      <a:pPr lvl="0" algn="l" latinLnBrk="1"/>
                      <a:endParaRPr lang="en-US" altLang="ko-KR" sz="1400" b="1" dirty="0">
                        <a:latin typeface="+mn-ea"/>
                        <a:ea typeface="+mn-ea"/>
                      </a:endParaRPr>
                    </a:p>
                    <a:p>
                      <a:pPr lvl="0" algn="l" latinLnBrk="1"/>
                      <a:endParaRPr lang="en-US" altLang="ko-KR" sz="1400" b="1" dirty="0">
                        <a:latin typeface="+mn-ea"/>
                        <a:ea typeface="+mn-ea"/>
                      </a:endParaRPr>
                    </a:p>
                    <a:p>
                      <a:pPr lvl="0" algn="l" latinLnBrk="1"/>
                      <a:endParaRPr lang="en-US" altLang="ko-KR" sz="1400" b="1" dirty="0">
                        <a:latin typeface="+mn-ea"/>
                        <a:ea typeface="+mn-ea"/>
                      </a:endParaRPr>
                    </a:p>
                    <a:p>
                      <a:pPr lvl="0" algn="l" latinLnBrk="1"/>
                      <a:endParaRPr lang="en-US" altLang="ko-KR" sz="1400" b="1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 latinLnBrk="1"/>
                      <a:endParaRPr lang="en-US" altLang="ko-KR" sz="1400" b="1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0909940"/>
                  </a:ext>
                </a:extLst>
              </a:tr>
              <a:tr h="467979">
                <a:tc>
                  <a:txBody>
                    <a:bodyPr/>
                    <a:lstStyle/>
                    <a:p>
                      <a:pPr marL="0" marR="0" lvl="0" indent="0" algn="ctr" defTabSz="96359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밝기 차이</a:t>
                      </a:r>
                      <a:endParaRPr lang="en-US" altLang="ko-KR" sz="14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200" b="1" dirty="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200" b="1" dirty="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픽셀 면적이 커서 </a:t>
                      </a:r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빛을 충분히 받음</a:t>
                      </a:r>
                      <a:endParaRPr lang="en-US" altLang="ko-KR" sz="1200" b="1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algn="l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픽셀 면적이 작아 </a:t>
                      </a:r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Sony</a:t>
                      </a:r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의 약 </a:t>
                      </a:r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50% </a:t>
                      </a:r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수준</a:t>
                      </a:r>
                      <a:endParaRPr lang="en-US" altLang="ko-KR" sz="1200" b="1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2730906"/>
                  </a:ext>
                </a:extLst>
              </a:tr>
              <a:tr h="1028464">
                <a:tc>
                  <a:txBody>
                    <a:bodyPr/>
                    <a:lstStyle/>
                    <a:p>
                      <a:pPr marL="0" marR="0" lvl="0" indent="0" algn="ctr" defTabSz="96359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렌즈 적합성</a:t>
                      </a:r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(20x)</a:t>
                      </a:r>
                      <a:br>
                        <a:rPr lang="en-US" altLang="ko-KR" sz="1400" b="1" dirty="0">
                          <a:latin typeface="+mn-ea"/>
                          <a:ea typeface="+mn-ea"/>
                        </a:rPr>
                      </a:br>
                      <a:r>
                        <a:rPr lang="en-US" altLang="ko-KR" sz="1050" b="1" dirty="0">
                          <a:latin typeface="+mn-ea"/>
                          <a:ea typeface="+mn-ea"/>
                        </a:rPr>
                        <a:t>NA : 0.28, </a:t>
                      </a:r>
                      <a:r>
                        <a:rPr lang="ko-KR" altLang="en-US" sz="1050" b="1" dirty="0">
                          <a:latin typeface="+mn-ea"/>
                          <a:ea typeface="+mn-ea"/>
                        </a:rPr>
                        <a:t>분해능 </a:t>
                      </a:r>
                      <a:r>
                        <a:rPr lang="en-US" altLang="ko-KR" sz="1050" b="1" dirty="0">
                          <a:latin typeface="+mn-ea"/>
                          <a:ea typeface="+mn-ea"/>
                        </a:rPr>
                        <a:t>: 1um</a:t>
                      </a:r>
                    </a:p>
                    <a:p>
                      <a:pPr marL="0" marR="0" lvl="0" indent="0" algn="l" defTabSz="96359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1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6359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latin typeface="+mn-ea"/>
                          <a:ea typeface="+mn-ea"/>
                        </a:rPr>
                        <a:t>NA : </a:t>
                      </a:r>
                      <a:r>
                        <a:rPr lang="ko-KR" altLang="en-US" sz="900" b="1" dirty="0">
                          <a:latin typeface="+mn-ea"/>
                          <a:ea typeface="+mn-ea"/>
                        </a:rPr>
                        <a:t>렌즈가 빛을 모으는 능력분해능 </a:t>
                      </a:r>
                      <a:r>
                        <a:rPr lang="en-US" altLang="ko-KR" sz="900" b="1" dirty="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900" b="1" dirty="0">
                          <a:latin typeface="+mn-ea"/>
                          <a:ea typeface="+mn-ea"/>
                        </a:rPr>
                        <a:t>렌즈의 정밀도</a:t>
                      </a:r>
                      <a:endParaRPr lang="en-US" altLang="ko-KR" sz="8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픽셀 면적이 커 빛을 충분히 받음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63595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NA 0.28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의 어두운 렌즈 유리함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algn="l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픽셀 면적이 작아 빛을 충분히 받지 못함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3294386"/>
                  </a:ext>
                </a:extLst>
              </a:tr>
              <a:tr h="773015">
                <a:tc>
                  <a:txBody>
                    <a:bodyPr/>
                    <a:lstStyle/>
                    <a:p>
                      <a:pPr marL="0" marR="0" lvl="0" indent="0" algn="ctr" defTabSz="96359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렌즈 적합성</a:t>
                      </a:r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(50x)</a:t>
                      </a:r>
                    </a:p>
                    <a:p>
                      <a:pPr marL="0" marR="0" lvl="0" indent="0" algn="ctr" defTabSz="96359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latin typeface="+mn-ea"/>
                          <a:ea typeface="+mn-ea"/>
                        </a:rPr>
                        <a:t>NA : 0.42, </a:t>
                      </a:r>
                      <a:r>
                        <a:rPr lang="ko-KR" altLang="en-US" sz="1000" b="1" dirty="0">
                          <a:latin typeface="+mn-ea"/>
                          <a:ea typeface="+mn-ea"/>
                        </a:rPr>
                        <a:t>분해능 </a:t>
                      </a:r>
                      <a:r>
                        <a:rPr lang="en-US" altLang="ko-KR" sz="1000" b="1" dirty="0">
                          <a:latin typeface="+mn-ea"/>
                          <a:ea typeface="+mn-ea"/>
                        </a:rPr>
                        <a:t>: 0.8um</a:t>
                      </a:r>
                      <a:endParaRPr lang="en-US" altLang="ko-KR" sz="8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큰 픽셀 면적으로 빛이 포화돼 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Edge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면이 뭉개짐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algn="l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작은 픽셀 면적으로도 빛을 충분히 받음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lvl="0" indent="0" algn="l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NA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0.4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의 밝은 렌즈에 유리함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9856065"/>
                  </a:ext>
                </a:extLst>
              </a:tr>
              <a:tr h="773015">
                <a:tc>
                  <a:txBody>
                    <a:bodyPr/>
                    <a:lstStyle/>
                    <a:p>
                      <a:pPr marL="0" marR="0" lvl="0" indent="0" algn="ctr" defTabSz="96359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경계면 차이</a:t>
                      </a:r>
                      <a:endParaRPr lang="en-US" altLang="ko-KR" sz="14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- 1um </a:t>
                      </a:r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상을 </a:t>
                      </a:r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개 픽셀로 표현</a:t>
                      </a:r>
                      <a:endParaRPr lang="en-US" altLang="ko-KR" sz="1200" b="1" dirty="0">
                        <a:latin typeface="+mn-ea"/>
                        <a:ea typeface="+mn-ea"/>
                      </a:endParaRPr>
                    </a:p>
                    <a:p>
                      <a:pPr marL="0" lvl="0" indent="0" algn="l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- 4~6</a:t>
                      </a:r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 픽셀 개수일 경우 서프픽셀 연산 오차를 줄여 경계면을 매끄럽게 표현 가능</a:t>
                      </a:r>
                      <a:endParaRPr lang="en-US" altLang="ko-KR" sz="1200" b="1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algn="l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- 1um </a:t>
                      </a:r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상을 </a:t>
                      </a:r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8</a:t>
                      </a:r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개 픽셀로 표현 </a:t>
                      </a:r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해상력 우수</a:t>
                      </a:r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lvl="0" indent="0" algn="l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너무 작게 쪼개어 미세한 빛 번짐이나 노이즈까지 도드라져 경계면이 거칠게 보임</a:t>
                      </a:r>
                      <a:endParaRPr lang="en-US" altLang="ko-KR" sz="1200" b="1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2924131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39BBA68B-9F23-4ECD-9FAC-AEF33D8716A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2086" y="2121890"/>
            <a:ext cx="1035586" cy="866373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6CDBFD10-EE9A-4116-9C56-0CEF8A4A3AC0}"/>
              </a:ext>
            </a:extLst>
          </p:cNvPr>
          <p:cNvSpPr/>
          <p:nvPr/>
        </p:nvSpPr>
        <p:spPr>
          <a:xfrm>
            <a:off x="3226427" y="2540924"/>
            <a:ext cx="64293" cy="90488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233528B4-74AF-406C-82B3-AA99EFFCD02D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3258574" y="1769801"/>
            <a:ext cx="817283" cy="771123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1AF54AC6-C650-4AE5-8FCF-69FCD95838EA}"/>
              </a:ext>
            </a:extLst>
          </p:cNvPr>
          <p:cNvCxnSpPr>
            <a:cxnSpLocks/>
            <a:endCxn id="9" idx="2"/>
          </p:cNvCxnSpPr>
          <p:nvPr/>
        </p:nvCxnSpPr>
        <p:spPr>
          <a:xfrm flipH="1" flipV="1">
            <a:off x="3258574" y="2631412"/>
            <a:ext cx="806779" cy="771123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19" name="그림 18">
            <a:extLst>
              <a:ext uri="{FF2B5EF4-FFF2-40B4-BE49-F238E27FC236}">
                <a16:creationId xmlns:a16="http://schemas.microsoft.com/office/drawing/2014/main" id="{D9D2A163-1A7C-4E16-B15E-E11FE9EE49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5857" y="1724019"/>
            <a:ext cx="1965604" cy="1751018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ACE21AE1-05FF-455D-B347-F3CA8E49812D}"/>
              </a:ext>
            </a:extLst>
          </p:cNvPr>
          <p:cNvSpPr/>
          <p:nvPr/>
        </p:nvSpPr>
        <p:spPr>
          <a:xfrm>
            <a:off x="4070605" y="1703947"/>
            <a:ext cx="1965604" cy="1771089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014F3C66-BC88-4EB6-8851-1A9376840F1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3701" y="2121890"/>
            <a:ext cx="1060038" cy="867600"/>
          </a:xfrm>
          <a:prstGeom prst="rect">
            <a:avLst/>
          </a:prstGeom>
        </p:spPr>
      </p:pic>
      <p:sp>
        <p:nvSpPr>
          <p:cNvPr id="28" name="직사각형 27">
            <a:extLst>
              <a:ext uri="{FF2B5EF4-FFF2-40B4-BE49-F238E27FC236}">
                <a16:creationId xmlns:a16="http://schemas.microsoft.com/office/drawing/2014/main" id="{56299C71-317C-408F-93CF-2A1CCBD6F895}"/>
              </a:ext>
            </a:extLst>
          </p:cNvPr>
          <p:cNvSpPr/>
          <p:nvPr/>
        </p:nvSpPr>
        <p:spPr>
          <a:xfrm>
            <a:off x="6790041" y="2540924"/>
            <a:ext cx="64293" cy="90488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B61244EB-1640-403E-A520-40EC770E4C3C}"/>
              </a:ext>
            </a:extLst>
          </p:cNvPr>
          <p:cNvCxnSpPr>
            <a:cxnSpLocks/>
            <a:stCxn id="28" idx="0"/>
          </p:cNvCxnSpPr>
          <p:nvPr/>
        </p:nvCxnSpPr>
        <p:spPr>
          <a:xfrm flipV="1">
            <a:off x="6822188" y="1769801"/>
            <a:ext cx="817283" cy="771123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6F439374-CFCB-4965-9FA1-9DBD6ED3DF97}"/>
              </a:ext>
            </a:extLst>
          </p:cNvPr>
          <p:cNvCxnSpPr>
            <a:cxnSpLocks/>
            <a:endCxn id="28" idx="2"/>
          </p:cNvCxnSpPr>
          <p:nvPr/>
        </p:nvCxnSpPr>
        <p:spPr>
          <a:xfrm flipH="1" flipV="1">
            <a:off x="6822188" y="2631412"/>
            <a:ext cx="806779" cy="771123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34" name="그림 33">
            <a:extLst>
              <a:ext uri="{FF2B5EF4-FFF2-40B4-BE49-F238E27FC236}">
                <a16:creationId xmlns:a16="http://schemas.microsoft.com/office/drawing/2014/main" id="{A172057E-227B-4CF5-ACC3-348D97137D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8240" y="1724019"/>
            <a:ext cx="1986032" cy="1749600"/>
          </a:xfrm>
          <a:prstGeom prst="rect">
            <a:avLst/>
          </a:prstGeom>
        </p:spPr>
      </p:pic>
      <p:sp>
        <p:nvSpPr>
          <p:cNvPr id="35" name="직사각형 34">
            <a:extLst>
              <a:ext uri="{FF2B5EF4-FFF2-40B4-BE49-F238E27FC236}">
                <a16:creationId xmlns:a16="http://schemas.microsoft.com/office/drawing/2014/main" id="{C4D5D0AD-0C2D-448A-B29B-85F89239F438}"/>
              </a:ext>
            </a:extLst>
          </p:cNvPr>
          <p:cNvSpPr/>
          <p:nvPr/>
        </p:nvSpPr>
        <p:spPr>
          <a:xfrm>
            <a:off x="7649849" y="1703947"/>
            <a:ext cx="1965604" cy="1771089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3035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9FA5F800-6741-4CF9-B09C-00EF007D58BC}"/>
              </a:ext>
            </a:extLst>
          </p:cNvPr>
          <p:cNvSpPr txBox="1"/>
          <p:nvPr/>
        </p:nvSpPr>
        <p:spPr>
          <a:xfrm>
            <a:off x="323850" y="162753"/>
            <a:ext cx="78210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400" b="1" dirty="0">
                <a:solidFill>
                  <a:prstClr val="black"/>
                </a:solidFill>
                <a:latin typeface="맑은 고딕"/>
                <a:ea typeface="맑은 고딕"/>
              </a:rPr>
              <a:t>2. Review </a:t>
            </a:r>
            <a:r>
              <a:rPr lang="ko-KR" altLang="en-US" sz="2400" b="1" dirty="0">
                <a:solidFill>
                  <a:prstClr val="black"/>
                </a:solidFill>
                <a:latin typeface="맑은 고딕"/>
                <a:ea typeface="맑은 고딕"/>
              </a:rPr>
              <a:t>카메라 이미지 비교 분석 </a:t>
            </a:r>
            <a:r>
              <a:rPr lang="en-US" altLang="ko-KR" sz="2400" b="1" dirty="0">
                <a:solidFill>
                  <a:prstClr val="black"/>
                </a:solidFill>
                <a:latin typeface="맑은 고딕"/>
                <a:ea typeface="맑은 고딕"/>
              </a:rPr>
              <a:t>(View Port)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graphicFrame>
        <p:nvGraphicFramePr>
          <p:cNvPr id="4" name="표 2">
            <a:extLst>
              <a:ext uri="{FF2B5EF4-FFF2-40B4-BE49-F238E27FC236}">
                <a16:creationId xmlns:a16="http://schemas.microsoft.com/office/drawing/2014/main" id="{853F778C-E124-440E-803E-DBDF7232DE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6426850"/>
              </p:ext>
            </p:extLst>
          </p:nvPr>
        </p:nvGraphicFramePr>
        <p:xfrm>
          <a:off x="815128" y="746093"/>
          <a:ext cx="8993016" cy="59690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97672">
                  <a:extLst>
                    <a:ext uri="{9D8B030D-6E8A-4147-A177-3AD203B41FA5}">
                      <a16:colId xmlns:a16="http://schemas.microsoft.com/office/drawing/2014/main" val="362746414"/>
                    </a:ext>
                  </a:extLst>
                </a:gridCol>
                <a:gridCol w="2997672">
                  <a:extLst>
                    <a:ext uri="{9D8B030D-6E8A-4147-A177-3AD203B41FA5}">
                      <a16:colId xmlns:a16="http://schemas.microsoft.com/office/drawing/2014/main" val="468858443"/>
                    </a:ext>
                  </a:extLst>
                </a:gridCol>
                <a:gridCol w="2997672">
                  <a:extLst>
                    <a:ext uri="{9D8B030D-6E8A-4147-A177-3AD203B41FA5}">
                      <a16:colId xmlns:a16="http://schemas.microsoft.com/office/drawing/2014/main" val="2402241623"/>
                    </a:ext>
                  </a:extLst>
                </a:gridCol>
              </a:tblGrid>
              <a:tr h="54919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현재 </a:t>
                      </a:r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View Port </a:t>
                      </a: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유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View Port </a:t>
                      </a: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무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광학 </a:t>
                      </a:r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View Port </a:t>
                      </a: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유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132759"/>
                  </a:ext>
                </a:extLst>
              </a:tr>
              <a:tr h="5419833">
                <a:tc>
                  <a:txBody>
                    <a:bodyPr/>
                    <a:lstStyle/>
                    <a:p>
                      <a:pPr algn="ctr" latinLnBrk="1"/>
                      <a:endParaRPr lang="en-US" altLang="ko-KR" sz="14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vl="0" algn="l" latinLnBrk="1"/>
                      <a:endParaRPr lang="en-US" altLang="ko-KR" sz="1400" b="1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 latinLnBrk="1"/>
                      <a:endParaRPr lang="en-US" altLang="ko-KR" sz="1400" b="1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0909940"/>
                  </a:ext>
                </a:extLst>
              </a:tr>
            </a:tbl>
          </a:graphicData>
        </a:graphic>
      </p:graphicFrame>
      <p:grpSp>
        <p:nvGrpSpPr>
          <p:cNvPr id="40" name="그룹 39">
            <a:extLst>
              <a:ext uri="{FF2B5EF4-FFF2-40B4-BE49-F238E27FC236}">
                <a16:creationId xmlns:a16="http://schemas.microsoft.com/office/drawing/2014/main" id="{02334AB9-6EDE-48C7-8B9F-CD4A0C75647F}"/>
              </a:ext>
            </a:extLst>
          </p:cNvPr>
          <p:cNvGrpSpPr/>
          <p:nvPr/>
        </p:nvGrpSpPr>
        <p:grpSpPr>
          <a:xfrm>
            <a:off x="4051980" y="1461267"/>
            <a:ext cx="2550518" cy="993897"/>
            <a:chOff x="4346070" y="3059210"/>
            <a:chExt cx="2550518" cy="993897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5D556FD5-068C-4DB3-8482-1CC6D77683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46070" y="3059210"/>
              <a:ext cx="1188018" cy="993897"/>
            </a:xfrm>
            <a:prstGeom prst="rect">
              <a:avLst/>
            </a:prstGeom>
          </p:spPr>
        </p:pic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CDFBD7C7-21F3-4B01-9E5A-ECA97C581FC1}"/>
                </a:ext>
              </a:extLst>
            </p:cNvPr>
            <p:cNvSpPr/>
            <p:nvPr/>
          </p:nvSpPr>
          <p:spPr>
            <a:xfrm>
              <a:off x="4884007" y="3458653"/>
              <a:ext cx="95249" cy="111789"/>
            </a:xfrm>
            <a:prstGeom prst="rect">
              <a:avLst/>
            </a:prstGeom>
            <a:noFill/>
            <a:ln w="19050">
              <a:solidFill>
                <a:schemeClr val="accent4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67134E8C-B11A-4E58-98DB-D5CD016EECC1}"/>
                </a:ext>
              </a:extLst>
            </p:cNvPr>
            <p:cNvCxnSpPr>
              <a:cxnSpLocks/>
              <a:stCxn id="11" idx="0"/>
            </p:cNvCxnSpPr>
            <p:nvPr/>
          </p:nvCxnSpPr>
          <p:spPr>
            <a:xfrm flipV="1">
              <a:off x="4931632" y="3096294"/>
              <a:ext cx="949248" cy="362359"/>
            </a:xfrm>
            <a:prstGeom prst="line">
              <a:avLst/>
            </a:pr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8E99B195-BBA8-4E31-871E-0EE37B01587A}"/>
                </a:ext>
              </a:extLst>
            </p:cNvPr>
            <p:cNvCxnSpPr>
              <a:cxnSpLocks/>
              <a:endCxn id="11" idx="2"/>
            </p:cNvCxnSpPr>
            <p:nvPr/>
          </p:nvCxnSpPr>
          <p:spPr>
            <a:xfrm flipH="1" flipV="1">
              <a:off x="4931632" y="3570442"/>
              <a:ext cx="949248" cy="445284"/>
            </a:xfrm>
            <a:prstGeom prst="line">
              <a:avLst/>
            </a:pr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EF9097F9-1F84-4B20-B480-3749FCED733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584" t="39945" r="45226" b="47948"/>
            <a:stretch/>
          </p:blipFill>
          <p:spPr>
            <a:xfrm>
              <a:off x="5880880" y="3096294"/>
              <a:ext cx="1015708" cy="919432"/>
            </a:xfrm>
            <a:prstGeom prst="rect">
              <a:avLst/>
            </a:prstGeom>
          </p:spPr>
        </p:pic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BDD43843-0EF9-4344-894B-812F9120873C}"/>
                </a:ext>
              </a:extLst>
            </p:cNvPr>
            <p:cNvSpPr/>
            <p:nvPr/>
          </p:nvSpPr>
          <p:spPr>
            <a:xfrm>
              <a:off x="5880880" y="3096295"/>
              <a:ext cx="1015708" cy="919432"/>
            </a:xfrm>
            <a:prstGeom prst="rect">
              <a:avLst/>
            </a:prstGeom>
            <a:noFill/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AC0FE85C-2505-402D-8C35-12DCB1E02100}"/>
              </a:ext>
            </a:extLst>
          </p:cNvPr>
          <p:cNvGrpSpPr/>
          <p:nvPr/>
        </p:nvGrpSpPr>
        <p:grpSpPr>
          <a:xfrm>
            <a:off x="1077976" y="1465795"/>
            <a:ext cx="2578475" cy="993600"/>
            <a:chOff x="1077976" y="1465795"/>
            <a:chExt cx="2578475" cy="993600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D7858296-E7AA-41D8-BABE-4DCB4B9E5A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7976" y="1465795"/>
              <a:ext cx="1187662" cy="993600"/>
            </a:xfrm>
            <a:prstGeom prst="rect">
              <a:avLst/>
            </a:prstGeom>
          </p:spPr>
        </p:pic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CBF32221-12A7-495A-BB80-41FC11A5EE48}"/>
                </a:ext>
              </a:extLst>
            </p:cNvPr>
            <p:cNvSpPr/>
            <p:nvPr/>
          </p:nvSpPr>
          <p:spPr>
            <a:xfrm>
              <a:off x="1630927" y="1865238"/>
              <a:ext cx="95249" cy="111789"/>
            </a:xfrm>
            <a:prstGeom prst="rect">
              <a:avLst/>
            </a:prstGeom>
            <a:noFill/>
            <a:ln w="19050">
              <a:solidFill>
                <a:schemeClr val="accent4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8F1DB629-BF1A-44FA-8407-0A8A4087371C}"/>
                </a:ext>
              </a:extLst>
            </p:cNvPr>
            <p:cNvCxnSpPr>
              <a:cxnSpLocks/>
              <a:stCxn id="18" idx="0"/>
            </p:cNvCxnSpPr>
            <p:nvPr/>
          </p:nvCxnSpPr>
          <p:spPr>
            <a:xfrm flipV="1">
              <a:off x="1678552" y="1530630"/>
              <a:ext cx="948294" cy="334608"/>
            </a:xfrm>
            <a:prstGeom prst="line">
              <a:avLst/>
            </a:pr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95E3C984-F984-4BF2-8286-A25D1AC9EF8A}"/>
                </a:ext>
              </a:extLst>
            </p:cNvPr>
            <p:cNvCxnSpPr>
              <a:cxnSpLocks/>
              <a:endCxn id="18" idx="2"/>
            </p:cNvCxnSpPr>
            <p:nvPr/>
          </p:nvCxnSpPr>
          <p:spPr>
            <a:xfrm flipH="1" flipV="1">
              <a:off x="1678552" y="1977027"/>
              <a:ext cx="948294" cy="399443"/>
            </a:xfrm>
            <a:prstGeom prst="line">
              <a:avLst/>
            </a:pr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ADBB9D8A-39DE-45FD-9512-F42D0803B05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5222" t="42394" r="43521" b="45426"/>
            <a:stretch/>
          </p:blipFill>
          <p:spPr>
            <a:xfrm>
              <a:off x="2640581" y="1502879"/>
              <a:ext cx="1015708" cy="919432"/>
            </a:xfrm>
            <a:prstGeom prst="rect">
              <a:avLst/>
            </a:prstGeom>
          </p:spPr>
        </p:pic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013A3843-3447-43D4-9657-9C78E93ED6BB}"/>
                </a:ext>
              </a:extLst>
            </p:cNvPr>
            <p:cNvSpPr/>
            <p:nvPr/>
          </p:nvSpPr>
          <p:spPr>
            <a:xfrm>
              <a:off x="2640743" y="1502880"/>
              <a:ext cx="1015708" cy="919432"/>
            </a:xfrm>
            <a:prstGeom prst="rect">
              <a:avLst/>
            </a:prstGeom>
            <a:noFill/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82E67A03-6D76-4EC0-90C1-F96E67D51BC7}"/>
              </a:ext>
            </a:extLst>
          </p:cNvPr>
          <p:cNvGrpSpPr/>
          <p:nvPr/>
        </p:nvGrpSpPr>
        <p:grpSpPr>
          <a:xfrm>
            <a:off x="6986099" y="1502879"/>
            <a:ext cx="2605930" cy="993600"/>
            <a:chOff x="6986099" y="1502879"/>
            <a:chExt cx="2605930" cy="993600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E245EB39-BB58-466E-8A5F-A710E26C651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86099" y="1502879"/>
              <a:ext cx="1187663" cy="993600"/>
            </a:xfrm>
            <a:prstGeom prst="rect">
              <a:avLst/>
            </a:prstGeom>
          </p:spPr>
        </p:pic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DF0F0C27-906D-4403-8A80-9452CE277365}"/>
                </a:ext>
              </a:extLst>
            </p:cNvPr>
            <p:cNvSpPr/>
            <p:nvPr/>
          </p:nvSpPr>
          <p:spPr>
            <a:xfrm>
              <a:off x="7214145" y="1902322"/>
              <a:ext cx="95249" cy="111789"/>
            </a:xfrm>
            <a:prstGeom prst="rect">
              <a:avLst/>
            </a:prstGeom>
            <a:noFill/>
            <a:ln w="19050">
              <a:solidFill>
                <a:schemeClr val="accent4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83B08900-A5CD-4BC0-B5A8-05474B75E8E1}"/>
                </a:ext>
              </a:extLst>
            </p:cNvPr>
            <p:cNvCxnSpPr>
              <a:cxnSpLocks/>
              <a:stCxn id="22" idx="0"/>
            </p:cNvCxnSpPr>
            <p:nvPr/>
          </p:nvCxnSpPr>
          <p:spPr>
            <a:xfrm flipV="1">
              <a:off x="7261770" y="1567714"/>
              <a:ext cx="1307683" cy="334608"/>
            </a:xfrm>
            <a:prstGeom prst="line">
              <a:avLst/>
            </a:pr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B1CC8433-CC9C-48E5-A2EB-428FDC2C9916}"/>
                </a:ext>
              </a:extLst>
            </p:cNvPr>
            <p:cNvCxnSpPr>
              <a:cxnSpLocks/>
              <a:endCxn id="22" idx="2"/>
            </p:cNvCxnSpPr>
            <p:nvPr/>
          </p:nvCxnSpPr>
          <p:spPr>
            <a:xfrm flipH="1" flipV="1">
              <a:off x="7261770" y="2014111"/>
              <a:ext cx="1327997" cy="399443"/>
            </a:xfrm>
            <a:prstGeom prst="line">
              <a:avLst/>
            </a:pr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pic>
          <p:nvPicPr>
            <p:cNvPr id="36" name="그림 35">
              <a:extLst>
                <a:ext uri="{FF2B5EF4-FFF2-40B4-BE49-F238E27FC236}">
                  <a16:creationId xmlns:a16="http://schemas.microsoft.com/office/drawing/2014/main" id="{83716C96-A34E-497A-819D-00E0D02B29F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190" t="16971" r="63417" b="70867"/>
            <a:stretch/>
          </p:blipFill>
          <p:spPr>
            <a:xfrm>
              <a:off x="8562586" y="1539963"/>
              <a:ext cx="1029443" cy="919432"/>
            </a:xfrm>
            <a:prstGeom prst="rect">
              <a:avLst/>
            </a:prstGeom>
          </p:spPr>
        </p:pic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9D8F9510-F19C-4C57-8782-687397A411D4}"/>
                </a:ext>
              </a:extLst>
            </p:cNvPr>
            <p:cNvSpPr/>
            <p:nvPr/>
          </p:nvSpPr>
          <p:spPr>
            <a:xfrm>
              <a:off x="8569453" y="1539964"/>
              <a:ext cx="1015708" cy="919432"/>
            </a:xfrm>
            <a:prstGeom prst="rect">
              <a:avLst/>
            </a:prstGeom>
            <a:noFill/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aphicFrame>
        <p:nvGraphicFramePr>
          <p:cNvPr id="45" name="표 44">
            <a:extLst>
              <a:ext uri="{FF2B5EF4-FFF2-40B4-BE49-F238E27FC236}">
                <a16:creationId xmlns:a16="http://schemas.microsoft.com/office/drawing/2014/main" id="{EE1365E9-1A62-4177-997E-35558E6F8E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3936144"/>
              </p:ext>
            </p:extLst>
          </p:nvPr>
        </p:nvGraphicFramePr>
        <p:xfrm>
          <a:off x="1462422" y="4621997"/>
          <a:ext cx="1783560" cy="11844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1780">
                  <a:extLst>
                    <a:ext uri="{9D8B030D-6E8A-4147-A177-3AD203B41FA5}">
                      <a16:colId xmlns:a16="http://schemas.microsoft.com/office/drawing/2014/main" val="2950915314"/>
                    </a:ext>
                  </a:extLst>
                </a:gridCol>
                <a:gridCol w="891780">
                  <a:extLst>
                    <a:ext uri="{9D8B030D-6E8A-4147-A177-3AD203B41FA5}">
                      <a16:colId xmlns:a16="http://schemas.microsoft.com/office/drawing/2014/main" val="3323975095"/>
                    </a:ext>
                  </a:extLst>
                </a:gridCol>
              </a:tblGrid>
              <a:tr h="30054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Gray_Value (avg)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2883377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+mn-ea"/>
                          <a:ea typeface="+mn-ea"/>
                        </a:rPr>
                        <a:t>MAX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+mn-ea"/>
                          <a:ea typeface="+mn-ea"/>
                        </a:rPr>
                        <a:t>55</a:t>
                      </a:r>
                      <a:endParaRPr lang="ko-KR" altLang="en-US" sz="13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6121677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defTabSz="96359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+mn-ea"/>
                          <a:ea typeface="+mn-ea"/>
                        </a:rPr>
                        <a:t>MIN </a:t>
                      </a:r>
                      <a:endParaRPr lang="ko-KR" altLang="en-US" sz="13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+mn-ea"/>
                          <a:ea typeface="+mn-ea"/>
                        </a:rPr>
                        <a:t>25</a:t>
                      </a:r>
                      <a:endParaRPr lang="ko-KR" altLang="en-US" sz="13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1978027"/>
                  </a:ext>
                </a:extLst>
              </a:tr>
            </a:tbl>
          </a:graphicData>
        </a:graphic>
      </p:graphicFrame>
      <p:pic>
        <p:nvPicPr>
          <p:cNvPr id="46" name="그림 45">
            <a:extLst>
              <a:ext uri="{FF2B5EF4-FFF2-40B4-BE49-F238E27FC236}">
                <a16:creationId xmlns:a16="http://schemas.microsoft.com/office/drawing/2014/main" id="{5BA69DB7-5342-4892-8B87-4F8E28C969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51980" y="2756419"/>
            <a:ext cx="2552452" cy="1531471"/>
          </a:xfrm>
          <a:prstGeom prst="rect">
            <a:avLst/>
          </a:prstGeom>
        </p:spPr>
      </p:pic>
      <p:graphicFrame>
        <p:nvGraphicFramePr>
          <p:cNvPr id="47" name="표 46">
            <a:extLst>
              <a:ext uri="{FF2B5EF4-FFF2-40B4-BE49-F238E27FC236}">
                <a16:creationId xmlns:a16="http://schemas.microsoft.com/office/drawing/2014/main" id="{B27ABFFA-555F-47E3-B12C-2D48EAF2AF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6682301"/>
              </p:ext>
            </p:extLst>
          </p:nvPr>
        </p:nvGraphicFramePr>
        <p:xfrm>
          <a:off x="4436426" y="4621997"/>
          <a:ext cx="1783560" cy="11844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1780">
                  <a:extLst>
                    <a:ext uri="{9D8B030D-6E8A-4147-A177-3AD203B41FA5}">
                      <a16:colId xmlns:a16="http://schemas.microsoft.com/office/drawing/2014/main" val="2950915314"/>
                    </a:ext>
                  </a:extLst>
                </a:gridCol>
                <a:gridCol w="891780">
                  <a:extLst>
                    <a:ext uri="{9D8B030D-6E8A-4147-A177-3AD203B41FA5}">
                      <a16:colId xmlns:a16="http://schemas.microsoft.com/office/drawing/2014/main" val="3323975095"/>
                    </a:ext>
                  </a:extLst>
                </a:gridCol>
              </a:tblGrid>
              <a:tr h="30054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Gray_Value (avg)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2883377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+mn-ea"/>
                          <a:ea typeface="+mn-ea"/>
                        </a:rPr>
                        <a:t>MAX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+mn-ea"/>
                          <a:ea typeface="+mn-ea"/>
                        </a:rPr>
                        <a:t>80</a:t>
                      </a:r>
                      <a:endParaRPr lang="ko-KR" altLang="en-US" sz="13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6121677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defTabSz="96359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+mn-ea"/>
                          <a:ea typeface="+mn-ea"/>
                        </a:rPr>
                        <a:t>MIN </a:t>
                      </a:r>
                      <a:endParaRPr lang="ko-KR" altLang="en-US" sz="13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+mn-ea"/>
                          <a:ea typeface="+mn-ea"/>
                        </a:rPr>
                        <a:t>24</a:t>
                      </a:r>
                      <a:endParaRPr lang="ko-KR" altLang="en-US" sz="13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1978027"/>
                  </a:ext>
                </a:extLst>
              </a:tr>
            </a:tbl>
          </a:graphicData>
        </a:graphic>
      </p:graphicFrame>
      <p:pic>
        <p:nvPicPr>
          <p:cNvPr id="49" name="그림 48">
            <a:extLst>
              <a:ext uri="{FF2B5EF4-FFF2-40B4-BE49-F238E27FC236}">
                <a16:creationId xmlns:a16="http://schemas.microsoft.com/office/drawing/2014/main" id="{5342E967-218F-4693-A12B-D43D74245C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7976" y="2756419"/>
            <a:ext cx="2539645" cy="1530000"/>
          </a:xfrm>
          <a:prstGeom prst="rect">
            <a:avLst/>
          </a:prstGeom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3C90E935-1FB6-4E8F-A28B-F9670FFCB38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38791" y="2758451"/>
            <a:ext cx="2538321" cy="1530000"/>
          </a:xfrm>
          <a:prstGeom prst="rect">
            <a:avLst/>
          </a:prstGeom>
        </p:spPr>
      </p:pic>
      <p:graphicFrame>
        <p:nvGraphicFramePr>
          <p:cNvPr id="52" name="표 51">
            <a:extLst>
              <a:ext uri="{FF2B5EF4-FFF2-40B4-BE49-F238E27FC236}">
                <a16:creationId xmlns:a16="http://schemas.microsoft.com/office/drawing/2014/main" id="{E48CC4E8-6164-4613-BD93-5D79E12D38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9042616"/>
              </p:ext>
            </p:extLst>
          </p:nvPr>
        </p:nvGraphicFramePr>
        <p:xfrm>
          <a:off x="7410430" y="4621997"/>
          <a:ext cx="1783560" cy="11844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1780">
                  <a:extLst>
                    <a:ext uri="{9D8B030D-6E8A-4147-A177-3AD203B41FA5}">
                      <a16:colId xmlns:a16="http://schemas.microsoft.com/office/drawing/2014/main" val="2950915314"/>
                    </a:ext>
                  </a:extLst>
                </a:gridCol>
                <a:gridCol w="891780">
                  <a:extLst>
                    <a:ext uri="{9D8B030D-6E8A-4147-A177-3AD203B41FA5}">
                      <a16:colId xmlns:a16="http://schemas.microsoft.com/office/drawing/2014/main" val="3323975095"/>
                    </a:ext>
                  </a:extLst>
                </a:gridCol>
              </a:tblGrid>
              <a:tr h="30054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Gray_Value (avg)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2883377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+mn-ea"/>
                          <a:ea typeface="+mn-ea"/>
                        </a:rPr>
                        <a:t>MAX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+mn-ea"/>
                          <a:ea typeface="+mn-ea"/>
                        </a:rPr>
                        <a:t>-</a:t>
                      </a:r>
                      <a:endParaRPr lang="ko-KR" altLang="en-US" sz="13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6121677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defTabSz="96359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+mn-ea"/>
                          <a:ea typeface="+mn-ea"/>
                        </a:rPr>
                        <a:t>MIN </a:t>
                      </a:r>
                      <a:endParaRPr lang="ko-KR" altLang="en-US" sz="13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+mn-ea"/>
                          <a:ea typeface="+mn-ea"/>
                        </a:rPr>
                        <a:t>-</a:t>
                      </a:r>
                      <a:endParaRPr lang="ko-KR" altLang="en-US" sz="13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1978027"/>
                  </a:ext>
                </a:extLst>
              </a:tr>
            </a:tbl>
          </a:graphicData>
        </a:graphic>
      </p:graphicFrame>
      <p:sp>
        <p:nvSpPr>
          <p:cNvPr id="53" name="직사각형 52">
            <a:extLst>
              <a:ext uri="{FF2B5EF4-FFF2-40B4-BE49-F238E27FC236}">
                <a16:creationId xmlns:a16="http://schemas.microsoft.com/office/drawing/2014/main" id="{D07113BC-2F13-4B15-87E7-75841F1EED2D}"/>
              </a:ext>
            </a:extLst>
          </p:cNvPr>
          <p:cNvSpPr/>
          <p:nvPr/>
        </p:nvSpPr>
        <p:spPr>
          <a:xfrm>
            <a:off x="1462422" y="3089709"/>
            <a:ext cx="342314" cy="897644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noFill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91B02F8B-39AD-4E3A-A1A3-41E717CAC6D7}"/>
              </a:ext>
            </a:extLst>
          </p:cNvPr>
          <p:cNvSpPr/>
          <p:nvPr/>
        </p:nvSpPr>
        <p:spPr>
          <a:xfrm>
            <a:off x="4514009" y="3089709"/>
            <a:ext cx="342314" cy="897644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noFill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92F27554-3602-48C7-A89D-A1B719B04A0D}"/>
              </a:ext>
            </a:extLst>
          </p:cNvPr>
          <p:cNvSpPr/>
          <p:nvPr/>
        </p:nvSpPr>
        <p:spPr>
          <a:xfrm>
            <a:off x="5863612" y="3089709"/>
            <a:ext cx="342314" cy="897644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noFill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4A5F26A2-DF2E-4A18-930E-DEED5ADA991C}"/>
              </a:ext>
            </a:extLst>
          </p:cNvPr>
          <p:cNvSpPr/>
          <p:nvPr/>
        </p:nvSpPr>
        <p:spPr>
          <a:xfrm>
            <a:off x="2806121" y="3089709"/>
            <a:ext cx="342314" cy="897644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1176635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9FA5F800-6741-4CF9-B09C-00EF007D58BC}"/>
              </a:ext>
            </a:extLst>
          </p:cNvPr>
          <p:cNvSpPr txBox="1"/>
          <p:nvPr/>
        </p:nvSpPr>
        <p:spPr>
          <a:xfrm>
            <a:off x="323850" y="162753"/>
            <a:ext cx="78210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400" b="1" dirty="0">
                <a:solidFill>
                  <a:prstClr val="black"/>
                </a:solidFill>
                <a:latin typeface="맑은 고딕"/>
                <a:ea typeface="맑은 고딕"/>
              </a:rPr>
              <a:t>부록</a:t>
            </a:r>
            <a:r>
              <a:rPr lang="en-US" altLang="ko-KR" sz="2400" b="1" dirty="0">
                <a:solidFill>
                  <a:prstClr val="black"/>
                </a:solidFill>
                <a:latin typeface="맑은 고딕"/>
                <a:ea typeface="맑은 고딕"/>
              </a:rPr>
              <a:t>1) Basler </a:t>
            </a:r>
            <a:r>
              <a:rPr lang="ko-KR" altLang="en-US" sz="2400" b="1" dirty="0">
                <a:solidFill>
                  <a:prstClr val="black"/>
                </a:solidFill>
                <a:latin typeface="맑은 고딕"/>
                <a:ea typeface="맑은 고딕"/>
              </a:rPr>
              <a:t>카메라 사용 시 고배율 렌즈 검토 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9D0E3465-69BC-49D5-BA67-3B53D5C289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2525283"/>
              </p:ext>
            </p:extLst>
          </p:nvPr>
        </p:nvGraphicFramePr>
        <p:xfrm>
          <a:off x="388144" y="622096"/>
          <a:ext cx="9663112" cy="6569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63112">
                  <a:extLst>
                    <a:ext uri="{9D8B030D-6E8A-4147-A177-3AD203B41FA5}">
                      <a16:colId xmlns:a16="http://schemas.microsoft.com/office/drawing/2014/main" val="3030245001"/>
                    </a:ext>
                  </a:extLst>
                </a:gridCol>
              </a:tblGrid>
              <a:tr h="6569279">
                <a:tc>
                  <a:txBody>
                    <a:bodyPr/>
                    <a:lstStyle/>
                    <a:p>
                      <a:pPr marL="0" marR="0" lvl="0" indent="0" algn="l" defTabSz="963595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lang="en-US" altLang="ko-KR" sz="1800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맑은 고딕 Semilight" panose="020B0502040204020203" pitchFamily="50" charset="-127"/>
                        </a:rPr>
                        <a:t>◎ Mitutoyo </a:t>
                      </a:r>
                      <a:r>
                        <a:rPr lang="ko-KR" altLang="en-US" sz="1800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맑은 고딕 Semilight" panose="020B0502040204020203" pitchFamily="50" charset="-127"/>
                        </a:rPr>
                        <a:t>렌즈</a:t>
                      </a:r>
                      <a:r>
                        <a:rPr lang="en-US" altLang="ko-KR" sz="1800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맑은 고딕 Semilight" panose="020B0502040204020203" pitchFamily="50" charset="-127"/>
                        </a:rPr>
                        <a:t>(M Plan Apo) </a:t>
                      </a:r>
                      <a:r>
                        <a:rPr lang="ko-KR" altLang="en-US" sz="1800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맑은 고딕 Semilight" panose="020B0502040204020203" pitchFamily="50" charset="-127"/>
                        </a:rPr>
                        <a:t>사양 비교</a:t>
                      </a:r>
                    </a:p>
                    <a:p>
                      <a:pPr marL="0" marR="0" lvl="0" indent="0" algn="l" defTabSz="963595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endParaRPr lang="en-US" altLang="ko-KR" sz="1800" u="none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맑은 고딕 Semilight" panose="020B0502040204020203" pitchFamily="50" charset="-127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buSzPct val="100000"/>
                        <a:buFontTx/>
                        <a:buNone/>
                      </a:pPr>
                      <a:endParaRPr lang="en-US" altLang="ko-KR" sz="1800" u="none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맑은 고딕 Semilight" panose="020B0502040204020203" pitchFamily="50" charset="-127"/>
                      </a:endParaRPr>
                    </a:p>
                  </a:txBody>
                  <a:tcPr marT="3600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1456235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1247BC05-6D62-4D68-B62B-F4362E0A61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5568057"/>
              </p:ext>
            </p:extLst>
          </p:nvPr>
        </p:nvGraphicFramePr>
        <p:xfrm>
          <a:off x="813600" y="1227664"/>
          <a:ext cx="9016199" cy="22203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81667">
                  <a:extLst>
                    <a:ext uri="{9D8B030D-6E8A-4147-A177-3AD203B41FA5}">
                      <a16:colId xmlns:a16="http://schemas.microsoft.com/office/drawing/2014/main" val="1442298184"/>
                    </a:ext>
                  </a:extLst>
                </a:gridCol>
                <a:gridCol w="1489749">
                  <a:extLst>
                    <a:ext uri="{9D8B030D-6E8A-4147-A177-3AD203B41FA5}">
                      <a16:colId xmlns:a16="http://schemas.microsoft.com/office/drawing/2014/main" val="1760189866"/>
                    </a:ext>
                  </a:extLst>
                </a:gridCol>
                <a:gridCol w="1918812">
                  <a:extLst>
                    <a:ext uri="{9D8B030D-6E8A-4147-A177-3AD203B41FA5}">
                      <a16:colId xmlns:a16="http://schemas.microsoft.com/office/drawing/2014/main" val="2823196724"/>
                    </a:ext>
                  </a:extLst>
                </a:gridCol>
                <a:gridCol w="3825971">
                  <a:extLst>
                    <a:ext uri="{9D8B030D-6E8A-4147-A177-3AD203B41FA5}">
                      <a16:colId xmlns:a16="http://schemas.microsoft.com/office/drawing/2014/main" val="2186683896"/>
                    </a:ext>
                  </a:extLst>
                </a:gridCol>
              </a:tblGrid>
              <a:tr h="4440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항목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20x SL (IT LD)</a:t>
                      </a:r>
                      <a:endParaRPr lang="ko-KR" altLang="en-US" sz="14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50x SL</a:t>
                      </a: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고배율</a:t>
                      </a:r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4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460823"/>
                  </a:ext>
                </a:extLst>
              </a:tr>
              <a:tr h="4440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WD(</a:t>
                      </a: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작동 거리</a:t>
                      </a:r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4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30.5mm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20.5mm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WD 10mm </a:t>
                      </a:r>
                      <a:r>
                        <a:rPr lang="ko-KR" altLang="en-US" sz="1400" b="1" dirty="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감소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0233506"/>
                  </a:ext>
                </a:extLst>
              </a:tr>
              <a:tr h="4440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DoF(</a:t>
                      </a: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피사체 심도</a:t>
                      </a:r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4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3.5um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1.6um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 err="1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DoF</a:t>
                      </a:r>
                      <a:r>
                        <a:rPr lang="en-US" altLang="ko-KR" sz="1400" b="1" dirty="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 1.9um </a:t>
                      </a:r>
                      <a:r>
                        <a:rPr lang="ko-KR" altLang="en-US" sz="1400" b="1" dirty="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좁아짐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(Stage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흔들림에 취약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0267404"/>
                  </a:ext>
                </a:extLst>
              </a:tr>
              <a:tr h="4440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NA(</a:t>
                      </a: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수치 구경</a:t>
                      </a:r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4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0.28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0.42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>
                          <a:latin typeface="+mn-ea"/>
                          <a:ea typeface="+mn-ea"/>
                        </a:rPr>
                        <a:t>Resolution = 0.61 x (λ/NA), λ=0.55um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3036995"/>
                  </a:ext>
                </a:extLst>
              </a:tr>
              <a:tr h="4440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Resolution(</a:t>
                      </a: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해상력</a:t>
                      </a:r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4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1.2um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0.8um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3918634"/>
                  </a:ext>
                </a:extLst>
              </a:tr>
            </a:tbl>
          </a:graphicData>
        </a:graphic>
      </p:graphicFrame>
      <p:graphicFrame>
        <p:nvGraphicFramePr>
          <p:cNvPr id="6" name="표 16">
            <a:extLst>
              <a:ext uri="{FF2B5EF4-FFF2-40B4-BE49-F238E27FC236}">
                <a16:creationId xmlns:a16="http://schemas.microsoft.com/office/drawing/2014/main" id="{86E6AC06-DA63-444E-AA17-D81E6D47DD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2045680"/>
              </p:ext>
            </p:extLst>
          </p:nvPr>
        </p:nvGraphicFramePr>
        <p:xfrm>
          <a:off x="813600" y="3673791"/>
          <a:ext cx="9016200" cy="14411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02700">
                  <a:extLst>
                    <a:ext uri="{9D8B030D-6E8A-4147-A177-3AD203B41FA5}">
                      <a16:colId xmlns:a16="http://schemas.microsoft.com/office/drawing/2014/main" val="2665386621"/>
                    </a:ext>
                  </a:extLst>
                </a:gridCol>
                <a:gridCol w="1502700">
                  <a:extLst>
                    <a:ext uri="{9D8B030D-6E8A-4147-A177-3AD203B41FA5}">
                      <a16:colId xmlns:a16="http://schemas.microsoft.com/office/drawing/2014/main" val="3340572542"/>
                    </a:ext>
                  </a:extLst>
                </a:gridCol>
                <a:gridCol w="1502700">
                  <a:extLst>
                    <a:ext uri="{9D8B030D-6E8A-4147-A177-3AD203B41FA5}">
                      <a16:colId xmlns:a16="http://schemas.microsoft.com/office/drawing/2014/main" val="4229646282"/>
                    </a:ext>
                  </a:extLst>
                </a:gridCol>
                <a:gridCol w="1502700">
                  <a:extLst>
                    <a:ext uri="{9D8B030D-6E8A-4147-A177-3AD203B41FA5}">
                      <a16:colId xmlns:a16="http://schemas.microsoft.com/office/drawing/2014/main" val="2125863668"/>
                    </a:ext>
                  </a:extLst>
                </a:gridCol>
                <a:gridCol w="1502700">
                  <a:extLst>
                    <a:ext uri="{9D8B030D-6E8A-4147-A177-3AD203B41FA5}">
                      <a16:colId xmlns:a16="http://schemas.microsoft.com/office/drawing/2014/main" val="1903047296"/>
                    </a:ext>
                  </a:extLst>
                </a:gridCol>
                <a:gridCol w="1502700">
                  <a:extLst>
                    <a:ext uri="{9D8B030D-6E8A-4147-A177-3AD203B41FA5}">
                      <a16:colId xmlns:a16="http://schemas.microsoft.com/office/drawing/2014/main" val="2485427475"/>
                    </a:ext>
                  </a:extLst>
                </a:gridCol>
              </a:tblGrid>
              <a:tr h="360283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Dimension(mm)</a:t>
                      </a:r>
                      <a:endParaRPr lang="ko-KR" altLang="en-US" sz="14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323516"/>
                  </a:ext>
                </a:extLst>
              </a:tr>
              <a:tr h="360283"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1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A</a:t>
                      </a:r>
                      <a:endParaRPr lang="ko-KR" altLang="en-US" sz="1400" b="1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B</a:t>
                      </a:r>
                      <a:endParaRPr lang="ko-KR" altLang="en-US" sz="1400" b="1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C</a:t>
                      </a:r>
                      <a:endParaRPr lang="ko-KR" altLang="en-US" sz="1400" b="1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D</a:t>
                      </a:r>
                      <a:endParaRPr lang="ko-KR" altLang="en-US" sz="1400" b="1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1400" b="1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1387320"/>
                  </a:ext>
                </a:extLst>
              </a:tr>
              <a:tr h="3602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20x</a:t>
                      </a: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SL</a:t>
                      </a: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(IT</a:t>
                      </a: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LD)</a:t>
                      </a:r>
                      <a:endParaRPr lang="ko-KR" altLang="en-US" sz="1400" b="1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64.5</a:t>
                      </a:r>
                      <a:endParaRPr lang="ko-KR" altLang="en-US" sz="1400" b="1" dirty="0">
                        <a:solidFill>
                          <a:srgbClr val="0000FF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1.5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24.8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24.0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32.2</a:t>
                      </a:r>
                      <a:endParaRPr lang="ko-KR" altLang="en-US" sz="1400" b="1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9151629"/>
                  </a:ext>
                </a:extLst>
              </a:tr>
              <a:tr h="3602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50x SL (</a:t>
                      </a: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고배율</a:t>
                      </a:r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400" b="1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74.5</a:t>
                      </a:r>
                      <a:endParaRPr lang="ko-KR" altLang="en-US" sz="1400" b="1" dirty="0">
                        <a:solidFill>
                          <a:srgbClr val="0000FF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1.5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29.2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-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32.2</a:t>
                      </a:r>
                      <a:endParaRPr lang="ko-KR" altLang="en-US" sz="1400" b="1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544294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D86ABD3-8F95-439A-9E7F-1DCBB213FA90}"/>
              </a:ext>
            </a:extLst>
          </p:cNvPr>
          <p:cNvSpPr txBox="1"/>
          <p:nvPr/>
        </p:nvSpPr>
        <p:spPr>
          <a:xfrm>
            <a:off x="540544" y="5186776"/>
            <a:ext cx="26963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/>
            <a:r>
              <a:rPr lang="en-US" altLang="ko-KR" sz="1400" b="1" dirty="0">
                <a:solidFill>
                  <a:srgbClr val="0000FF"/>
                </a:solidFill>
                <a:latin typeface="+mn-ea"/>
                <a:ea typeface="+mn-ea"/>
              </a:rPr>
              <a:t>※ Dimension </a:t>
            </a:r>
            <a:r>
              <a:rPr lang="en-US" altLang="ko-KR" sz="1400" b="1" dirty="0">
                <a:solidFill>
                  <a:srgbClr val="0000FF"/>
                </a:solidFill>
                <a:latin typeface="+mn-ea"/>
              </a:rPr>
              <a:t>10</a:t>
            </a:r>
            <a:r>
              <a:rPr lang="en-US" altLang="ko-KR" sz="1400" b="1" dirty="0">
                <a:solidFill>
                  <a:srgbClr val="0000FF"/>
                </a:solidFill>
                <a:latin typeface="+mn-ea"/>
                <a:ea typeface="+mn-ea"/>
              </a:rPr>
              <a:t>mm </a:t>
            </a:r>
            <a:r>
              <a:rPr lang="ko-KR" altLang="en-US" sz="1400" b="1" dirty="0">
                <a:solidFill>
                  <a:srgbClr val="0000FF"/>
                </a:solidFill>
                <a:latin typeface="+mn-ea"/>
                <a:ea typeface="+mn-ea"/>
              </a:rPr>
              <a:t>증가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1255BA1-5624-400A-8DA2-3ECDB95EA9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324225" y="5340664"/>
            <a:ext cx="3790950" cy="1706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156179"/>
      </p:ext>
    </p:extLst>
  </p:cSld>
  <p:clrMapOvr>
    <a:masterClrMapping/>
  </p:clrMapOvr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">
            <a:extLst xmlns:a="http://schemas.openxmlformats.org/drawingml/2006/main">
              <a:ext uri="{FF2B5EF4-FFF2-40B4-BE49-F238E27FC236}">
                <a16:creationId xmlns:a16="http://schemas.microsoft.com/office/drawing/2014/main" id="{0C19A733-EAB8-4E62-9054-973EA8C66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1925"/>
            <a:ext cx="8143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24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3. Review Basler 카메라 선정 검토</a:t>
            </a:r>
          </a:p>
        </p:txBody>
      </p:sp>
      <p:sp>
        <p:nvSpPr>
          <p:cNvPr id="2" name="conclusion">
            <a:extLst xmlns:a="http://schemas.openxmlformats.org/drawingml/2006/main">
              <a:ext uri="{FF2B5EF4-FFF2-40B4-BE49-F238E27FC236}">
                <a16:creationId xmlns:a16="http://schemas.microsoft.com/office/drawing/2014/main" id="{83814225-9EFB-4A1C-A0B4-BC69BD393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81050"/>
            <a:ext cx="95916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00" b="1">
                <a:solidFill>
                  <a:srgbClr val="0000FF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00FF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1">
                <a:solidFill>
                  <a:srgbClr val="0000FF"/>
                </a:solidFill>
                <a:latin typeface="맑은 고딕"/>
                <a:ea typeface="맑은 고딕"/>
                <a:cs typeface="맑은 고딕"/>
              </a:rPr>
              <a:t>Basler 조건부 채택 가능. 최종 정확도는 실제 가공홀로 검증</a:t>
            </a:r>
          </a:p>
        </p:txBody>
      </p:sp>
      <p:sp>
        <p:nvSpPr>
          <p:cNvPr id="3" name="conditions">
            <a:extLst xmlns:a="http://schemas.openxmlformats.org/drawingml/2006/main">
              <a:ext uri="{FF2B5EF4-FFF2-40B4-BE49-F238E27FC236}">
                <a16:creationId xmlns:a16="http://schemas.microsoft.com/office/drawing/2014/main" id="{B6D2A17B-9B18-4402-B409-3B5A8071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81100"/>
            <a:ext cx="9591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425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Basler는 형상을 더 촘촘하게 표현함. 이번 영상의 경계 선명도는 두 카메라가 거의 같음</a:t>
            </a:r>
          </a:p>
        </p:txBody>
      </p:sp>
      <p:sp>
        <p:nvSpPr>
          <p:cNvPr id="4" name="camera_conditions">
            <a:extLst xmlns:a="http://schemas.openxmlformats.org/drawingml/2006/main">
              <a:ext uri="{FF2B5EF4-FFF2-40B4-BE49-F238E27FC236}">
                <a16:creationId xmlns:a16="http://schemas.microsoft.com/office/drawing/2014/main" id="{20027FB1-F20A-467E-AE75-3D1B90032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04950"/>
            <a:ext cx="95916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163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>
              <a:defRPr sz="1163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163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비교 조건: 20x, 10µs, HP 30 고정. 첨부 영상 각 1장, Sony 흑백 / Basler 컬러 센서의 Gray 영상</a:t>
            </a:r>
          </a:p>
        </p:txBody>
      </p:sp>
      <p:graphicFrame>
        <p:nvGraphicFramePr>
          <p:cNvPr id="5" name="camera_metrics">
            <a:extLst xmlns:a="http://schemas.openxmlformats.org/drawingml/2006/main">
              <a:ext uri="{FF2B5EF4-FFF2-40B4-BE49-F238E27FC236}">
                <a16:creationId xmlns:a16="http://schemas.microsoft.com/office/drawing/2014/main" id="{B0C2919F-9F71-4394-B441-AD966254FB4E}"/>
              </a:ext>
            </a:extLst>
          </p:cNvPr>
          <p:cNvGraphicFramePr/>
          <p:nvPr/>
        </p:nvGraphicFramePr>
        <p:xfrm>
          <a:off xmlns:a="http://schemas.openxmlformats.org/drawingml/2006/main" x="419100" y="1819275"/>
          <a:ext xmlns:a="http://schemas.openxmlformats.org/drawingml/2006/main" cx="6086475" cy="2705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67025"/>
                <a:gridCol w="1609725"/>
                <a:gridCol w="1609725"/>
              </a:tblGrid>
              <a:tr h="450850">
                <a:tc>
                  <a:txBody>
                    <a:bodyPr anchor="ctr"/>
                    <a:lstStyle/>
                    <a:p>
                      <a:pPr algn="ctr"/>
                      <a:r>
                        <a:rPr sz="1238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 항목</a:t>
                      </a:r>
                    </a:p>
                  </a:txBody>
                  <a:tcPr marL="57150" marR="57150" marT="28575" marB="28575" anchor="ctr">
                    <a:solidFill>
                      <a:srgbClr val="E7E7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38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Sony XCG-CG510</a:t>
                      </a:r>
                    </a:p>
                  </a:txBody>
                  <a:tcPr marL="57150" marR="57150" marT="28575" marB="28575" anchor="ctr">
                    <a:solidFill>
                      <a:srgbClr val="E7E7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38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Basler a2A2600</a:t>
                      </a:r>
                    </a:p>
                  </a:txBody>
                  <a:tcPr marL="57150" marR="57150" marT="28575" marB="28575" anchor="ctr">
                    <a:solidFill>
                      <a:srgbClr val="E7E7E7"/>
                    </a:solidFill>
                  </a:tcPr>
                </a:tc>
              </a:tr>
              <a:tr h="450850">
                <a:tc>
                  <a:txBody>
                    <a:bodyPr anchor="ctr"/>
                    <a:lstStyle/>
                    <a:p>
                      <a:pPr algn="l"/>
                      <a:r>
                        <a:rPr sz="1238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5–7µm 홀을 표현하는 픽셀 수*</a:t>
                      </a:r>
                    </a:p>
                    <a:p>
                      <a:pPr algn="l"/>
                      <a:r>
                        <a:rPr sz="1238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(많을수록 형상을 촘촘하게 표현)</a:t>
                      </a:r>
                    </a:p>
                  </a:txBody>
                  <a:tcPr marL="57150" marR="57150" marT="28575" marB="28575" anchor="ctr">
                    <a:solidFill>
                      <a:srgbClr val="E7E7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38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29–41 px</a:t>
                      </a:r>
                    </a:p>
                  </a:txBody>
                  <a:tcPr marL="57150" marR="571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38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40–56 px</a:t>
                      </a:r>
                    </a:p>
                  </a:txBody>
                  <a:tcPr marL="57150" marR="57150" marT="28575" marB="28575" anchor="ctr">
                    <a:solidFill>
                      <a:srgbClr val="FFFFFF"/>
                    </a:solidFill>
                  </a:tcPr>
                </a:tc>
              </a:tr>
              <a:tr h="450850">
                <a:tc>
                  <a:txBody>
                    <a:bodyPr anchor="ctr"/>
                    <a:lstStyle/>
                    <a:p>
                      <a:pPr algn="l"/>
                      <a:r>
                        <a:rPr sz="1238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밝음에서 어둠으로 바뀌는 폭*</a:t>
                      </a:r>
                    </a:p>
                    <a:p>
                      <a:pPr algn="l"/>
                      <a:r>
                        <a:rPr sz="1238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(작을수록 경계가 선명함)</a:t>
                      </a:r>
                    </a:p>
                  </a:txBody>
                  <a:tcPr marL="57150" marR="57150" marT="28575" marB="28575" anchor="ctr">
                    <a:solidFill>
                      <a:srgbClr val="E7E7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38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1.04µm</a:t>
                      </a:r>
                    </a:p>
                  </a:txBody>
                  <a:tcPr marL="57150" marR="571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38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1.02µm</a:t>
                      </a:r>
                    </a:p>
                  </a:txBody>
                  <a:tcPr marL="57150" marR="57150" marT="28575" marB="28575" anchor="ctr">
                    <a:solidFill>
                      <a:srgbClr val="FFFFFF"/>
                    </a:solidFill>
                  </a:tcPr>
                </a:tc>
              </a:tr>
              <a:tr h="450850">
                <a:tc>
                  <a:txBody>
                    <a:bodyPr anchor="ctr"/>
                    <a:lstStyle/>
                    <a:p>
                      <a:pPr algn="l"/>
                      <a:r>
                        <a:rPr sz="1238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경계의 밝기 차이 (0–255 기준)</a:t>
                      </a:r>
                    </a:p>
                    <a:p>
                      <a:pPr algn="l"/>
                      <a:r>
                        <a:rPr sz="1238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(클수록 경계를 구분하기 쉬움)</a:t>
                      </a:r>
                    </a:p>
                  </a:txBody>
                  <a:tcPr marL="57150" marR="57150" marT="28575" marB="28575" anchor="ctr">
                    <a:solidFill>
                      <a:srgbClr val="E7E7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38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57</a:t>
                      </a:r>
                    </a:p>
                  </a:txBody>
                  <a:tcPr marL="57150" marR="571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38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44</a:t>
                      </a:r>
                    </a:p>
                  </a:txBody>
                  <a:tcPr marL="57150" marR="57150" marT="28575" marB="28575" anchor="ctr">
                    <a:solidFill>
                      <a:srgbClr val="FFFFFF"/>
                    </a:solidFill>
                  </a:tcPr>
                </a:tc>
              </a:tr>
              <a:tr h="450850">
                <a:tc>
                  <a:txBody>
                    <a:bodyPr anchor="ctr"/>
                    <a:lstStyle/>
                    <a:p>
                      <a:pPr algn="l"/>
                      <a:r>
                        <a:rPr sz="1238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영상의 거친 정도 (밝기 값 기준)</a:t>
                      </a:r>
                    </a:p>
                    <a:p>
                      <a:pPr algn="l"/>
                      <a:r>
                        <a:rPr sz="1238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(작을수록 매끈함, 표면 무늬 포함)</a:t>
                      </a:r>
                    </a:p>
                  </a:txBody>
                  <a:tcPr marL="57150" marR="57150" marT="28575" marB="28575" anchor="ctr">
                    <a:solidFill>
                      <a:srgbClr val="E7E7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38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1.05</a:t>
                      </a:r>
                    </a:p>
                  </a:txBody>
                  <a:tcPr marL="57150" marR="571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38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1.53</a:t>
                      </a:r>
                    </a:p>
                  </a:txBody>
                  <a:tcPr marL="57150" marR="57150" marT="28575" marB="28575" anchor="ctr">
                    <a:solidFill>
                      <a:srgbClr val="FFFFFF"/>
                    </a:solidFill>
                  </a:tcPr>
                </a:tc>
              </a:tr>
              <a:tr h="450850">
                <a:tc>
                  <a:txBody>
                    <a:bodyPr anchor="ctr"/>
                    <a:lstStyle/>
                    <a:p>
                      <a:pPr algn="l"/>
                      <a:r>
                        <a:rPr sz="1238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설정 변경에 따른 중심 이동*</a:t>
                      </a:r>
                    </a:p>
                    <a:p>
                      <a:pPr algn="l"/>
                      <a:r>
                        <a:rPr sz="1238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(같은 영상 안에서 비교)</a:t>
                      </a:r>
                    </a:p>
                  </a:txBody>
                  <a:tcPr marL="57150" marR="57150" marT="28575" marB="28575" anchor="ctr">
                    <a:solidFill>
                      <a:srgbClr val="E7E7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38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0.065µm</a:t>
                      </a:r>
                    </a:p>
                  </a:txBody>
                  <a:tcPr marL="57150" marR="571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38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0.041µm</a:t>
                      </a:r>
                    </a:p>
                  </a:txBody>
                  <a:tcPr marL="57150" marR="57150" marT="28575" marB="285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metric_limits">
            <a:extLst xmlns:a="http://schemas.openxmlformats.org/drawingml/2006/main">
              <a:ext uri="{FF2B5EF4-FFF2-40B4-BE49-F238E27FC236}">
                <a16:creationId xmlns:a16="http://schemas.microsoft.com/office/drawing/2014/main" id="{B58551F2-ED3C-4B02-826F-4D2A1699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572000"/>
            <a:ext cx="60864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*µm 및 홀 픽셀 수는 실제 배율 20x 가정. 실측 보정 필요.</a:t>
            </a:r>
          </a:p>
          <a:p xmlns:a="http://schemas.openxmlformats.org/drawingml/2006/main">
            <a:pPr>
              <a:def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중심 이동은 설정을 바꾼 결과이며, 실제 측정 정확도를 뜻하지 않음.</a:t>
            </a:r>
          </a:p>
          <a:p xmlns:a="http://schemas.openxmlformats.org/drawingml/2006/main">
            <a:pPr>
              <a:def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거친 정도에는 표면 무늬가 포함되므로 카메라 잡음만의 수치가 아님.</a:t>
            </a:r>
          </a:p>
        </p:txBody>
      </p:sp>
      <p:sp>
        <p:nvSpPr>
          <p:cNvPr id="7" name="Sony_crop_label">
            <a:extLst xmlns:a="http://schemas.openxmlformats.org/drawingml/2006/main">
              <a:ext uri="{FF2B5EF4-FFF2-40B4-BE49-F238E27FC236}">
                <a16:creationId xmlns:a16="http://schemas.microsoft.com/office/drawing/2014/main" id="{64F7553D-86FA-457F-B722-F2A456E7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19275"/>
            <a:ext cx="15144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Sony 전극 검출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FB0A88-7176-4954-B33D-9E0F5E5835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409330b2e442b8"/>
          <a:stretch xmlns:a="http://schemas.openxmlformats.org/drawingml/2006/main"/>
        </p:blipFill>
        <p:spPr>
          <a:xfrm xmlns:a="http://schemas.openxmlformats.org/drawingml/2006/main">
            <a:off x="6858000" y="2085975"/>
            <a:ext cx="1285875" cy="1285875"/>
          </a:xfrm>
          <a:prstGeom xmlns:a="http://schemas.openxmlformats.org/drawingml/2006/main" prst="rect">
            <a:avLst/>
          </a:prstGeom>
        </p:spPr>
      </p:pic>
      <p:sp>
        <p:nvSpPr>
          <p:cNvPr id="9" name="Basler_crop_label">
            <a:extLst xmlns:a="http://schemas.openxmlformats.org/drawingml/2006/main">
              <a:ext uri="{FF2B5EF4-FFF2-40B4-BE49-F238E27FC236}">
                <a16:creationId xmlns:a16="http://schemas.microsoft.com/office/drawing/2014/main" id="{518D7D3E-666E-4B74-98B3-267D960E0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1819275"/>
            <a:ext cx="15144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Basler 전극 검출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F7E54C-F6AF-462D-8A6A-9B5F9496AE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eefea5afb540ac"/>
          <a:stretch xmlns:a="http://schemas.openxmlformats.org/drawingml/2006/main"/>
        </p:blipFill>
        <p:spPr>
          <a:xfrm xmlns:a="http://schemas.openxmlformats.org/drawingml/2006/main">
            <a:off x="8467725" y="2085975"/>
            <a:ext cx="1285875" cy="1285875"/>
          </a:xfrm>
          <a:prstGeom xmlns:a="http://schemas.openxmlformats.org/drawingml/2006/main" prst="rect">
            <a:avLst/>
          </a:prstGeom>
        </p:spPr>
      </p:pic>
      <p:sp>
        <p:nvSpPr>
          <p:cNvPr id="11" name="crop_disclosure">
            <a:extLst xmlns:a="http://schemas.openxmlformats.org/drawingml/2006/main">
              <a:ext uri="{FF2B5EF4-FFF2-40B4-BE49-F238E27FC236}">
                <a16:creationId xmlns:a16="http://schemas.microsoft.com/office/drawing/2014/main" id="{D632D5C6-41D3-4AB0-B75E-B7D09699B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41947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975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보기 쉽게 밝기 조정. 동일 290px 범위이며</a:t>
            </a:r>
          </a:p>
          <a:p xmlns:a="http://schemas.openxmlformats.org/drawingml/2006/main">
            <a:pPr>
              <a:defRPr sz="975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실제 촬영 범위는 다름. 원본으로 수치 분석.</a:t>
            </a:r>
          </a:p>
        </p:txBody>
      </p:sp>
      <p:sp>
        <p:nvSpPr>
          <p:cNvPr id="12" name="sony_summary">
            <a:extLst xmlns:a="http://schemas.openxmlformats.org/drawingml/2006/main">
              <a:ext uri="{FF2B5EF4-FFF2-40B4-BE49-F238E27FC236}">
                <a16:creationId xmlns:a16="http://schemas.microsoft.com/office/drawing/2014/main" id="{423936CB-BA63-47CB-9DB1-8FBB27AF1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862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425" b="1">
                <a:solidFill>
                  <a:srgbClr val="1C5E94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C5E94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1">
                <a:solidFill>
                  <a:srgbClr val="1C5E94"/>
                </a:solidFill>
                <a:latin typeface="맑은 고딕"/>
                <a:ea typeface="맑은 고딕"/>
                <a:cs typeface="맑은 고딕"/>
              </a:rPr>
              <a:t>Sony: 밝기 차이가 크고</a:t>
            </a:r>
          </a:p>
          <a:p xmlns:a="http://schemas.openxmlformats.org/drawingml/2006/main">
            <a:pPr>
              <a:defRPr sz="1425" b="1">
                <a:solidFill>
                  <a:srgbClr val="1C5E94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1">
                <a:solidFill>
                  <a:srgbClr val="1C5E94"/>
                </a:solidFill>
                <a:latin typeface="맑은 고딕"/>
                <a:ea typeface="맑은 고딕"/>
                <a:cs typeface="맑은 고딕"/>
              </a:rPr>
              <a:t>영상의 거친 정도가 작음</a:t>
            </a:r>
          </a:p>
        </p:txBody>
      </p:sp>
      <p:sp>
        <p:nvSpPr>
          <p:cNvPr id="13" name="basler_summary">
            <a:extLst xmlns:a="http://schemas.openxmlformats.org/drawingml/2006/main">
              <a:ext uri="{FF2B5EF4-FFF2-40B4-BE49-F238E27FC236}">
                <a16:creationId xmlns:a16="http://schemas.microsoft.com/office/drawing/2014/main" id="{053F3F92-55C8-423C-AC40-AA9296CC7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7675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425" b="1">
                <a:solidFill>
                  <a:srgbClr val="CF6A20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CF6A20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1">
                <a:solidFill>
                  <a:srgbClr val="CF6A20"/>
                </a:solidFill>
                <a:latin typeface="맑은 고딕"/>
                <a:ea typeface="맑은 고딕"/>
                <a:cs typeface="맑은 고딕"/>
              </a:rPr>
              <a:t>Basler: 작은 형상을 표현할</a:t>
            </a:r>
          </a:p>
          <a:p xmlns:a="http://schemas.openxmlformats.org/drawingml/2006/main">
            <a:pPr>
              <a:defRPr sz="1425" b="1">
                <a:solidFill>
                  <a:srgbClr val="CF6A20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1">
                <a:solidFill>
                  <a:srgbClr val="CF6A20"/>
                </a:solidFill>
                <a:latin typeface="맑은 고딕"/>
                <a:ea typeface="맑은 고딕"/>
                <a:cs typeface="맑은 고딕"/>
              </a:rPr>
              <a:t>픽셀 수가 더 많음</a:t>
            </a:r>
          </a:p>
        </p:txBody>
      </p:sp>
      <p:sp>
        <p:nvSpPr>
          <p:cNvPr id="14" name="timing_title">
            <a:extLst xmlns:a="http://schemas.openxmlformats.org/drawingml/2006/main">
              <a:ext uri="{FF2B5EF4-FFF2-40B4-BE49-F238E27FC236}">
                <a16:creationId xmlns:a16="http://schemas.microsoft.com/office/drawing/2014/main" id="{0FECAC17-3B63-4C91-A849-184BAC56A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14925"/>
            <a:ext cx="95916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4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필터 처리 시간 (ms)   40회 중 약 38회가 아래 시간 안에 완료</a:t>
            </a:r>
          </a:p>
        </p:txBody>
      </p:sp>
      <p:graphicFrame>
        <p:nvGraphicFramePr>
          <p:cNvPr id="15" name="preprocess_times">
            <a:extLst xmlns:a="http://schemas.openxmlformats.org/drawingml/2006/main">
              <a:ext uri="{FF2B5EF4-FFF2-40B4-BE49-F238E27FC236}">
                <a16:creationId xmlns:a16="http://schemas.microsoft.com/office/drawing/2014/main" id="{378CA504-79CA-4AD1-8F40-EEF6D0D60D23}"/>
              </a:ext>
            </a:extLst>
          </p:cNvPr>
          <p:cNvGraphicFramePr/>
          <p:nvPr/>
        </p:nvGraphicFramePr>
        <p:xfrm>
          <a:off xmlns:a="http://schemas.openxmlformats.org/drawingml/2006/main" x="419100" y="5353050"/>
          <a:ext xmlns:a="http://schemas.openxmlformats.org/drawingml/2006/main" cx="9591675" cy="1009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1619250"/>
                <a:gridCol w="1619250"/>
                <a:gridCol w="2257425"/>
              </a:tblGrid>
              <a:tr h="336550">
                <a:tc>
                  <a:txBody>
                    <a:bodyPr anchor="ctr"/>
                    <a:lstStyle/>
                    <a:p>
                      <a:pPr algn="ctr"/>
                      <a:r>
                        <a:rPr sz="1238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처리 방법</a:t>
                      </a:r>
                    </a:p>
                  </a:txBody>
                  <a:tcPr marL="57150" marR="57150" marT="28575" marB="28575" anchor="ctr">
                    <a:solidFill>
                      <a:srgbClr val="E7E7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38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Sony 전체 영상</a:t>
                      </a:r>
                    </a:p>
                  </a:txBody>
                  <a:tcPr marL="57150" marR="57150" marT="28575" marB="28575" anchor="ctr">
                    <a:solidFill>
                      <a:srgbClr val="E7E7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38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Basler 전체 영상</a:t>
                      </a:r>
                    </a:p>
                  </a:txBody>
                  <a:tcPr marL="57150" marR="57150" marT="28575" marB="28575" anchor="ctr">
                    <a:solidFill>
                      <a:srgbClr val="E7E7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38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Basler 작은 부분(512²)</a:t>
                      </a:r>
                    </a:p>
                  </a:txBody>
                  <a:tcPr marL="57150" marR="57150" marT="28575" marB="28575" anchor="ctr">
                    <a:solidFill>
                      <a:srgbClr val="E7E7E7"/>
                    </a:solidFill>
                  </a:tcPr>
                </a:tc>
              </a:tr>
              <a:tr h="336550">
                <a:tc>
                  <a:txBody>
                    <a:bodyPr anchor="ctr"/>
                    <a:lstStyle/>
                    <a:p>
                      <a:pPr algn="l"/>
                      <a:r>
                        <a:rPr sz="1238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약한 필터 + 밝기 조정 (Gaussian 3)</a:t>
                      </a:r>
                    </a:p>
                  </a:txBody>
                  <a:tcPr marL="57150" marR="57150" marT="28575" marB="28575" anchor="ctr">
                    <a:solidFill>
                      <a:srgbClr val="E7E7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38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9.56</a:t>
                      </a:r>
                    </a:p>
                  </a:txBody>
                  <a:tcPr marL="57150" marR="571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38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8.08</a:t>
                      </a:r>
                    </a:p>
                  </a:txBody>
                  <a:tcPr marL="57150" marR="571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38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0.25</a:t>
                      </a:r>
                    </a:p>
                  </a:txBody>
                  <a:tcPr marL="57150" marR="57150" marT="28575" marB="28575" anchor="ctr">
                    <a:solidFill>
                      <a:srgbClr val="FFFFFF"/>
                    </a:solidFill>
                  </a:tcPr>
                </a:tc>
              </a:tr>
              <a:tr h="336550">
                <a:tc>
                  <a:txBody>
                    <a:bodyPr anchor="ctr"/>
                    <a:lstStyle/>
                    <a:p>
                      <a:pPr algn="l"/>
                      <a:r>
                        <a:rPr sz="1238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강한 필터 + 밝기 조정 (Gaussian 11)</a:t>
                      </a:r>
                    </a:p>
                  </a:txBody>
                  <a:tcPr marL="57150" marR="57150" marT="28575" marB="28575" anchor="ctr">
                    <a:solidFill>
                      <a:srgbClr val="E7E7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38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16.36</a:t>
                      </a:r>
                    </a:p>
                  </a:txBody>
                  <a:tcPr marL="57150" marR="571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38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16.45</a:t>
                      </a:r>
                    </a:p>
                  </a:txBody>
                  <a:tcPr marL="57150" marR="571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38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0.75</a:t>
                      </a:r>
                    </a:p>
                  </a:txBody>
                  <a:tcPr marL="57150" marR="57150" marT="28575" marB="285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yolo_method">
            <a:extLst xmlns:a="http://schemas.openxmlformats.org/drawingml/2006/main">
              <a:ext uri="{FF2B5EF4-FFF2-40B4-BE49-F238E27FC236}">
                <a16:creationId xmlns:a16="http://schemas.microsoft.com/office/drawing/2014/main" id="{146DD1B7-7077-4713-B8CF-0DE090207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86525"/>
            <a:ext cx="95916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권장: YOLO로 위치를 찾고 원본 영상의 작은 부분에서 전극과 홀의 중심 차이를 계산</a:t>
            </a:r>
          </a:p>
        </p:txBody>
      </p:sp>
      <p:sp>
        <p:nvSpPr>
          <p:cNvPr id="17" name="latency_limit">
            <a:extLst xmlns:a="http://schemas.openxmlformats.org/drawingml/2006/main">
              <a:ext uri="{FF2B5EF4-FFF2-40B4-BE49-F238E27FC236}">
                <a16:creationId xmlns:a16="http://schemas.microsoft.com/office/drawing/2014/main" id="{8627E8A0-C0EE-4747-A668-095A88EA5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743700"/>
            <a:ext cx="95916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시간은 현재 PC의 OpenCV 실측이며 촬영·전송·YOLO 제외. 전체 RGB8 전송은 최소 133ms</a:t>
            </a:r>
          </a:p>
        </p:txBody>
      </p:sp>
      <p:sp>
        <p:nvSpPr>
          <p:cNvPr id="18" name="acceptance">
            <a:extLst xmlns:a="http://schemas.openxmlformats.org/drawingml/2006/main">
              <a:ext uri="{FF2B5EF4-FFF2-40B4-BE49-F238E27FC236}">
                <a16:creationId xmlns:a16="http://schemas.microsoft.com/office/drawing/2014/main" id="{0A092CCC-DB0E-4260-94F0-6EA4BB27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991350"/>
            <a:ext cx="95916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최종 확인: 실제 가공홀 반복 촬영, 기준 측정값과 비교, 실제 장비에서 100ms 검증</a:t>
            </a:r>
          </a:p>
        </p:txBody>
      </p:sp>
      <p:sp>
        <p:nvSpPr>
          <p:cNvPr id="19" name="page_number">
            <a:extLst xmlns:a="http://schemas.openxmlformats.org/drawingml/2006/main">
              <a:ext uri="{FF2B5EF4-FFF2-40B4-BE49-F238E27FC236}">
                <a16:creationId xmlns:a16="http://schemas.microsoft.com/office/drawing/2014/main" id="{2764EE0D-F5F8-4EC6-83FB-227B40EC7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7305675"/>
            <a:ext cx="1047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825">
                <a:solidFill>
                  <a:srgbClr val="808080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80808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523488704"/>
      </p:ext>
    </p:extLst>
  </p:cSld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COA_SMARTSHAPE" val="Y"/>
  <p:tag name="MMCOA_FONTSIZE_L" val="12"/>
  <p:tag name="MMCOA_FONTSIZE_M" val="12"/>
  <p:tag name="MMCOA_FONTSIZE_S" val="12"/>
  <p:tag name="MMCOA_POSITION_L" val="0;158.625;222.75;756"/>
  <p:tag name="MMCOA_POSITION_M" val="0;158.625;222.75;756"/>
  <p:tag name="MMCOA_POSITION_S" val="0;158.625;222.75;756"/>
  <p:tag name="MMCOA_HIDEONCOLOUR" val="N"/>
  <p:tag name="MMCOA_HIDEONWHITE" val="Y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COA_SMARTSHAPE" val="Y"/>
  <p:tag name="MMCOA_FONTSIZE_L" val="12"/>
  <p:tag name="MMCOA_FONTSIZE_M" val="12"/>
  <p:tag name="MMCOA_FONTSIZE_S" val="12"/>
  <p:tag name="MMCOA_POSITION_L" val="0;158.625;222.75;756"/>
  <p:tag name="MMCOA_POSITION_M" val="0;158.625;222.75;756"/>
  <p:tag name="MMCOA_POSITION_S" val="0;158.625;222.75;756"/>
  <p:tag name="MMCOA_HIDEONCOLOUR" val="N"/>
  <p:tag name="MMCOA_HIDEONWHITE" val="Y"/>
</p:tagLst>
</file>

<file path=ppt/theme/theme1.xml><?xml version="1.0" encoding="utf-8"?>
<a:theme xmlns:a="http://schemas.openxmlformats.org/drawingml/2006/main" name="1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200" spc="-60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73868</TotalTime>
  <Words>361</Words>
  <Application>Microsoft Office PowerPoint</Application>
  <PresentationFormat>사용자 지정</PresentationFormat>
  <Paragraphs>95</Paragraphs>
  <Slides>4</Slides>
  <Notes>3</Notes>
  <HiddenSlides>4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3</vt:i4>
      </vt:variant>
    </vt:vector>
  </HeadingPairs>
  <TitlesOfParts>
    <vt:vector size="12" baseType="lpstr">
      <vt:lpstr>KoPubWorld돋움체 Medium</vt:lpstr>
      <vt:lpstr>나눔고딕</vt:lpstr>
      <vt:lpstr>맑은 고딕</vt:lpstr>
      <vt:lpstr>Arial</vt:lpstr>
      <vt:lpstr>Calibri</vt:lpstr>
      <vt:lpstr>Calibri Light</vt:lpstr>
      <vt:lpstr>Wingdings</vt:lpstr>
      <vt:lpstr>1_Office 테마</vt:lpstr>
      <vt:lpstr>5_Office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배승호</dc:creator>
  <cp:lastModifiedBy>김 경모</cp:lastModifiedBy>
  <cp:revision>3424</cp:revision>
  <cp:lastPrinted>2024-12-23T01:19:14Z</cp:lastPrinted>
  <dcterms:created xsi:type="dcterms:W3CDTF">2019-02-25T09:31:22Z</dcterms:created>
  <dcterms:modified xsi:type="dcterms:W3CDTF">2026-10-13T14:23:46Z</dcterms:modified>
</cp:coreProperties>
</file>